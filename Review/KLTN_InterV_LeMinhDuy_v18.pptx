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701" r:id="rId2"/>
    <p:sldMasterId id="2147483703" r:id="rId3"/>
  </p:sldMasterIdLst>
  <p:notesMasterIdLst>
    <p:notesMasterId r:id="rId3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Crimson Text" panose="020B0604020202020204" charset="0"/>
      <p:regular r:id="rId41"/>
      <p:bold r:id="rId42"/>
      <p:italic r:id="rId43"/>
      <p:boldItalic r:id="rId44"/>
    </p:embeddedFont>
    <p:embeddedFont>
      <p:font typeface="Josefin Sans" pitchFamily="2" charset="0"/>
      <p:regular r:id="rId45"/>
      <p:bold r:id="rId46"/>
    </p:embeddedFont>
    <p:embeddedFont>
      <p:font typeface="Lato" panose="020F0502020204030203" pitchFamily="34" charset="0"/>
      <p:regular r:id="rId47"/>
      <p:bold r:id="rId48"/>
      <p:italic r:id="rId49"/>
      <p:boldItalic r:id="rId50"/>
    </p:embeddedFont>
    <p:embeddedFont>
      <p:font typeface="Mako" panose="020B0604020202020204" charset="0"/>
      <p:regular r:id="rId51"/>
    </p:embeddedFont>
    <p:embeddedFont>
      <p:font typeface="Merriweather Light" panose="00000400000000000000" pitchFamily="2" charset="0"/>
      <p:regular r:id="rId52"/>
      <p:bold r:id="rId53"/>
      <p:italic r:id="rId54"/>
      <p:boldItalic r:id="rId55"/>
    </p:embeddedFont>
    <p:embeddedFont>
      <p:font typeface="Montserrat" panose="00000500000000000000" pitchFamily="2" charset="0"/>
      <p:regular r:id="rId56"/>
      <p:bold r:id="rId57"/>
      <p:italic r:id="rId58"/>
      <p:boldItalic r:id="rId59"/>
    </p:embeddedFont>
    <p:embeddedFont>
      <p:font typeface="Open Sans" panose="020B0606030504020204" pitchFamily="34" charset="0"/>
      <p:regular r:id="rId60"/>
      <p:bold r:id="rId61"/>
      <p:italic r:id="rId62"/>
      <p:boldItalic r:id="rId63"/>
    </p:embeddedFont>
    <p:embeddedFont>
      <p:font typeface="Open Sans SemiBold" panose="020B0706030804020204" pitchFamily="34" charset="0"/>
      <p:regular r:id="rId64"/>
      <p:bold r:id="rId65"/>
      <p:italic r:id="rId66"/>
      <p:boldItalic r:id="rId67"/>
    </p:embeddedFont>
    <p:embeddedFont>
      <p:font typeface="Proxima Nova" panose="020B0604020202020204" charset="0"/>
      <p:regular r:id="rId68"/>
      <p:bold r:id="rId69"/>
      <p:italic r:id="rId70"/>
      <p:boldItalic r:id="rId71"/>
    </p:embeddedFont>
    <p:embeddedFont>
      <p:font typeface="Proxima Nova Semibold" panose="020B0604020202020204" charset="0"/>
      <p:regular r:id="rId72"/>
      <p:bold r:id="rId73"/>
      <p:boldItalic r:id="rId74"/>
    </p:embeddedFont>
    <p:embeddedFont>
      <p:font typeface="Russo One" panose="020B0604020202020204" charset="0"/>
      <p:regular r:id="rId75"/>
    </p:embeddedFont>
  </p:embeddedFontLst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55CEBBF-E36C-47C7-97E4-14B1259D86E9}">
  <a:tblStyle styleId="{155CEBBF-E36C-47C7-97E4-14B1259D86E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6" d="100"/>
          <a:sy n="136" d="100"/>
        </p:scale>
        <p:origin x="89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63" Type="http://schemas.openxmlformats.org/officeDocument/2006/relationships/font" Target="fonts/font27.fntdata"/><Relationship Id="rId68" Type="http://schemas.openxmlformats.org/officeDocument/2006/relationships/font" Target="fonts/font32.fntdata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font" Target="fonts/font17.fntdata"/><Relationship Id="rId58" Type="http://schemas.openxmlformats.org/officeDocument/2006/relationships/font" Target="fonts/font22.fntdata"/><Relationship Id="rId66" Type="http://schemas.openxmlformats.org/officeDocument/2006/relationships/font" Target="fonts/font30.fntdata"/><Relationship Id="rId74" Type="http://schemas.openxmlformats.org/officeDocument/2006/relationships/font" Target="fonts/font38.fntdata"/><Relationship Id="rId79" Type="http://schemas.openxmlformats.org/officeDocument/2006/relationships/tableStyles" Target="tableStyles.xml"/><Relationship Id="rId5" Type="http://schemas.openxmlformats.org/officeDocument/2006/relationships/slide" Target="slides/slide2.xml"/><Relationship Id="rId61" Type="http://schemas.openxmlformats.org/officeDocument/2006/relationships/font" Target="fonts/font25.fntdata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56" Type="http://schemas.openxmlformats.org/officeDocument/2006/relationships/font" Target="fonts/font20.fntdata"/><Relationship Id="rId64" Type="http://schemas.openxmlformats.org/officeDocument/2006/relationships/font" Target="fonts/font28.fntdata"/><Relationship Id="rId69" Type="http://schemas.openxmlformats.org/officeDocument/2006/relationships/font" Target="fonts/font33.fntdata"/><Relationship Id="rId77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font" Target="fonts/font15.fntdata"/><Relationship Id="rId72" Type="http://schemas.openxmlformats.org/officeDocument/2006/relationships/font" Target="fonts/font36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59" Type="http://schemas.openxmlformats.org/officeDocument/2006/relationships/font" Target="fonts/font23.fntdata"/><Relationship Id="rId67" Type="http://schemas.openxmlformats.org/officeDocument/2006/relationships/font" Target="fonts/font31.fntdata"/><Relationship Id="rId20" Type="http://schemas.openxmlformats.org/officeDocument/2006/relationships/slide" Target="slides/slide17.xml"/><Relationship Id="rId41" Type="http://schemas.openxmlformats.org/officeDocument/2006/relationships/font" Target="fonts/font5.fntdata"/><Relationship Id="rId54" Type="http://schemas.openxmlformats.org/officeDocument/2006/relationships/font" Target="fonts/font18.fntdata"/><Relationship Id="rId62" Type="http://schemas.openxmlformats.org/officeDocument/2006/relationships/font" Target="fonts/font26.fntdata"/><Relationship Id="rId70" Type="http://schemas.openxmlformats.org/officeDocument/2006/relationships/font" Target="fonts/font34.fntdata"/><Relationship Id="rId75" Type="http://schemas.openxmlformats.org/officeDocument/2006/relationships/font" Target="fonts/font3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Relationship Id="rId57" Type="http://schemas.openxmlformats.org/officeDocument/2006/relationships/font" Target="fonts/font21.fntdata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font" Target="fonts/font8.fntdata"/><Relationship Id="rId52" Type="http://schemas.openxmlformats.org/officeDocument/2006/relationships/font" Target="fonts/font16.fntdata"/><Relationship Id="rId60" Type="http://schemas.openxmlformats.org/officeDocument/2006/relationships/font" Target="fonts/font24.fntdata"/><Relationship Id="rId65" Type="http://schemas.openxmlformats.org/officeDocument/2006/relationships/font" Target="fonts/font29.fntdata"/><Relationship Id="rId73" Type="http://schemas.openxmlformats.org/officeDocument/2006/relationships/font" Target="fonts/font37.fntdata"/><Relationship Id="rId78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font" Target="fonts/font3.fntdata"/><Relationship Id="rId34" Type="http://schemas.openxmlformats.org/officeDocument/2006/relationships/slide" Target="slides/slide31.xml"/><Relationship Id="rId50" Type="http://schemas.openxmlformats.org/officeDocument/2006/relationships/font" Target="fonts/font14.fntdata"/><Relationship Id="rId55" Type="http://schemas.openxmlformats.org/officeDocument/2006/relationships/font" Target="fonts/font19.fntdata"/><Relationship Id="rId76" Type="http://schemas.openxmlformats.org/officeDocument/2006/relationships/presProps" Target="presProps.xml"/><Relationship Id="rId7" Type="http://schemas.openxmlformats.org/officeDocument/2006/relationships/slide" Target="slides/slide4.xml"/><Relationship Id="rId71" Type="http://schemas.openxmlformats.org/officeDocument/2006/relationships/font" Target="fonts/font35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Giới thiệu đề tài và định vị InterV là hệ thống có grounding, fallback và ranh giới sử dụng AI.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Đi qua sáu phần, ưu tiên bằng chứng kỹ thuật và phạm vi kết luận.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Ba rủi ro dẫn tới yêu cầu grounding, schema và human-in-the-loop.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Làm rõ ownership trước khi đi vào kiến trúc.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Sáu điểm là trục xuyên suốt phần trình bày.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Đây là ranh giới diễn giải của khóa luận.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Hai lớp bằng chứng: nhất quán kỹ thuật và hiệu lực đo lường.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Lý thuyết được ánh xạ vào schema, rule và workflow.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Sơ đồ native shape: biên web, nghiệp vụ, AI và provider được nối bằng hợp đồng; MongoDB và Qdrant tách vai trò.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Mô hình dữ liệu được vẽ bằng shape và connector, thể hiện ownership từ user/job tới interview, answer và evaluation.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case native shape đặt InterV ở trung tâm; AI provider nằm ngoài biên quyết định tuyển dụng.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Lifecycle luyện tập được vẽ bằng sáu state native PowerPoint.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Grounded generation dùng flow shape từ context đến hậu kiểm allow-list.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Vòng đời RAG đi từ nguồn có metadata/provenance, qua chunking và Qdrant, đến hybrid retrieval, grounded context và validation. Governance rail cho biết versioning, evidence IDs và retention được giữ xuyên suốt.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Pipeline speech tách hai trách nhiệm: AssemblyAI tạo transcript theo thời gian thực và Faster-Whisper xử lý fallback; SenseVoice chỉ bổ sung tín hiệu LID/SER/AED.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Năm lớp kiểm soát được vẽ thành stack shape từ quyền truy cập đến graceful fallback.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Request đi từ client qua BFF để xác thực/chuẩn hóa, sau đó qua hợp đồng proto/gRPC tới Python và AI provider. Response phải có JSON + evidence và vượt schema validation trước khi được persist hoặc hiển thị.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Thay screenshot bằng sơ đồ module native shape.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Thay screenshot dashboard bằng ma trận RBAC dạng shape.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Thay screenshot practice list bằng state machine editable.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Thay screenshot preparation bằng recruitment lifecycle native shape.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Thay screenshot câu hỏi bằng sơ đồ fallback editable.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Stack được tổ chức theo ba ranh giới: product/state, AI services và operations foundation. Web/BFF cùng dữ liệu thuộc lớp nghiệp vụ; Python/gRPC là biên AI kết nối LLM/RAG và speech; vận hành hỗ trợ toàn hệ thống.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Quy mô hiện vật cho thấy phạm vi triển khai end-to-end.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4,106 giây là thời gian chạy bộ test, không phải latency production.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Grounding là chuỗi kiểm soát, không chỉ là prompt.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Đây là rào chắn bắt buộc của speech pipeline.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Các đóng góp truy ngược được về hiện vật triển khai.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Giới hạn xác định bước nghiên cứu tiếp theo.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Chỉ tăng tự động hóa khi bằng chứng và quản trị tăng tương ứng.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Tóm tắt ba nền tảng kỹ thuật và nhấn mạnh phạm vi triển khai có kiểm soát.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Mời Hội đồng đặt câu hỏi.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KLTN_InterV_LeMinhDuy_v6.docx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>
            <a:extLst>
              <a:ext uri="{FF2B5EF4-FFF2-40B4-BE49-F238E27FC236}">
                <a16:creationId xmlns:a16="http://schemas.microsoft.com/office/drawing/2014/main" id="{4E6A828A-B4F6-40CE-A49F-E495D2390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9975" y="12483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CFBF0638-58C4-4ED7-B8DE-D3F020006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0000" y="33009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119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1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0B7FB922-AF7D-432B-AFB1-766BB08E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4550" y="2366272"/>
            <a:ext cx="3714900" cy="818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50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FF2A239D-E547-426F-A934-E18F40C9E74A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3746550" y="1339163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DD24F91D-F123-493D-B3EF-E815973DBE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1400" y="3076675"/>
            <a:ext cx="4561200" cy="393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45" name="Google Shape;19;p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" name="Google Shape;20;p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" name="Google Shape;21;p3"/>
          <p:cNvCxnSpPr/>
          <p:nvPr/>
        </p:nvCxnSpPr>
        <p:spPr>
          <a:xfrm flipH="1">
            <a:off x="7948925" y="3979775"/>
            <a:ext cx="1378500" cy="12363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22;p3"/>
          <p:cNvCxnSpPr/>
          <p:nvPr/>
        </p:nvCxnSpPr>
        <p:spPr>
          <a:xfrm flipH="1">
            <a:off x="-112875" y="-88700"/>
            <a:ext cx="1418700" cy="10644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>
            <a:extLst>
              <a:ext uri="{FF2B5EF4-FFF2-40B4-BE49-F238E27FC236}">
                <a16:creationId xmlns:a16="http://schemas.microsoft.com/office/drawing/2014/main" id="{72EB0842-0321-4AED-A78A-578C20D37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4711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>
            <a:extLst>
              <a:ext uri="{FF2B5EF4-FFF2-40B4-BE49-F238E27FC236}">
                <a16:creationId xmlns:a16="http://schemas.microsoft.com/office/drawing/2014/main" id="{DCD04D2F-3192-48E2-8AD6-B15701B220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3250" y="1272925"/>
            <a:ext cx="7717500" cy="3295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marL="45720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100"/>
            </a:lvl1pPr>
            <a:lvl2pPr marL="91440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/>
            </a:lvl9pPr>
          </a:lstStyle>
          <a:p>
            <a:endParaRPr/>
          </a:p>
        </p:txBody>
      </p:sp>
      <p:cxnSp>
        <p:nvCxnSpPr>
          <p:cNvPr id="116" name="Google Shape;26;p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27;p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8" name="Google Shape;28;p4"/>
          <p:cNvCxnSpPr/>
          <p:nvPr/>
        </p:nvCxnSpPr>
        <p:spPr>
          <a:xfrm>
            <a:off x="6884900" y="-113600"/>
            <a:ext cx="2565600" cy="13062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>
            <a:extLst>
              <a:ext uri="{FF2B5EF4-FFF2-40B4-BE49-F238E27FC236}">
                <a16:creationId xmlns:a16="http://schemas.microsoft.com/office/drawing/2014/main" id="{08D1F09F-2E27-420C-BB60-E9C3EE65F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5681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A22BEED7-A59A-4FE9-93DD-178282F64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38975" y="2551449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2" name="Google Shape;32;p5">
            <a:extLst>
              <a:ext uri="{FF2B5EF4-FFF2-40B4-BE49-F238E27FC236}">
                <a16:creationId xmlns:a16="http://schemas.microsoft.com/office/drawing/2014/main" id="{D79B6CD1-4A5E-499D-9E60-2CA6D0AE35B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038975" y="2961200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>
            <a:extLst>
              <a:ext uri="{FF2B5EF4-FFF2-40B4-BE49-F238E27FC236}">
                <a16:creationId xmlns:a16="http://schemas.microsoft.com/office/drawing/2014/main" id="{75CA77F8-001B-4DBA-AEB9-985BD5D9B152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693175" y="2551449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2400"/>
              <a:buFont typeface="Cambria"/>
              <a:buNone/>
              <a:defRPr sz="2400" b="1"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4" name="Google Shape;34;p5">
            <a:extLst>
              <a:ext uri="{FF2B5EF4-FFF2-40B4-BE49-F238E27FC236}">
                <a16:creationId xmlns:a16="http://schemas.microsoft.com/office/drawing/2014/main" id="{1EC8C074-8035-444A-A65D-97B0091232AB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693175" y="2961200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79" name="Google Shape;35;p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0" name="Google Shape;36;p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1" name="Google Shape;37;p5"/>
          <p:cNvCxnSpPr/>
          <p:nvPr/>
        </p:nvCxnSpPr>
        <p:spPr>
          <a:xfrm flipH="1">
            <a:off x="6935750" y="3931325"/>
            <a:ext cx="2549400" cy="13545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>
            <a:extLst>
              <a:ext uri="{FF2B5EF4-FFF2-40B4-BE49-F238E27FC236}">
                <a16:creationId xmlns:a16="http://schemas.microsoft.com/office/drawing/2014/main" id="{D5C0834B-A978-43E6-87B8-A54B4EDE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94" name="Google Shape;40;p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" name="Google Shape;41;p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>
            <a:extLst>
              <a:ext uri="{FF2B5EF4-FFF2-40B4-BE49-F238E27FC236}">
                <a16:creationId xmlns:a16="http://schemas.microsoft.com/office/drawing/2014/main" id="{55C52AE4-0A94-4507-92E7-A29DF4535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7500" y="1433050"/>
            <a:ext cx="1838100" cy="357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 b="1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 b="1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 b="1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 b="1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 b="1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 b="1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 b="1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 b="1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44" name="Google Shape;44;p7">
            <a:extLst>
              <a:ext uri="{FF2B5EF4-FFF2-40B4-BE49-F238E27FC236}">
                <a16:creationId xmlns:a16="http://schemas.microsoft.com/office/drawing/2014/main" id="{291ECFF5-0A6E-4E6F-9534-70A88AF24F8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2247500" y="1790050"/>
            <a:ext cx="5160300" cy="275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marR="50800">
              <a:lnSpc>
                <a:spcPct val="166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rgbClr val="374957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7">
            <a:extLst>
              <a:ext uri="{FF2B5EF4-FFF2-40B4-BE49-F238E27FC236}">
                <a16:creationId xmlns:a16="http://schemas.microsoft.com/office/drawing/2014/main" id="{33F30219-5E51-4B5B-9566-0A692579F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42972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36" name="Google Shape;46;p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7" name="Google Shape;47;p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>
            <a:extLst>
              <a:ext uri="{FF2B5EF4-FFF2-40B4-BE49-F238E27FC236}">
                <a16:creationId xmlns:a16="http://schemas.microsoft.com/office/drawing/2014/main" id="{B2FAA739-447F-4AFE-8E74-2B526B0BA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2500" y="1073000"/>
            <a:ext cx="6899100" cy="2856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140" name="Google Shape;50;p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" name="Google Shape;51;p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" name="Google Shape;52;p8"/>
          <p:cNvCxnSpPr/>
          <p:nvPr/>
        </p:nvCxnSpPr>
        <p:spPr>
          <a:xfrm flipH="1">
            <a:off x="7093250" y="3935075"/>
            <a:ext cx="2332800" cy="1347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" name="Google Shape;53;p8"/>
          <p:cNvCxnSpPr/>
          <p:nvPr/>
        </p:nvCxnSpPr>
        <p:spPr>
          <a:xfrm flipH="1">
            <a:off x="-420450" y="-121600"/>
            <a:ext cx="2332800" cy="1347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>
            <a:extLst>
              <a:ext uri="{FF2B5EF4-FFF2-40B4-BE49-F238E27FC236}">
                <a16:creationId xmlns:a16="http://schemas.microsoft.com/office/drawing/2014/main" id="{64BDF75D-4D3E-4D4C-8791-27414502B7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9">
            <a:extLst>
              <a:ext uri="{FF2B5EF4-FFF2-40B4-BE49-F238E27FC236}">
                <a16:creationId xmlns:a16="http://schemas.microsoft.com/office/drawing/2014/main" id="{886CB72F-A5A5-4254-9C2C-839EADBEB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4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>
            <a:extLst>
              <a:ext uri="{FF2B5EF4-FFF2-40B4-BE49-F238E27FC236}">
                <a16:creationId xmlns:a16="http://schemas.microsoft.com/office/drawing/2014/main" id="{D832E1EE-B492-429B-A628-7B1896F53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3225" y="441927"/>
            <a:ext cx="3557100" cy="97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latin typeface="Cambria"/>
                <a:ea typeface="Cambria"/>
                <a:cs typeface="Cambria"/>
              </a:defRPr>
            </a:lvl1pPr>
          </a:lstStyle>
          <a:p>
            <a:endParaRPr/>
          </a:p>
        </p:txBody>
      </p:sp>
      <p:cxnSp>
        <p:nvCxnSpPr>
          <p:cNvPr id="134" name="Google Shape;62;p1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5" name="Google Shape;63;p1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" name="Google Shape;64;p10"/>
          <p:cNvCxnSpPr/>
          <p:nvPr/>
        </p:nvCxnSpPr>
        <p:spPr>
          <a:xfrm rot="10800000" flipH="1">
            <a:off x="6144975" y="3103725"/>
            <a:ext cx="3118200" cy="22011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>
            <a:extLst>
              <a:ext uri="{FF2B5EF4-FFF2-40B4-BE49-F238E27FC236}">
                <a16:creationId xmlns:a16="http://schemas.microsoft.com/office/drawing/2014/main" id="{9DF89219-3F4A-4610-8502-8819A73DD2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25" y="1345363"/>
            <a:ext cx="7717500" cy="1644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11">
            <a:extLst>
              <a:ext uri="{FF2B5EF4-FFF2-40B4-BE49-F238E27FC236}">
                <a16:creationId xmlns:a16="http://schemas.microsoft.com/office/drawing/2014/main" id="{05E9801E-2F09-418C-A8F8-CA16743394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4325" y="3188648"/>
            <a:ext cx="6120300" cy="375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176" name="Google Shape;68;p1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" name="Google Shape;69;p1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" name="Google Shape;70;p11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" name="Google Shape;71;p11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4E5195FE-5B4A-4407-9B5B-55B39DCD3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5C4CFCCA-3436-4DC0-8AA5-CC547B1FA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59325" y="14053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212A2CE6-7559-4BC5-9039-042A43B12AFA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859325" y="18064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>
            <a:extLst>
              <a:ext uri="{FF2B5EF4-FFF2-40B4-BE49-F238E27FC236}">
                <a16:creationId xmlns:a16="http://schemas.microsoft.com/office/drawing/2014/main" id="{24220D71-FEC4-413D-8E94-BBCF2DACD28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903925" y="14053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78" name="Google Shape;78;p13">
            <a:extLst>
              <a:ext uri="{FF2B5EF4-FFF2-40B4-BE49-F238E27FC236}">
                <a16:creationId xmlns:a16="http://schemas.microsoft.com/office/drawing/2014/main" id="{1713396C-2EEE-4A4B-A519-3DCE28EA9ED7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903925" y="18064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76F50B9C-B2FA-4007-A864-5E156D4E8FBE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5859325" y="3171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E244545F-5EB1-4D0E-98F0-BE018B4A7684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5859325" y="3565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B7A8F8B8-05FB-4727-B6D1-9F9FEC9CBBAC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1903925" y="3171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24DF30E2-89CA-49F6-959D-224EA8E2F58B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1903975" y="3565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15ECFC99-EF62-4881-B740-5C7D814708B4}"/>
              </a:ext>
            </a:extLst>
          </p:cNvPr>
          <p:cNvSpPr>
            <a:spLocks noGrp="1"/>
          </p:cNvSpPr>
          <p:nvPr>
            <p:ph type="title" idx="9" hasCustomPrompt="1"/>
          </p:nvPr>
        </p:nvSpPr>
        <p:spPr>
          <a:xfrm>
            <a:off x="798575" y="1417915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52350714-04D3-4FFC-AA7E-2D4900CB58C0}"/>
              </a:ext>
            </a:extLst>
          </p:cNvPr>
          <p:cNvSpPr>
            <a:spLocks noGrp="1"/>
          </p:cNvSpPr>
          <p:nvPr>
            <p:ph type="title" idx="13" hasCustomPrompt="1"/>
          </p:nvPr>
        </p:nvSpPr>
        <p:spPr>
          <a:xfrm>
            <a:off x="4753975" y="1403976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>
            <a:extLst>
              <a:ext uri="{FF2B5EF4-FFF2-40B4-BE49-F238E27FC236}">
                <a16:creationId xmlns:a16="http://schemas.microsoft.com/office/drawing/2014/main" id="{E76677C9-D05B-4958-9845-F2F7EF8D3627}"/>
              </a:ext>
            </a:extLst>
          </p:cNvPr>
          <p:cNvSpPr>
            <a:spLocks noGrp="1"/>
          </p:cNvSpPr>
          <p:nvPr>
            <p:ph type="title" idx="14" hasCustomPrompt="1"/>
          </p:nvPr>
        </p:nvSpPr>
        <p:spPr>
          <a:xfrm>
            <a:off x="798625" y="3176773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>
            <a:extLst>
              <a:ext uri="{FF2B5EF4-FFF2-40B4-BE49-F238E27FC236}">
                <a16:creationId xmlns:a16="http://schemas.microsoft.com/office/drawing/2014/main" id="{82E36461-F753-4D7D-A2B2-7855AE20DFB1}"/>
              </a:ext>
            </a:extLst>
          </p:cNvPr>
          <p:cNvSpPr>
            <a:spLocks noGrp="1"/>
          </p:cNvSpPr>
          <p:nvPr>
            <p:ph type="title" idx="15" hasCustomPrompt="1"/>
          </p:nvPr>
        </p:nvSpPr>
        <p:spPr>
          <a:xfrm>
            <a:off x="4753975" y="3162833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cxnSp>
        <p:nvCxnSpPr>
          <p:cNvPr id="357" name="Google Shape;87;p1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8" name="Google Shape;88;p1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CUSTOM_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>
            <a:extLst>
              <a:ext uri="{FF2B5EF4-FFF2-40B4-BE49-F238E27FC236}">
                <a16:creationId xmlns:a16="http://schemas.microsoft.com/office/drawing/2014/main" id="{6A08E7B9-2E61-48A2-8CE8-A1A80857B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1677218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1" name="Google Shape;91;p14">
            <a:extLst>
              <a:ext uri="{FF2B5EF4-FFF2-40B4-BE49-F238E27FC236}">
                <a16:creationId xmlns:a16="http://schemas.microsoft.com/office/drawing/2014/main" id="{9C5C6CFC-110E-427D-9D80-1CA5A2FD2C82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1482600" y="1095325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92" name="Google Shape;92;p14">
            <a:extLst>
              <a:ext uri="{FF2B5EF4-FFF2-40B4-BE49-F238E27FC236}">
                <a16:creationId xmlns:a16="http://schemas.microsoft.com/office/drawing/2014/main" id="{D43585C4-3BF4-40B7-ABB7-62C57117B3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000" y="2081199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6B1066C2-8325-4CB2-9D92-605E25951FB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3403800" y="1677218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D132E14E-0718-45E3-8422-CBA034050D33}"/>
              </a:ext>
            </a:extLst>
          </p:cNvPr>
          <p:cNvSpPr>
            <a:spLocks noGrp="1"/>
          </p:cNvSpPr>
          <p:nvPr>
            <p:ph type="title" idx="4" hasCustomPrompt="1"/>
          </p:nvPr>
        </p:nvSpPr>
        <p:spPr>
          <a:xfrm>
            <a:off x="4166400" y="1095325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26652E22-1FC7-4E96-9F98-189B17A28C4D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3403800" y="2081208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2FA11C5D-D64D-4489-8C6F-33E728168DE2}"/>
              </a:ext>
            </a:extLst>
          </p:cNvPr>
          <p:cNvSpPr>
            <a:spLocks noGrp="1"/>
          </p:cNvSpPr>
          <p:nvPr>
            <p:ph type="title" idx="6"/>
          </p:nvPr>
        </p:nvSpPr>
        <p:spPr>
          <a:xfrm>
            <a:off x="6087600" y="1677218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7" name="Google Shape;97;p14">
            <a:extLst>
              <a:ext uri="{FF2B5EF4-FFF2-40B4-BE49-F238E27FC236}">
                <a16:creationId xmlns:a16="http://schemas.microsoft.com/office/drawing/2014/main" id="{BB09EC41-AE2E-4BDB-BCBE-BD5B9743A76F}"/>
              </a:ext>
            </a:extLst>
          </p:cNvPr>
          <p:cNvSpPr>
            <a:spLocks noGrp="1"/>
          </p:cNvSpPr>
          <p:nvPr>
            <p:ph type="title" idx="7" hasCustomPrompt="1"/>
          </p:nvPr>
        </p:nvSpPr>
        <p:spPr>
          <a:xfrm>
            <a:off x="6850200" y="1095325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98" name="Google Shape;98;p14">
            <a:extLst>
              <a:ext uri="{FF2B5EF4-FFF2-40B4-BE49-F238E27FC236}">
                <a16:creationId xmlns:a16="http://schemas.microsoft.com/office/drawing/2014/main" id="{5BC514BC-1288-44E3-81FB-D1ED0AB34E32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6087600" y="2081208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>
            <a:extLst>
              <a:ext uri="{FF2B5EF4-FFF2-40B4-BE49-F238E27FC236}">
                <a16:creationId xmlns:a16="http://schemas.microsoft.com/office/drawing/2014/main" id="{4D570D14-BC98-4588-B2FD-0DE3BA51CB81}"/>
              </a:ext>
            </a:extLst>
          </p:cNvPr>
          <p:cNvSpPr>
            <a:spLocks noGrp="1"/>
          </p:cNvSpPr>
          <p:nvPr>
            <p:ph type="title" idx="9"/>
          </p:nvPr>
        </p:nvSpPr>
        <p:spPr>
          <a:xfrm>
            <a:off x="720000" y="3313579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14">
            <a:extLst>
              <a:ext uri="{FF2B5EF4-FFF2-40B4-BE49-F238E27FC236}">
                <a16:creationId xmlns:a16="http://schemas.microsoft.com/office/drawing/2014/main" id="{A5611C29-B903-4A84-8825-E07AAAAD6CFD}"/>
              </a:ext>
            </a:extLst>
          </p:cNvPr>
          <p:cNvSpPr>
            <a:spLocks noGrp="1"/>
          </p:cNvSpPr>
          <p:nvPr>
            <p:ph type="title" idx="13" hasCustomPrompt="1"/>
          </p:nvPr>
        </p:nvSpPr>
        <p:spPr>
          <a:xfrm>
            <a:off x="1482600" y="2714087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101" name="Google Shape;101;p14">
            <a:extLst>
              <a:ext uri="{FF2B5EF4-FFF2-40B4-BE49-F238E27FC236}">
                <a16:creationId xmlns:a16="http://schemas.microsoft.com/office/drawing/2014/main" id="{4E723ADB-E5D8-466F-B394-F4845651F5D4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720000" y="3705863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>
            <a:extLst>
              <a:ext uri="{FF2B5EF4-FFF2-40B4-BE49-F238E27FC236}">
                <a16:creationId xmlns:a16="http://schemas.microsoft.com/office/drawing/2014/main" id="{974F8BC5-FA9F-44A4-BAF1-B803456DD00F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3403800" y="3313579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3" name="Google Shape;103;p14">
            <a:extLst>
              <a:ext uri="{FF2B5EF4-FFF2-40B4-BE49-F238E27FC236}">
                <a16:creationId xmlns:a16="http://schemas.microsoft.com/office/drawing/2014/main" id="{6245815D-2D67-425D-9F51-2604E594339C}"/>
              </a:ext>
            </a:extLst>
          </p:cNvPr>
          <p:cNvSpPr>
            <a:spLocks noGrp="1"/>
          </p:cNvSpPr>
          <p:nvPr>
            <p:ph type="title" idx="16" hasCustomPrompt="1"/>
          </p:nvPr>
        </p:nvSpPr>
        <p:spPr>
          <a:xfrm>
            <a:off x="4166400" y="2714087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104" name="Google Shape;104;p14">
            <a:extLst>
              <a:ext uri="{FF2B5EF4-FFF2-40B4-BE49-F238E27FC236}">
                <a16:creationId xmlns:a16="http://schemas.microsoft.com/office/drawing/2014/main" id="{E8E47543-0C2D-4F44-8F57-D81529C12371}"/>
              </a:ext>
            </a:extLst>
          </p:cNvPr>
          <p:cNvSpPr>
            <a:spLocks noGrp="1"/>
          </p:cNvSpPr>
          <p:nvPr>
            <p:ph type="subTitle" idx="17"/>
          </p:nvPr>
        </p:nvSpPr>
        <p:spPr>
          <a:xfrm>
            <a:off x="3403800" y="3705863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4">
            <a:extLst>
              <a:ext uri="{FF2B5EF4-FFF2-40B4-BE49-F238E27FC236}">
                <a16:creationId xmlns:a16="http://schemas.microsoft.com/office/drawing/2014/main" id="{543DF977-895D-48F2-B6FA-07E5A9468B7B}"/>
              </a:ext>
            </a:extLst>
          </p:cNvPr>
          <p:cNvSpPr>
            <a:spLocks noGrp="1"/>
          </p:cNvSpPr>
          <p:nvPr>
            <p:ph type="title" idx="18"/>
          </p:nvPr>
        </p:nvSpPr>
        <p:spPr>
          <a:xfrm>
            <a:off x="6087600" y="3313579"/>
            <a:ext cx="2336400" cy="405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6" name="Google Shape;106;p14">
            <a:extLst>
              <a:ext uri="{FF2B5EF4-FFF2-40B4-BE49-F238E27FC236}">
                <a16:creationId xmlns:a16="http://schemas.microsoft.com/office/drawing/2014/main" id="{79B580BD-7D03-48C1-BEF7-34A96B2B2432}"/>
              </a:ext>
            </a:extLst>
          </p:cNvPr>
          <p:cNvSpPr>
            <a:spLocks noGrp="1"/>
          </p:cNvSpPr>
          <p:nvPr>
            <p:ph type="title" idx="19" hasCustomPrompt="1"/>
          </p:nvPr>
        </p:nvSpPr>
        <p:spPr>
          <a:xfrm>
            <a:off x="6850200" y="2714087"/>
            <a:ext cx="8112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900"/>
              <a:buNone/>
              <a:defRPr sz="3800"/>
            </a:lvl1pPr>
            <a:lvl2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r>
              <a:t>xx%</a:t>
            </a:r>
          </a:p>
        </p:txBody>
      </p:sp>
      <p:sp>
        <p:nvSpPr>
          <p:cNvPr id="107" name="Google Shape;107;p14">
            <a:extLst>
              <a:ext uri="{FF2B5EF4-FFF2-40B4-BE49-F238E27FC236}">
                <a16:creationId xmlns:a16="http://schemas.microsoft.com/office/drawing/2014/main" id="{AD3A569A-E398-4E75-95F4-70D4F8251D00}"/>
              </a:ext>
            </a:extLst>
          </p:cNvPr>
          <p:cNvSpPr>
            <a:spLocks noGrp="1"/>
          </p:cNvSpPr>
          <p:nvPr>
            <p:ph type="subTitle" idx="20"/>
          </p:nvPr>
        </p:nvSpPr>
        <p:spPr>
          <a:xfrm>
            <a:off x="6087600" y="3705863"/>
            <a:ext cx="2336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4">
            <a:extLst>
              <a:ext uri="{FF2B5EF4-FFF2-40B4-BE49-F238E27FC236}">
                <a16:creationId xmlns:a16="http://schemas.microsoft.com/office/drawing/2014/main" id="{D51DDA5A-E911-4675-BC32-AF8125772C7D}"/>
              </a:ext>
            </a:extLst>
          </p:cNvPr>
          <p:cNvSpPr>
            <a:spLocks noGrp="1"/>
          </p:cNvSpPr>
          <p:nvPr>
            <p:ph type="title" idx="21"/>
          </p:nvPr>
        </p:nvSpPr>
        <p:spPr>
          <a:xfrm>
            <a:off x="2332400" y="445025"/>
            <a:ext cx="44793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3" name="Google Shape;109;p1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4" name="Google Shape;110;p1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5" name="Google Shape;111;p1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112;p1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>
            <a:extLst>
              <a:ext uri="{FF2B5EF4-FFF2-40B4-BE49-F238E27FC236}">
                <a16:creationId xmlns:a16="http://schemas.microsoft.com/office/drawing/2014/main" id="{C98EFD39-52CA-4DB9-AC04-D33768344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0500" y="280825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9pPr>
          </a:lstStyle>
          <a:p>
            <a:endParaRPr/>
          </a:p>
        </p:txBody>
      </p:sp>
      <p:sp>
        <p:nvSpPr>
          <p:cNvPr id="115" name="Google Shape;115;p15">
            <a:extLst>
              <a:ext uri="{FF2B5EF4-FFF2-40B4-BE49-F238E27FC236}">
                <a16:creationId xmlns:a16="http://schemas.microsoft.com/office/drawing/2014/main" id="{ED58371B-8FDB-4EB9-9071-DA96BD01A6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42900" y="1661963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8" name="Google Shape;116;p1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" name="Google Shape;117;p1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>
            <a:extLst>
              <a:ext uri="{FF2B5EF4-FFF2-40B4-BE49-F238E27FC236}">
                <a16:creationId xmlns:a16="http://schemas.microsoft.com/office/drawing/2014/main" id="{1FED7D40-A8C7-45CE-B64C-1D64CEFB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0" y="282126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</a:defRPr>
            </a:lvl9pPr>
          </a:lstStyle>
          <a:p>
            <a:endParaRPr/>
          </a:p>
        </p:txBody>
      </p:sp>
      <p:sp>
        <p:nvSpPr>
          <p:cNvPr id="120" name="Google Shape;120;p16">
            <a:extLst>
              <a:ext uri="{FF2B5EF4-FFF2-40B4-BE49-F238E27FC236}">
                <a16:creationId xmlns:a16="http://schemas.microsoft.com/office/drawing/2014/main" id="{26359747-3C58-4A07-B5A9-2A51642FF9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900" y="1675902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29" name="Google Shape;121;p1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0" name="Google Shape;122;p1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123;p16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124;p16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>
            <a:extLst>
              <a:ext uri="{FF2B5EF4-FFF2-40B4-BE49-F238E27FC236}">
                <a16:creationId xmlns:a16="http://schemas.microsoft.com/office/drawing/2014/main" id="{82D83335-2330-48D2-A973-D16C8AEC01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4840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7">
            <a:extLst>
              <a:ext uri="{FF2B5EF4-FFF2-40B4-BE49-F238E27FC236}">
                <a16:creationId xmlns:a16="http://schemas.microsoft.com/office/drawing/2014/main" id="{148247A5-589F-40F0-9858-0B1CE3132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050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236" name="Google Shape;128;p1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129;p1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8" name="Google Shape;130;p17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131;p17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>
            <a:extLst>
              <a:ext uri="{FF2B5EF4-FFF2-40B4-BE49-F238E27FC236}">
                <a16:creationId xmlns:a16="http://schemas.microsoft.com/office/drawing/2014/main" id="{132219A1-C762-4DB9-861B-1F00609E6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4850" y="1482825"/>
            <a:ext cx="5154300" cy="1291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34" name="Google Shape;134;p18">
            <a:extLst>
              <a:ext uri="{FF2B5EF4-FFF2-40B4-BE49-F238E27FC236}">
                <a16:creationId xmlns:a16="http://schemas.microsoft.com/office/drawing/2014/main" id="{D642A2C2-5622-4C51-B327-96E08E4E18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9500" y="2972150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207" name="Google Shape;135;p1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8" name="Google Shape;136;p1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>
            <a:extLst>
              <a:ext uri="{FF2B5EF4-FFF2-40B4-BE49-F238E27FC236}">
                <a16:creationId xmlns:a16="http://schemas.microsoft.com/office/drawing/2014/main" id="{2882EEC4-E537-44B2-A909-53DE08D24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2850" y="1549875"/>
            <a:ext cx="4545000" cy="1291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39" name="Google Shape;139;p19">
            <a:extLst>
              <a:ext uri="{FF2B5EF4-FFF2-40B4-BE49-F238E27FC236}">
                <a16:creationId xmlns:a16="http://schemas.microsoft.com/office/drawing/2014/main" id="{DC5B7603-219B-4B34-AF03-D30C4437D4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42850" y="3039213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cxnSp>
        <p:nvCxnSpPr>
          <p:cNvPr id="284" name="Google Shape;140;p1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5" name="Google Shape;141;p1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6" name="Google Shape;142;p19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7" name="Google Shape;143;p19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8" name="Google Shape;144;p19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9" name="Google Shape;145;p19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>
            <a:extLst>
              <a:ext uri="{FF2B5EF4-FFF2-40B4-BE49-F238E27FC236}">
                <a16:creationId xmlns:a16="http://schemas.microsoft.com/office/drawing/2014/main" id="{DE7E234E-5F16-4907-958E-498BA91D0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7925" y="2511803"/>
            <a:ext cx="3714900" cy="805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50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8" name="Google Shape;148;p20">
            <a:extLst>
              <a:ext uri="{FF2B5EF4-FFF2-40B4-BE49-F238E27FC236}">
                <a16:creationId xmlns:a16="http://schemas.microsoft.com/office/drawing/2014/main" id="{018ABC17-0E5C-4E66-9236-9F82A7ED2ACF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3741925" y="1484693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149" name="Google Shape;149;p20">
            <a:extLst>
              <a:ext uri="{FF2B5EF4-FFF2-40B4-BE49-F238E27FC236}">
                <a16:creationId xmlns:a16="http://schemas.microsoft.com/office/drawing/2014/main" id="{6D69640D-FBF2-4757-A91A-250690547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1625" y="3244000"/>
            <a:ext cx="4561200" cy="393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76" name="Google Shape;150;p20"/>
          <p:cNvCxnSpPr/>
          <p:nvPr/>
        </p:nvCxnSpPr>
        <p:spPr>
          <a:xfrm rot="10800000">
            <a:off x="-30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7" name="Google Shape;151;p20"/>
          <p:cNvCxnSpPr/>
          <p:nvPr/>
        </p:nvCxnSpPr>
        <p:spPr>
          <a:xfrm rot="10800000">
            <a:off x="-30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152;p20"/>
          <p:cNvCxnSpPr/>
          <p:nvPr/>
        </p:nvCxnSpPr>
        <p:spPr>
          <a:xfrm>
            <a:off x="-112875" y="3979775"/>
            <a:ext cx="1378500" cy="12363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153;p20"/>
          <p:cNvCxnSpPr/>
          <p:nvPr/>
        </p:nvCxnSpPr>
        <p:spPr>
          <a:xfrm>
            <a:off x="7908725" y="-88700"/>
            <a:ext cx="1418700" cy="10644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ONLY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>
            <a:extLst>
              <a:ext uri="{FF2B5EF4-FFF2-40B4-BE49-F238E27FC236}">
                <a16:creationId xmlns:a16="http://schemas.microsoft.com/office/drawing/2014/main" id="{23F898CD-82FC-4683-84D2-5C78A4175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228" name="Google Shape;156;p2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157;p2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0" name="Google Shape;158;p21"/>
          <p:cNvCxnSpPr/>
          <p:nvPr/>
        </p:nvCxnSpPr>
        <p:spPr>
          <a:xfrm>
            <a:off x="7207350" y="-153175"/>
            <a:ext cx="2120400" cy="12738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9" name="Google Shape;160;p2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0" name="Google Shape;161;p2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162;p22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2" name="Google Shape;163;p22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3" name="Google Shape;164;p22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4" name="Google Shape;165;p22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" name="Google Shape;166;p22">
            <a:extLst>
              <a:ext uri="{FF2B5EF4-FFF2-40B4-BE49-F238E27FC236}">
                <a16:creationId xmlns:a16="http://schemas.microsoft.com/office/drawing/2014/main" id="{7E01FDD0-A82B-47BC-AF64-A43CCE46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>
            <a:extLst>
              <a:ext uri="{FF2B5EF4-FFF2-40B4-BE49-F238E27FC236}">
                <a16:creationId xmlns:a16="http://schemas.microsoft.com/office/drawing/2014/main" id="{F8CEE175-7B0C-467F-8A7D-978199C9B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7475" y="445025"/>
            <a:ext cx="53892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3">
            <a:extLst>
              <a:ext uri="{FF2B5EF4-FFF2-40B4-BE49-F238E27FC236}">
                <a16:creationId xmlns:a16="http://schemas.microsoft.com/office/drawing/2014/main" id="{68501BC2-29B1-475C-BE32-1EBF878479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26708" y="14053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70" name="Google Shape;170;p23">
            <a:extLst>
              <a:ext uri="{FF2B5EF4-FFF2-40B4-BE49-F238E27FC236}">
                <a16:creationId xmlns:a16="http://schemas.microsoft.com/office/drawing/2014/main" id="{4CFFFC74-8C5B-4709-8C2F-328EE6F42A07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226708" y="18064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3">
            <a:extLst>
              <a:ext uri="{FF2B5EF4-FFF2-40B4-BE49-F238E27FC236}">
                <a16:creationId xmlns:a16="http://schemas.microsoft.com/office/drawing/2014/main" id="{EA757EF2-F85C-4BD4-95AA-4AF99D96FE55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719108" y="14053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72" name="Google Shape;172;p23">
            <a:extLst>
              <a:ext uri="{FF2B5EF4-FFF2-40B4-BE49-F238E27FC236}">
                <a16:creationId xmlns:a16="http://schemas.microsoft.com/office/drawing/2014/main" id="{7D963708-A6CB-4746-824C-ADDDCDA79A2A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719108" y="18064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23">
            <a:extLst>
              <a:ext uri="{FF2B5EF4-FFF2-40B4-BE49-F238E27FC236}">
                <a16:creationId xmlns:a16="http://schemas.microsoft.com/office/drawing/2014/main" id="{CD15241A-BB20-4EE8-9F95-730D8EB5E6FD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3226708" y="3171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74" name="Google Shape;174;p23">
            <a:extLst>
              <a:ext uri="{FF2B5EF4-FFF2-40B4-BE49-F238E27FC236}">
                <a16:creationId xmlns:a16="http://schemas.microsoft.com/office/drawing/2014/main" id="{3738D1C9-7064-40A2-9843-FBDC26290EE6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3226708" y="3565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3">
            <a:extLst>
              <a:ext uri="{FF2B5EF4-FFF2-40B4-BE49-F238E27FC236}">
                <a16:creationId xmlns:a16="http://schemas.microsoft.com/office/drawing/2014/main" id="{F882CD82-DB89-4907-94E7-F0EB65D4B8D2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719108" y="3171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76" name="Google Shape;176;p23">
            <a:extLst>
              <a:ext uri="{FF2B5EF4-FFF2-40B4-BE49-F238E27FC236}">
                <a16:creationId xmlns:a16="http://schemas.microsoft.com/office/drawing/2014/main" id="{32565EB5-FAC4-4765-9868-C668959BD902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719158" y="3565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75" name="Google Shape;177;p2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6" name="Google Shape;178;p2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3" name="Google Shape;180;p2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4" name="Google Shape;181;p2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5" name="Google Shape;182;p2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183;p2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4" name="Google Shape;184;p24">
            <a:extLst>
              <a:ext uri="{FF2B5EF4-FFF2-40B4-BE49-F238E27FC236}">
                <a16:creationId xmlns:a16="http://schemas.microsoft.com/office/drawing/2014/main" id="{B8B56FC7-1450-471A-A7C9-88CAA26CF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900" y="3007750"/>
            <a:ext cx="2883000" cy="1595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marL="45720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30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marL="914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3000">
                <a:latin typeface="Cambria"/>
                <a:ea typeface="Cambria"/>
                <a:cs typeface="Cambria"/>
              </a:defRPr>
            </a:lvl2pPr>
            <a:lvl3pPr marL="1371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3000">
                <a:latin typeface="Cambria"/>
                <a:ea typeface="Cambria"/>
                <a:cs typeface="Cambria"/>
              </a:defRPr>
            </a:lvl3pPr>
            <a:lvl4pPr marL="1828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3000">
                <a:latin typeface="Cambria"/>
                <a:ea typeface="Cambria"/>
                <a:cs typeface="Cambria"/>
              </a:defRPr>
            </a:lvl4pPr>
            <a:lvl5pPr marL="22860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3000">
                <a:latin typeface="Cambria"/>
                <a:ea typeface="Cambria"/>
                <a:cs typeface="Cambria"/>
              </a:defRPr>
            </a:lvl5pPr>
            <a:lvl6pPr marL="27432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3000">
                <a:latin typeface="Cambria"/>
                <a:ea typeface="Cambria"/>
                <a:cs typeface="Cambria"/>
              </a:defRPr>
            </a:lvl6pPr>
            <a:lvl7pPr marL="32004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3000">
                <a:latin typeface="Cambria"/>
                <a:ea typeface="Cambria"/>
                <a:cs typeface="Cambria"/>
              </a:defRPr>
            </a:lvl7pPr>
            <a:lvl8pPr marL="36576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3000">
                <a:latin typeface="Cambria"/>
                <a:ea typeface="Cambria"/>
                <a:cs typeface="Cambria"/>
              </a:defRPr>
            </a:lvl8pPr>
            <a:lvl9pPr marL="411480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3000"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CUSTOM_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5">
            <a:extLst>
              <a:ext uri="{FF2B5EF4-FFF2-40B4-BE49-F238E27FC236}">
                <a16:creationId xmlns:a16="http://schemas.microsoft.com/office/drawing/2014/main" id="{E2DDC504-9193-463C-827B-00CA6B28E2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25" y="1345375"/>
            <a:ext cx="6120300" cy="1644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accen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87" name="Google Shape;187;p25">
            <a:extLst>
              <a:ext uri="{FF2B5EF4-FFF2-40B4-BE49-F238E27FC236}">
                <a16:creationId xmlns:a16="http://schemas.microsoft.com/office/drawing/2014/main" id="{DCD0EA6A-D2E6-43A8-8BB6-1DC7C0D79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25" y="3188648"/>
            <a:ext cx="6120300" cy="375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296" name="Google Shape;188;p2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7" name="Google Shape;189;p2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8" name="Google Shape;190;p25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9" name="Google Shape;191;p25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6">
            <a:extLst>
              <a:ext uri="{FF2B5EF4-FFF2-40B4-BE49-F238E27FC236}">
                <a16:creationId xmlns:a16="http://schemas.microsoft.com/office/drawing/2014/main" id="{0977B0CA-AE8B-4CEA-BE6D-43617923E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6100" y="2467375"/>
            <a:ext cx="2475300" cy="64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600"/>
              <a:buNone/>
              <a:defRPr sz="3500"/>
            </a:lvl1pPr>
            <a:lvl2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4" name="Google Shape;194;p26">
            <a:extLst>
              <a:ext uri="{FF2B5EF4-FFF2-40B4-BE49-F238E27FC236}">
                <a16:creationId xmlns:a16="http://schemas.microsoft.com/office/drawing/2014/main" id="{C7009A89-7708-4CDA-9BDF-E16BB384749D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4956100" y="1402325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195" name="Google Shape;195;p26">
            <a:extLst>
              <a:ext uri="{FF2B5EF4-FFF2-40B4-BE49-F238E27FC236}">
                <a16:creationId xmlns:a16="http://schemas.microsoft.com/office/drawing/2014/main" id="{EF2C37C6-5362-4A15-AD26-ABBB4B76C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56100" y="3116275"/>
            <a:ext cx="2475300" cy="6249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04" name="Google Shape;196;p2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5" name="Google Shape;197;p2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6" name="Google Shape;198;p26"/>
          <p:cNvCxnSpPr/>
          <p:nvPr/>
        </p:nvCxnSpPr>
        <p:spPr>
          <a:xfrm>
            <a:off x="-209600" y="2402450"/>
            <a:ext cx="3144300" cy="27897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7">
            <a:extLst>
              <a:ext uri="{FF2B5EF4-FFF2-40B4-BE49-F238E27FC236}">
                <a16:creationId xmlns:a16="http://schemas.microsoft.com/office/drawing/2014/main" id="{F5B7E595-BFD3-48A5-A4B4-104012FCC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50" y="944250"/>
            <a:ext cx="2475300" cy="64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600"/>
              <a:buNone/>
              <a:defRPr sz="3500"/>
            </a:lvl1pPr>
            <a:lvl2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1" name="Google Shape;201;p27">
            <a:extLst>
              <a:ext uri="{FF2B5EF4-FFF2-40B4-BE49-F238E27FC236}">
                <a16:creationId xmlns:a16="http://schemas.microsoft.com/office/drawing/2014/main" id="{3A7A1D4C-D48E-4B56-9E5C-7CF08B6C2814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2294850" y="1096650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202" name="Google Shape;202;p27">
            <a:extLst>
              <a:ext uri="{FF2B5EF4-FFF2-40B4-BE49-F238E27FC236}">
                <a16:creationId xmlns:a16="http://schemas.microsoft.com/office/drawing/2014/main" id="{DCD5C324-53DC-4D46-8AF6-43676119A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73850" y="1593150"/>
            <a:ext cx="2475300" cy="6249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65" name="Google Shape;203;p2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" name="Google Shape;204;p2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205;p27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206;p27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9" name="Google Shape;207;p27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Google Shape;208;p27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8">
            <a:extLst>
              <a:ext uri="{FF2B5EF4-FFF2-40B4-BE49-F238E27FC236}">
                <a16:creationId xmlns:a16="http://schemas.microsoft.com/office/drawing/2014/main" id="{E5F19E44-709B-439A-8715-EF78D81C7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725" y="922567"/>
            <a:ext cx="3123000" cy="225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3000"/>
              <a:buNone/>
              <a:defRPr sz="3500"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8">
            <a:extLst>
              <a:ext uri="{FF2B5EF4-FFF2-40B4-BE49-F238E27FC236}">
                <a16:creationId xmlns:a16="http://schemas.microsoft.com/office/drawing/2014/main" id="{BDD16B6E-A68D-4F57-B457-EC788DA231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725" y="3360938"/>
            <a:ext cx="3013500" cy="78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cxnSp>
        <p:nvCxnSpPr>
          <p:cNvPr id="302" name="Google Shape;212;p2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3" name="Google Shape;213;p2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4" name="Google Shape;214;p28"/>
          <p:cNvCxnSpPr/>
          <p:nvPr/>
        </p:nvCxnSpPr>
        <p:spPr>
          <a:xfrm>
            <a:off x="5322650" y="-80625"/>
            <a:ext cx="4005000" cy="20073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>
            <a:extLst>
              <a:ext uri="{FF2B5EF4-FFF2-40B4-BE49-F238E27FC236}">
                <a16:creationId xmlns:a16="http://schemas.microsoft.com/office/drawing/2014/main" id="{13DFCE81-EC5C-425E-B0EA-AE275C2CD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0925" y="962565"/>
            <a:ext cx="3123000" cy="225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3000"/>
              <a:buNone/>
              <a:defRPr sz="3500"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29">
            <a:extLst>
              <a:ext uri="{FF2B5EF4-FFF2-40B4-BE49-F238E27FC236}">
                <a16:creationId xmlns:a16="http://schemas.microsoft.com/office/drawing/2014/main" id="{E2A7CEC9-8C0A-4CAD-AA5E-FC409EAB22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0925" y="3400935"/>
            <a:ext cx="3013500" cy="78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cxnSp>
        <p:nvCxnSpPr>
          <p:cNvPr id="362" name="Google Shape;218;p2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219;p2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4" name="Google Shape;220;p29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5" name="Google Shape;221;p29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6" name="Google Shape;222;p29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223;p29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>
            <a:extLst>
              <a:ext uri="{FF2B5EF4-FFF2-40B4-BE49-F238E27FC236}">
                <a16:creationId xmlns:a16="http://schemas.microsoft.com/office/drawing/2014/main" id="{D732A0DF-9428-4CD2-AC39-0C474C2D58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000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26" name="Google Shape;226;p30">
            <a:extLst>
              <a:ext uri="{FF2B5EF4-FFF2-40B4-BE49-F238E27FC236}">
                <a16:creationId xmlns:a16="http://schemas.microsoft.com/office/drawing/2014/main" id="{0D4EE217-6848-4309-988D-C39576F47D21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0902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30">
            <a:extLst>
              <a:ext uri="{FF2B5EF4-FFF2-40B4-BE49-F238E27FC236}">
                <a16:creationId xmlns:a16="http://schemas.microsoft.com/office/drawing/2014/main" id="{97568FCD-23DE-444E-AF5C-B1DAF0A353AD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53025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28" name="Google Shape;228;p30">
            <a:extLst>
              <a:ext uri="{FF2B5EF4-FFF2-40B4-BE49-F238E27FC236}">
                <a16:creationId xmlns:a16="http://schemas.microsoft.com/office/drawing/2014/main" id="{5C643B99-0430-4166-A960-6AE58C4E5071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95312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30">
            <a:extLst>
              <a:ext uri="{FF2B5EF4-FFF2-40B4-BE49-F238E27FC236}">
                <a16:creationId xmlns:a16="http://schemas.microsoft.com/office/drawing/2014/main" id="{548C4396-6D65-43C0-BC0B-2A803D1AF5B5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64875" y="25320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30" name="Google Shape;230;p30">
            <a:extLst>
              <a:ext uri="{FF2B5EF4-FFF2-40B4-BE49-F238E27FC236}">
                <a16:creationId xmlns:a16="http://schemas.microsoft.com/office/drawing/2014/main" id="{BE9C857C-58CC-4875-9D11-FD874D8D89FB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64875" y="2948247"/>
            <a:ext cx="2126100" cy="813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30">
            <a:extLst>
              <a:ext uri="{FF2B5EF4-FFF2-40B4-BE49-F238E27FC236}">
                <a16:creationId xmlns:a16="http://schemas.microsoft.com/office/drawing/2014/main" id="{5144D1DD-73E3-4484-96A5-1EC8D687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394" name="Google Shape;232;p3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5" name="Google Shape;233;p3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1">
            <a:extLst>
              <a:ext uri="{FF2B5EF4-FFF2-40B4-BE49-F238E27FC236}">
                <a16:creationId xmlns:a16="http://schemas.microsoft.com/office/drawing/2014/main" id="{06D94E28-751B-44AD-BFA5-78ACF7004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000" y="16938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36" name="Google Shape;236;p31">
            <a:extLst>
              <a:ext uri="{FF2B5EF4-FFF2-40B4-BE49-F238E27FC236}">
                <a16:creationId xmlns:a16="http://schemas.microsoft.com/office/drawing/2014/main" id="{F91EB641-44DE-41D5-9EE6-9FD467CE9DA8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09025" y="21100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31">
            <a:extLst>
              <a:ext uri="{FF2B5EF4-FFF2-40B4-BE49-F238E27FC236}">
                <a16:creationId xmlns:a16="http://schemas.microsoft.com/office/drawing/2014/main" id="{49606E9F-E9A9-4319-BDB0-1A4AD22136AF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53025" y="16938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38" name="Google Shape;238;p31">
            <a:extLst>
              <a:ext uri="{FF2B5EF4-FFF2-40B4-BE49-F238E27FC236}">
                <a16:creationId xmlns:a16="http://schemas.microsoft.com/office/drawing/2014/main" id="{DD375E83-630B-47FB-AD85-C26241881D4B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953125" y="21100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31">
            <a:extLst>
              <a:ext uri="{FF2B5EF4-FFF2-40B4-BE49-F238E27FC236}">
                <a16:creationId xmlns:a16="http://schemas.microsoft.com/office/drawing/2014/main" id="{313396F2-330A-41F9-9FFD-96975DDACC9D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64875" y="16938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40" name="Google Shape;240;p31">
            <a:extLst>
              <a:ext uri="{FF2B5EF4-FFF2-40B4-BE49-F238E27FC236}">
                <a16:creationId xmlns:a16="http://schemas.microsoft.com/office/drawing/2014/main" id="{41C51FC1-D107-423A-AEBD-7121BA335254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64875" y="21100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31">
            <a:extLst>
              <a:ext uri="{FF2B5EF4-FFF2-40B4-BE49-F238E27FC236}">
                <a16:creationId xmlns:a16="http://schemas.microsoft.com/office/drawing/2014/main" id="{FDE19240-E958-40F4-9CD9-B9CD570FB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4250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sp>
        <p:nvSpPr>
          <p:cNvPr id="242" name="Google Shape;242;p31">
            <a:extLst>
              <a:ext uri="{FF2B5EF4-FFF2-40B4-BE49-F238E27FC236}">
                <a16:creationId xmlns:a16="http://schemas.microsoft.com/office/drawing/2014/main" id="{DD53E118-74D9-4573-8D77-09E2E732240D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3509000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43" name="Google Shape;243;p31">
            <a:extLst>
              <a:ext uri="{FF2B5EF4-FFF2-40B4-BE49-F238E27FC236}">
                <a16:creationId xmlns:a16="http://schemas.microsoft.com/office/drawing/2014/main" id="{324C1B97-8E4A-40B5-8B02-8B903078C573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3509025" y="38149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31">
            <a:extLst>
              <a:ext uri="{FF2B5EF4-FFF2-40B4-BE49-F238E27FC236}">
                <a16:creationId xmlns:a16="http://schemas.microsoft.com/office/drawing/2014/main" id="{5004EDC6-C5F4-4E04-AFB3-0A867A847A58}"/>
              </a:ext>
            </a:extLst>
          </p:cNvPr>
          <p:cNvSpPr>
            <a:spLocks noGrp="1"/>
          </p:cNvSpPr>
          <p:nvPr>
            <p:ph type="subTitle" idx="9"/>
          </p:nvPr>
        </p:nvSpPr>
        <p:spPr>
          <a:xfrm>
            <a:off x="953025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45" name="Google Shape;245;p31">
            <a:extLst>
              <a:ext uri="{FF2B5EF4-FFF2-40B4-BE49-F238E27FC236}">
                <a16:creationId xmlns:a16="http://schemas.microsoft.com/office/drawing/2014/main" id="{84F545F5-4E68-41F7-81A4-A15446AAB71D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953125" y="38149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686C553-6179-40D7-8C14-ED2752F689C3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6064875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52D5075-1A20-4397-9D0D-D59D534B72F4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6064875" y="3814949"/>
            <a:ext cx="2126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554" name="Google Shape;248;p3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5" name="Google Shape;249;p3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6" name="Google Shape;250;p31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7" name="Google Shape;251;p31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 -">
  <p:cSld name="CUSTOM_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2">
            <a:extLst>
              <a:ext uri="{FF2B5EF4-FFF2-40B4-BE49-F238E27FC236}">
                <a16:creationId xmlns:a16="http://schemas.microsoft.com/office/drawing/2014/main" id="{968A2170-F20A-440B-96C6-DBA6BB4271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14050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54" name="Google Shape;254;p32">
            <a:extLst>
              <a:ext uri="{FF2B5EF4-FFF2-40B4-BE49-F238E27FC236}">
                <a16:creationId xmlns:a16="http://schemas.microsoft.com/office/drawing/2014/main" id="{95BD13BC-4DC4-44D7-8BD2-B44575F6565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64200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32">
            <a:extLst>
              <a:ext uri="{FF2B5EF4-FFF2-40B4-BE49-F238E27FC236}">
                <a16:creationId xmlns:a16="http://schemas.microsoft.com/office/drawing/2014/main" id="{3A3CC5AE-3E38-426E-8514-C967795A9987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705725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56" name="Google Shape;256;p32">
            <a:extLst>
              <a:ext uri="{FF2B5EF4-FFF2-40B4-BE49-F238E27FC236}">
                <a16:creationId xmlns:a16="http://schemas.microsoft.com/office/drawing/2014/main" id="{EA8484D5-31FA-460E-8B64-8102F2A0827A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855875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32">
            <a:extLst>
              <a:ext uri="{FF2B5EF4-FFF2-40B4-BE49-F238E27FC236}">
                <a16:creationId xmlns:a16="http://schemas.microsoft.com/office/drawing/2014/main" id="{121AF36B-466C-419E-B78E-5018D0F589A4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122325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58" name="Google Shape;258;p32">
            <a:extLst>
              <a:ext uri="{FF2B5EF4-FFF2-40B4-BE49-F238E27FC236}">
                <a16:creationId xmlns:a16="http://schemas.microsoft.com/office/drawing/2014/main" id="{56903D5D-2019-40C9-AA8B-3B2549658EFB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272475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32">
            <a:extLst>
              <a:ext uri="{FF2B5EF4-FFF2-40B4-BE49-F238E27FC236}">
                <a16:creationId xmlns:a16="http://schemas.microsoft.com/office/drawing/2014/main" id="{FD79F86B-036F-4CFA-95CD-EF8827E66C42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3414050" y="34533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60" name="Google Shape;260;p32">
            <a:extLst>
              <a:ext uri="{FF2B5EF4-FFF2-40B4-BE49-F238E27FC236}">
                <a16:creationId xmlns:a16="http://schemas.microsoft.com/office/drawing/2014/main" id="{55AB6829-289A-445E-B326-BD0EC459AF23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3564200" y="38695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32">
            <a:extLst>
              <a:ext uri="{FF2B5EF4-FFF2-40B4-BE49-F238E27FC236}">
                <a16:creationId xmlns:a16="http://schemas.microsoft.com/office/drawing/2014/main" id="{44A94E98-BB21-452B-AC4B-BC47EC627E9A}"/>
              </a:ext>
            </a:extLst>
          </p:cNvPr>
          <p:cNvSpPr>
            <a:spLocks noGrp="1"/>
          </p:cNvSpPr>
          <p:nvPr>
            <p:ph type="subTitle" idx="9"/>
          </p:nvPr>
        </p:nvSpPr>
        <p:spPr>
          <a:xfrm>
            <a:off x="705725" y="34533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62" name="Google Shape;262;p32">
            <a:extLst>
              <a:ext uri="{FF2B5EF4-FFF2-40B4-BE49-F238E27FC236}">
                <a16:creationId xmlns:a16="http://schemas.microsoft.com/office/drawing/2014/main" id="{3B51AEA1-653F-4E9B-BDF4-1D294C92FDA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855875" y="38695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32">
            <a:extLst>
              <a:ext uri="{FF2B5EF4-FFF2-40B4-BE49-F238E27FC236}">
                <a16:creationId xmlns:a16="http://schemas.microsoft.com/office/drawing/2014/main" id="{A7F440D0-7976-4138-AAE9-36C2962B082E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6122325" y="34533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64" name="Google Shape;264;p32">
            <a:extLst>
              <a:ext uri="{FF2B5EF4-FFF2-40B4-BE49-F238E27FC236}">
                <a16:creationId xmlns:a16="http://schemas.microsoft.com/office/drawing/2014/main" id="{B22E96B4-6025-40DD-B94A-AC2DD4D46FE4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6272475" y="38695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2">
            <a:extLst>
              <a:ext uri="{FF2B5EF4-FFF2-40B4-BE49-F238E27FC236}">
                <a16:creationId xmlns:a16="http://schemas.microsoft.com/office/drawing/2014/main" id="{F95419E6-DA37-4828-8589-FAB98B7C3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536" name="Google Shape;266;p3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7" name="Google Shape;267;p3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3">
            <a:extLst>
              <a:ext uri="{FF2B5EF4-FFF2-40B4-BE49-F238E27FC236}">
                <a16:creationId xmlns:a16="http://schemas.microsoft.com/office/drawing/2014/main" id="{0FFC941D-2C15-4DA8-9DAA-7A190ABCD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14050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70" name="Google Shape;270;p33">
            <a:extLst>
              <a:ext uri="{FF2B5EF4-FFF2-40B4-BE49-F238E27FC236}">
                <a16:creationId xmlns:a16="http://schemas.microsoft.com/office/drawing/2014/main" id="{98BA7C88-C565-484E-A97C-B1C7D1696B3A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64200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33">
            <a:extLst>
              <a:ext uri="{FF2B5EF4-FFF2-40B4-BE49-F238E27FC236}">
                <a16:creationId xmlns:a16="http://schemas.microsoft.com/office/drawing/2014/main" id="{7FCF74ED-51A2-4B7C-8FBA-D207060F4787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705725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72" name="Google Shape;272;p33">
            <a:extLst>
              <a:ext uri="{FF2B5EF4-FFF2-40B4-BE49-F238E27FC236}">
                <a16:creationId xmlns:a16="http://schemas.microsoft.com/office/drawing/2014/main" id="{2AC76818-1DA0-451A-AFBB-41550426496C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855875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33">
            <a:extLst>
              <a:ext uri="{FF2B5EF4-FFF2-40B4-BE49-F238E27FC236}">
                <a16:creationId xmlns:a16="http://schemas.microsoft.com/office/drawing/2014/main" id="{D611EFB5-B024-4991-A7E1-CC0E55B226A8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122325" y="1714429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74" name="Google Shape;274;p33">
            <a:extLst>
              <a:ext uri="{FF2B5EF4-FFF2-40B4-BE49-F238E27FC236}">
                <a16:creationId xmlns:a16="http://schemas.microsoft.com/office/drawing/2014/main" id="{318B786B-5F05-4A9D-A1FD-B884A0B8B182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272475" y="2124122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33">
            <a:extLst>
              <a:ext uri="{FF2B5EF4-FFF2-40B4-BE49-F238E27FC236}">
                <a16:creationId xmlns:a16="http://schemas.microsoft.com/office/drawing/2014/main" id="{2C143154-D303-4B27-BC04-D299E2CCD092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2059863" y="31485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76" name="Google Shape;276;p33">
            <a:extLst>
              <a:ext uri="{FF2B5EF4-FFF2-40B4-BE49-F238E27FC236}">
                <a16:creationId xmlns:a16="http://schemas.microsoft.com/office/drawing/2014/main" id="{AAF12959-D519-4B35-8E44-A0C8E7C806C8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2210013" y="35647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3">
            <a:extLst>
              <a:ext uri="{FF2B5EF4-FFF2-40B4-BE49-F238E27FC236}">
                <a16:creationId xmlns:a16="http://schemas.microsoft.com/office/drawing/2014/main" id="{443C4521-26F7-4E60-B237-C87F04A03110}"/>
              </a:ext>
            </a:extLst>
          </p:cNvPr>
          <p:cNvSpPr>
            <a:spLocks noGrp="1"/>
          </p:cNvSpPr>
          <p:nvPr>
            <p:ph type="subTitle" idx="9"/>
          </p:nvPr>
        </p:nvSpPr>
        <p:spPr>
          <a:xfrm>
            <a:off x="4768138" y="3148526"/>
            <a:ext cx="23160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mbria"/>
              <a:buNone/>
              <a:defRPr sz="2400">
                <a:solidFill>
                  <a:schemeClr val="accent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78" name="Google Shape;278;p33">
            <a:extLst>
              <a:ext uri="{FF2B5EF4-FFF2-40B4-BE49-F238E27FC236}">
                <a16:creationId xmlns:a16="http://schemas.microsoft.com/office/drawing/2014/main" id="{EB7F1843-E04F-46FE-85C4-40EBC18F7581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4918288" y="3564736"/>
            <a:ext cx="2015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33">
            <a:extLst>
              <a:ext uri="{FF2B5EF4-FFF2-40B4-BE49-F238E27FC236}">
                <a16:creationId xmlns:a16="http://schemas.microsoft.com/office/drawing/2014/main" id="{680A919E-5AC9-4E25-B0A7-F52231CF8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50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550" name="Google Shape;280;p3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1" name="Google Shape;281;p3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2" name="Google Shape;282;p3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3" name="Google Shape;283;p3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4">
            <a:extLst>
              <a:ext uri="{FF2B5EF4-FFF2-40B4-BE49-F238E27FC236}">
                <a16:creationId xmlns:a16="http://schemas.microsoft.com/office/drawing/2014/main" id="{5F4933A9-2771-4540-80C1-253F1D75B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225" y="1073000"/>
            <a:ext cx="5640600" cy="2856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12" name="Google Shape;286;p3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3" name="Google Shape;287;p3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288;p3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5" name="Google Shape;289;p3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6" name="Google Shape;290;p34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7" name="Google Shape;291;p34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5">
            <a:extLst>
              <a:ext uri="{FF2B5EF4-FFF2-40B4-BE49-F238E27FC236}">
                <a16:creationId xmlns:a16="http://schemas.microsoft.com/office/drawing/2014/main" id="{90E4D535-F9B7-41CD-AC41-C9FD1680EC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6850" y="1894200"/>
            <a:ext cx="2316000" cy="489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94" name="Google Shape;294;p35">
            <a:extLst>
              <a:ext uri="{FF2B5EF4-FFF2-40B4-BE49-F238E27FC236}">
                <a16:creationId xmlns:a16="http://schemas.microsoft.com/office/drawing/2014/main" id="{B8058A33-421A-4AB6-A880-013F089964E2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058900" y="2296473"/>
            <a:ext cx="20319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35">
            <a:extLst>
              <a:ext uri="{FF2B5EF4-FFF2-40B4-BE49-F238E27FC236}">
                <a16:creationId xmlns:a16="http://schemas.microsoft.com/office/drawing/2014/main" id="{05CADEDF-DEF5-47A8-BEAD-699B0848CDF3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911150" y="1894200"/>
            <a:ext cx="2316000" cy="489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96" name="Google Shape;296;p35">
            <a:extLst>
              <a:ext uri="{FF2B5EF4-FFF2-40B4-BE49-F238E27FC236}">
                <a16:creationId xmlns:a16="http://schemas.microsoft.com/office/drawing/2014/main" id="{68959AF3-A012-4869-8067-044D1C91A8C7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2053300" y="2296473"/>
            <a:ext cx="20319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7" name="Google Shape;297;p35">
            <a:extLst>
              <a:ext uri="{FF2B5EF4-FFF2-40B4-BE49-F238E27FC236}">
                <a16:creationId xmlns:a16="http://schemas.microsoft.com/office/drawing/2014/main" id="{CFAA93DC-618C-4612-A03F-D33B6C75200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4916850" y="3528902"/>
            <a:ext cx="2316000" cy="489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298" name="Google Shape;298;p35">
            <a:extLst>
              <a:ext uri="{FF2B5EF4-FFF2-40B4-BE49-F238E27FC236}">
                <a16:creationId xmlns:a16="http://schemas.microsoft.com/office/drawing/2014/main" id="{34C52802-E303-4CC6-9AF3-4AA0CC785A27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5058900" y="3923733"/>
            <a:ext cx="20319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35">
            <a:extLst>
              <a:ext uri="{FF2B5EF4-FFF2-40B4-BE49-F238E27FC236}">
                <a16:creationId xmlns:a16="http://schemas.microsoft.com/office/drawing/2014/main" id="{738E2D52-9045-4AB4-A1A0-10608A15AFB5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1911150" y="3528902"/>
            <a:ext cx="2316000" cy="489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00" name="Google Shape;300;p35">
            <a:extLst>
              <a:ext uri="{FF2B5EF4-FFF2-40B4-BE49-F238E27FC236}">
                <a16:creationId xmlns:a16="http://schemas.microsoft.com/office/drawing/2014/main" id="{DE49D77B-A76A-4C2B-AF38-76A5E8078F4C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2053200" y="3923733"/>
            <a:ext cx="20319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1" name="Google Shape;301;p35">
            <a:extLst>
              <a:ext uri="{FF2B5EF4-FFF2-40B4-BE49-F238E27FC236}">
                <a16:creationId xmlns:a16="http://schemas.microsoft.com/office/drawing/2014/main" id="{662C1871-475E-4332-8FC8-F0335E879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64803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500" name="Google Shape;302;p3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1" name="Google Shape;303;p3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>
            <a:extLst>
              <a:ext uri="{FF2B5EF4-FFF2-40B4-BE49-F238E27FC236}">
                <a16:creationId xmlns:a16="http://schemas.microsoft.com/office/drawing/2014/main" id="{7DC870A3-27DD-415A-AB5C-5B960BC54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925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06" name="Google Shape;306;p36">
            <a:extLst>
              <a:ext uri="{FF2B5EF4-FFF2-40B4-BE49-F238E27FC236}">
                <a16:creationId xmlns:a16="http://schemas.microsoft.com/office/drawing/2014/main" id="{67FC16FC-2848-4717-9F0F-7545B1CF13E7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71925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p36">
            <a:extLst>
              <a:ext uri="{FF2B5EF4-FFF2-40B4-BE49-F238E27FC236}">
                <a16:creationId xmlns:a16="http://schemas.microsoft.com/office/drawing/2014/main" id="{F067FE69-18C0-439E-85A9-49BF2D7E77B2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088400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08" name="Google Shape;308;p36">
            <a:extLst>
              <a:ext uri="{FF2B5EF4-FFF2-40B4-BE49-F238E27FC236}">
                <a16:creationId xmlns:a16="http://schemas.microsoft.com/office/drawing/2014/main" id="{5EDFAB04-9528-4F9D-BE88-61208832A79A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088400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36">
            <a:extLst>
              <a:ext uri="{FF2B5EF4-FFF2-40B4-BE49-F238E27FC236}">
                <a16:creationId xmlns:a16="http://schemas.microsoft.com/office/drawing/2014/main" id="{04C3C78A-F5DF-49E0-B906-76BB3D7BFC58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55450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10" name="Google Shape;310;p36">
            <a:extLst>
              <a:ext uri="{FF2B5EF4-FFF2-40B4-BE49-F238E27FC236}">
                <a16:creationId xmlns:a16="http://schemas.microsoft.com/office/drawing/2014/main" id="{D4FC733C-122E-49C3-8354-A3C0DD381325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55450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36">
            <a:extLst>
              <a:ext uri="{FF2B5EF4-FFF2-40B4-BE49-F238E27FC236}">
                <a16:creationId xmlns:a16="http://schemas.microsoft.com/office/drawing/2014/main" id="{3A3E6CCA-6D78-4FB4-9463-DD203FDC1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55176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492" name="Google Shape;312;p3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3" name="Google Shape;313;p3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4" name="Google Shape;314;p36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">
  <p:cSld name="CUSTOM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7" name="Google Shape;316;p3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8" name="Google Shape;317;p3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9" name="Google Shape;318;p37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0" name="Google Shape;319;p37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1" name="Google Shape;320;p37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321;p37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2" name="Google Shape;322;p37">
            <a:extLst>
              <a:ext uri="{FF2B5EF4-FFF2-40B4-BE49-F238E27FC236}">
                <a16:creationId xmlns:a16="http://schemas.microsoft.com/office/drawing/2014/main" id="{F0D90F50-38DA-4C39-8086-8A267E2CE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0100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37">
            <a:extLst>
              <a:ext uri="{FF2B5EF4-FFF2-40B4-BE49-F238E27FC236}">
                <a16:creationId xmlns:a16="http://schemas.microsoft.com/office/drawing/2014/main" id="{006103FB-A3A4-4A6F-9BF8-BCF92AD3D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6650" y="17101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24" name="Google Shape;324;p37">
            <a:extLst>
              <a:ext uri="{FF2B5EF4-FFF2-40B4-BE49-F238E27FC236}">
                <a16:creationId xmlns:a16="http://schemas.microsoft.com/office/drawing/2014/main" id="{650F4BC0-CB9C-4C7E-B22B-6966FFA1ACB9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306650" y="21112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37">
            <a:extLst>
              <a:ext uri="{FF2B5EF4-FFF2-40B4-BE49-F238E27FC236}">
                <a16:creationId xmlns:a16="http://schemas.microsoft.com/office/drawing/2014/main" id="{D843F7DD-9B52-4D37-A1A2-A215C9BE1C63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351250" y="1710190"/>
            <a:ext cx="2486100" cy="401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26" name="Google Shape;326;p37">
            <a:extLst>
              <a:ext uri="{FF2B5EF4-FFF2-40B4-BE49-F238E27FC236}">
                <a16:creationId xmlns:a16="http://schemas.microsoft.com/office/drawing/2014/main" id="{88922954-03A6-4D17-B56F-DBD3DDCD6AFD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351250" y="211121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37">
            <a:extLst>
              <a:ext uri="{FF2B5EF4-FFF2-40B4-BE49-F238E27FC236}">
                <a16:creationId xmlns:a16="http://schemas.microsoft.com/office/drawing/2014/main" id="{88B692A7-361B-42D5-A3F8-843B3B3C43E5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5306650" y="3552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28" name="Google Shape;328;p37">
            <a:extLst>
              <a:ext uri="{FF2B5EF4-FFF2-40B4-BE49-F238E27FC236}">
                <a16:creationId xmlns:a16="http://schemas.microsoft.com/office/drawing/2014/main" id="{9287E43E-8CAF-4A0B-B7C5-E189D9EE54CF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5306650" y="3946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p37">
            <a:extLst>
              <a:ext uri="{FF2B5EF4-FFF2-40B4-BE49-F238E27FC236}">
                <a16:creationId xmlns:a16="http://schemas.microsoft.com/office/drawing/2014/main" id="{3F778D9F-3A5C-4DE3-BEE0-D9034D39B7A8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1351250" y="3552118"/>
            <a:ext cx="2486100" cy="461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330" name="Google Shape;330;p37">
            <a:extLst>
              <a:ext uri="{FF2B5EF4-FFF2-40B4-BE49-F238E27FC236}">
                <a16:creationId xmlns:a16="http://schemas.microsoft.com/office/drawing/2014/main" id="{A2B6538A-DBEB-452B-B6A1-170932379AAD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1351300" y="3946487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37">
            <a:extLst>
              <a:ext uri="{FF2B5EF4-FFF2-40B4-BE49-F238E27FC236}">
                <a16:creationId xmlns:a16="http://schemas.microsoft.com/office/drawing/2014/main" id="{F96A6728-F091-431E-93C5-8503C361DEA8}"/>
              </a:ext>
            </a:extLst>
          </p:cNvPr>
          <p:cNvSpPr>
            <a:spLocks noGrp="1"/>
          </p:cNvSpPr>
          <p:nvPr>
            <p:ph type="title" idx="9" hasCustomPrompt="1"/>
          </p:nvPr>
        </p:nvSpPr>
        <p:spPr>
          <a:xfrm>
            <a:off x="1351250" y="1131425"/>
            <a:ext cx="2486100" cy="66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2" name="Google Shape;332;p37">
            <a:extLst>
              <a:ext uri="{FF2B5EF4-FFF2-40B4-BE49-F238E27FC236}">
                <a16:creationId xmlns:a16="http://schemas.microsoft.com/office/drawing/2014/main" id="{AD110604-5FCC-469C-8F5B-708E18C1F0FF}"/>
              </a:ext>
            </a:extLst>
          </p:cNvPr>
          <p:cNvSpPr>
            <a:spLocks noGrp="1"/>
          </p:cNvSpPr>
          <p:nvPr>
            <p:ph type="title" idx="13" hasCustomPrompt="1"/>
          </p:nvPr>
        </p:nvSpPr>
        <p:spPr>
          <a:xfrm>
            <a:off x="5306650" y="1131425"/>
            <a:ext cx="2486100" cy="66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3" name="Google Shape;333;p37">
            <a:extLst>
              <a:ext uri="{FF2B5EF4-FFF2-40B4-BE49-F238E27FC236}">
                <a16:creationId xmlns:a16="http://schemas.microsoft.com/office/drawing/2014/main" id="{D04CC105-D580-4F68-821B-CAD08CAF8157}"/>
              </a:ext>
            </a:extLst>
          </p:cNvPr>
          <p:cNvSpPr>
            <a:spLocks noGrp="1"/>
          </p:cNvSpPr>
          <p:nvPr>
            <p:ph type="title" idx="14" hasCustomPrompt="1"/>
          </p:nvPr>
        </p:nvSpPr>
        <p:spPr>
          <a:xfrm>
            <a:off x="1351300" y="2964563"/>
            <a:ext cx="2486100" cy="66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4" name="Google Shape;334;p37">
            <a:extLst>
              <a:ext uri="{FF2B5EF4-FFF2-40B4-BE49-F238E27FC236}">
                <a16:creationId xmlns:a16="http://schemas.microsoft.com/office/drawing/2014/main" id="{6C4B7AFC-1C3A-4C58-A864-F83603A33B7D}"/>
              </a:ext>
            </a:extLst>
          </p:cNvPr>
          <p:cNvSpPr>
            <a:spLocks noGrp="1"/>
          </p:cNvSpPr>
          <p:nvPr>
            <p:ph type="title" idx="15" hasCustomPrompt="1"/>
          </p:nvPr>
        </p:nvSpPr>
        <p:spPr>
          <a:xfrm>
            <a:off x="5306650" y="2964563"/>
            <a:ext cx="2486100" cy="66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CUSTOM_4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8">
            <a:extLst>
              <a:ext uri="{FF2B5EF4-FFF2-40B4-BE49-F238E27FC236}">
                <a16:creationId xmlns:a16="http://schemas.microsoft.com/office/drawing/2014/main" id="{55B6AE11-DAC7-4760-A571-B32668034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18325" y="3294199"/>
            <a:ext cx="16428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37" name="Google Shape;337;p38">
            <a:extLst>
              <a:ext uri="{FF2B5EF4-FFF2-40B4-BE49-F238E27FC236}">
                <a16:creationId xmlns:a16="http://schemas.microsoft.com/office/drawing/2014/main" id="{A39AF0E6-E022-4DF1-B79E-A954C7E80A67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617675" y="3703897"/>
            <a:ext cx="1844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338" name="Google Shape;338;p38">
            <a:extLst>
              <a:ext uri="{FF2B5EF4-FFF2-40B4-BE49-F238E27FC236}">
                <a16:creationId xmlns:a16="http://schemas.microsoft.com/office/drawing/2014/main" id="{1E3AEA47-D957-488D-9326-54A74A71934F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328025" y="3294199"/>
            <a:ext cx="16428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39" name="Google Shape;339;p38">
            <a:extLst>
              <a:ext uri="{FF2B5EF4-FFF2-40B4-BE49-F238E27FC236}">
                <a16:creationId xmlns:a16="http://schemas.microsoft.com/office/drawing/2014/main" id="{49D4E235-EB29-4A1D-BD5E-D7243C579C05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27426" y="3703897"/>
            <a:ext cx="1844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8">
            <a:extLst>
              <a:ext uri="{FF2B5EF4-FFF2-40B4-BE49-F238E27FC236}">
                <a16:creationId xmlns:a16="http://schemas.microsoft.com/office/drawing/2014/main" id="{E5B38C51-FE6B-4B00-A4E4-043803741993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108550" y="3294199"/>
            <a:ext cx="1643100" cy="43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41" name="Google Shape;341;p38">
            <a:extLst>
              <a:ext uri="{FF2B5EF4-FFF2-40B4-BE49-F238E27FC236}">
                <a16:creationId xmlns:a16="http://schemas.microsoft.com/office/drawing/2014/main" id="{FFADE05F-5519-438D-B9C8-34CD11D206CF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08050" y="3703897"/>
            <a:ext cx="1844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342" name="Google Shape;342;p38">
            <a:extLst>
              <a:ext uri="{FF2B5EF4-FFF2-40B4-BE49-F238E27FC236}">
                <a16:creationId xmlns:a16="http://schemas.microsoft.com/office/drawing/2014/main" id="{DC218B03-D2F2-45FA-ADBF-4C8989D15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3188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505" name="Google Shape;343;p3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6" name="Google Shape;344;p3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39">
            <a:extLst>
              <a:ext uri="{FF2B5EF4-FFF2-40B4-BE49-F238E27FC236}">
                <a16:creationId xmlns:a16="http://schemas.microsoft.com/office/drawing/2014/main" id="{F4A9DF3B-2929-4C54-A0BA-230783A4A7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50175" y="1632746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47" name="Google Shape;347;p39">
            <a:extLst>
              <a:ext uri="{FF2B5EF4-FFF2-40B4-BE49-F238E27FC236}">
                <a16:creationId xmlns:a16="http://schemas.microsoft.com/office/drawing/2014/main" id="{5DAA0464-8793-4AAB-95AE-FB87F0E47AC7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750184" y="2035022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39">
            <a:extLst>
              <a:ext uri="{FF2B5EF4-FFF2-40B4-BE49-F238E27FC236}">
                <a16:creationId xmlns:a16="http://schemas.microsoft.com/office/drawing/2014/main" id="{5BD64A1B-12A1-4C81-9B57-4F67AB3C0C2C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2306450" y="1632746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49" name="Google Shape;349;p39">
            <a:extLst>
              <a:ext uri="{FF2B5EF4-FFF2-40B4-BE49-F238E27FC236}">
                <a16:creationId xmlns:a16="http://schemas.microsoft.com/office/drawing/2014/main" id="{2BF7EEB0-DA64-4EFD-B4E4-74E72740B093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2306462" y="2035022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0" name="Google Shape;350;p39">
            <a:extLst>
              <a:ext uri="{FF2B5EF4-FFF2-40B4-BE49-F238E27FC236}">
                <a16:creationId xmlns:a16="http://schemas.microsoft.com/office/drawing/2014/main" id="{A9E7B1FD-55D7-4705-BB24-EE456B1CE440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4750175" y="3062273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51" name="Google Shape;351;p39">
            <a:extLst>
              <a:ext uri="{FF2B5EF4-FFF2-40B4-BE49-F238E27FC236}">
                <a16:creationId xmlns:a16="http://schemas.microsoft.com/office/drawing/2014/main" id="{1DDD83D6-BD60-4F67-94F3-E5729D5287DF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4750184" y="3471047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39">
            <a:extLst>
              <a:ext uri="{FF2B5EF4-FFF2-40B4-BE49-F238E27FC236}">
                <a16:creationId xmlns:a16="http://schemas.microsoft.com/office/drawing/2014/main" id="{4B35B788-69D8-4629-9BC2-186A5DA03D03}"/>
              </a:ext>
            </a:extLst>
          </p:cNvPr>
          <p:cNvSpPr>
            <a:spLocks noGrp="1"/>
          </p:cNvSpPr>
          <p:nvPr>
            <p:ph type="subTitle" idx="7"/>
          </p:nvPr>
        </p:nvSpPr>
        <p:spPr>
          <a:xfrm>
            <a:off x="2306450" y="3062273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53" name="Google Shape;353;p39">
            <a:extLst>
              <a:ext uri="{FF2B5EF4-FFF2-40B4-BE49-F238E27FC236}">
                <a16:creationId xmlns:a16="http://schemas.microsoft.com/office/drawing/2014/main" id="{F6ABF266-6B42-4EB0-B0FE-8830FC0B805D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2306462" y="3471047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39">
            <a:extLst>
              <a:ext uri="{FF2B5EF4-FFF2-40B4-BE49-F238E27FC236}">
                <a16:creationId xmlns:a16="http://schemas.microsoft.com/office/drawing/2014/main" id="{6B3CF258-F0A7-4C63-973E-E04766EB2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2785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553" name="Google Shape;355;p3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4" name="Google Shape;356;p3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3">
  <p:cSld name="CUSTOM_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3" name="Google Shape;358;p4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4" name="Google Shape;359;p4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360;p40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6" name="Google Shape;361;p40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7" name="Google Shape;362;p40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8" name="Google Shape;363;p40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4" name="Google Shape;364;p40">
            <a:extLst>
              <a:ext uri="{FF2B5EF4-FFF2-40B4-BE49-F238E27FC236}">
                <a16:creationId xmlns:a16="http://schemas.microsoft.com/office/drawing/2014/main" id="{DF084956-A4FF-4E9C-9E13-9D45CEDCF8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750" y="1112872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65" name="Google Shape;365;p40">
            <a:extLst>
              <a:ext uri="{FF2B5EF4-FFF2-40B4-BE49-F238E27FC236}">
                <a16:creationId xmlns:a16="http://schemas.microsoft.com/office/drawing/2014/main" id="{BDCB25F9-FCB4-4638-8075-C7B609772CEA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28762" y="1515149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40">
            <a:extLst>
              <a:ext uri="{FF2B5EF4-FFF2-40B4-BE49-F238E27FC236}">
                <a16:creationId xmlns:a16="http://schemas.microsoft.com/office/drawing/2014/main" id="{E7CC2BEC-9CB8-447F-B33D-8BE194C8223F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728750" y="2036386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67" name="Google Shape;367;p40">
            <a:extLst>
              <a:ext uri="{FF2B5EF4-FFF2-40B4-BE49-F238E27FC236}">
                <a16:creationId xmlns:a16="http://schemas.microsoft.com/office/drawing/2014/main" id="{F181A2C9-F533-488F-A63C-EA63FB1FFEBF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728762" y="2445160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8" name="Google Shape;368;p40">
            <a:extLst>
              <a:ext uri="{FF2B5EF4-FFF2-40B4-BE49-F238E27FC236}">
                <a16:creationId xmlns:a16="http://schemas.microsoft.com/office/drawing/2014/main" id="{2F11521D-D705-42F6-A731-E9E4F8734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50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sp>
        <p:nvSpPr>
          <p:cNvPr id="369" name="Google Shape;369;p40">
            <a:extLst>
              <a:ext uri="{FF2B5EF4-FFF2-40B4-BE49-F238E27FC236}">
                <a16:creationId xmlns:a16="http://schemas.microsoft.com/office/drawing/2014/main" id="{B77298E0-271E-4149-8F9D-B07020DE5BFF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728750" y="2997225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70" name="Google Shape;370;p40">
            <a:extLst>
              <a:ext uri="{FF2B5EF4-FFF2-40B4-BE49-F238E27FC236}">
                <a16:creationId xmlns:a16="http://schemas.microsoft.com/office/drawing/2014/main" id="{25F540F7-F137-4048-85CC-F7608E661453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728762" y="3405999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1">
            <a:extLst>
              <a:ext uri="{FF2B5EF4-FFF2-40B4-BE49-F238E27FC236}">
                <a16:creationId xmlns:a16="http://schemas.microsoft.com/office/drawing/2014/main" id="{97E750AA-4523-4649-8F2B-232B3ECBA7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925" y="714600"/>
            <a:ext cx="3958200" cy="615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5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73" name="Google Shape;373;p41">
            <a:extLst>
              <a:ext uri="{FF2B5EF4-FFF2-40B4-BE49-F238E27FC236}">
                <a16:creationId xmlns:a16="http://schemas.microsoft.com/office/drawing/2014/main" id="{88670BC7-D179-4814-A38A-BEC74F7A8C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64984" y="1346400"/>
            <a:ext cx="4414200" cy="37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5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4" name="Google Shape;374;p41">
            <a:extLst>
              <a:ext uri="{FF2B5EF4-FFF2-40B4-BE49-F238E27FC236}">
                <a16:creationId xmlns:a16="http://schemas.microsoft.com/office/drawing/2014/main" id="{95BC934E-D7DB-4B2A-9A38-562C6EF5F50E}"/>
              </a:ext>
            </a:extLst>
          </p:cNvPr>
          <p:cNvSpPr>
            <a:spLocks noGrp="1"/>
          </p:cNvSpPr>
          <p:nvPr>
            <p:ph type="title" idx="2" hasCustomPrompt="1"/>
          </p:nvPr>
        </p:nvSpPr>
        <p:spPr>
          <a:xfrm>
            <a:off x="2592925" y="2063025"/>
            <a:ext cx="3958200" cy="615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3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75" name="Google Shape;375;p41">
            <a:extLst>
              <a:ext uri="{FF2B5EF4-FFF2-40B4-BE49-F238E27FC236}">
                <a16:creationId xmlns:a16="http://schemas.microsoft.com/office/drawing/2014/main" id="{1D0B438F-513D-4A63-9D29-35FF1CA5C46D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2364984" y="2694825"/>
            <a:ext cx="4414200" cy="37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6" name="Google Shape;376;p41">
            <a:extLst>
              <a:ext uri="{FF2B5EF4-FFF2-40B4-BE49-F238E27FC236}">
                <a16:creationId xmlns:a16="http://schemas.microsoft.com/office/drawing/2014/main" id="{6315E4C6-B333-43B0-A5C8-08A1521F991F}"/>
              </a:ext>
            </a:extLst>
          </p:cNvPr>
          <p:cNvSpPr>
            <a:spLocks noGrp="1"/>
          </p:cNvSpPr>
          <p:nvPr>
            <p:ph type="title" idx="4" hasCustomPrompt="1"/>
          </p:nvPr>
        </p:nvSpPr>
        <p:spPr>
          <a:xfrm>
            <a:off x="2592925" y="3411450"/>
            <a:ext cx="3958200" cy="615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3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77" name="Google Shape;377;p41">
            <a:extLst>
              <a:ext uri="{FF2B5EF4-FFF2-40B4-BE49-F238E27FC236}">
                <a16:creationId xmlns:a16="http://schemas.microsoft.com/office/drawing/2014/main" id="{FB235E2A-A3C0-4F24-96EA-1C18B8F78846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2364950" y="4043250"/>
            <a:ext cx="4414200" cy="377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5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522" name="Google Shape;378;p4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3" name="Google Shape;379;p4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2">
  <p:cSld name="CUSTOM_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42">
            <a:extLst>
              <a:ext uri="{FF2B5EF4-FFF2-40B4-BE49-F238E27FC236}">
                <a16:creationId xmlns:a16="http://schemas.microsoft.com/office/drawing/2014/main" id="{C05C23C0-2E91-4F29-95E9-65AC81E325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00609" y="2084269"/>
            <a:ext cx="27645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82" name="Google Shape;382;p42">
            <a:extLst>
              <a:ext uri="{FF2B5EF4-FFF2-40B4-BE49-F238E27FC236}">
                <a16:creationId xmlns:a16="http://schemas.microsoft.com/office/drawing/2014/main" id="{99F7F437-5340-476E-BD86-073B5239F8ED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5700621" y="2486544"/>
            <a:ext cx="2764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Mako"/>
                <a:ea typeface="Mako"/>
                <a:cs typeface="Mako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p42">
            <a:extLst>
              <a:ext uri="{FF2B5EF4-FFF2-40B4-BE49-F238E27FC236}">
                <a16:creationId xmlns:a16="http://schemas.microsoft.com/office/drawing/2014/main" id="{2E6CD3A5-34D5-44EC-AA91-4FE1E6230E26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973988" y="902134"/>
            <a:ext cx="27645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84" name="Google Shape;384;p42">
            <a:extLst>
              <a:ext uri="{FF2B5EF4-FFF2-40B4-BE49-F238E27FC236}">
                <a16:creationId xmlns:a16="http://schemas.microsoft.com/office/drawing/2014/main" id="{A7C79F80-F0B5-4C87-A486-669972C476CB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973988" y="1304410"/>
            <a:ext cx="2764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  <a:latin typeface="Mako"/>
                <a:ea typeface="Mako"/>
                <a:cs typeface="Mako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5" name="Google Shape;385;p42">
            <a:extLst>
              <a:ext uri="{FF2B5EF4-FFF2-40B4-BE49-F238E27FC236}">
                <a16:creationId xmlns:a16="http://schemas.microsoft.com/office/drawing/2014/main" id="{22E006A2-DEF9-47AF-8241-471633FC0E96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1973988" y="3290875"/>
            <a:ext cx="27645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386" name="Google Shape;386;p42">
            <a:extLst>
              <a:ext uri="{FF2B5EF4-FFF2-40B4-BE49-F238E27FC236}">
                <a16:creationId xmlns:a16="http://schemas.microsoft.com/office/drawing/2014/main" id="{EC72FDD4-1D8E-4335-80B1-0B8E36503EA3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973988" y="3699649"/>
            <a:ext cx="2764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588" name="Google Shape;387;p4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9" name="Google Shape;388;p4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0" name="Google Shape;389;p42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1" name="Google Shape;390;p42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2" name="Google Shape;391;p42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2" name="Google Shape;392;p42">
            <a:extLst>
              <a:ext uri="{FF2B5EF4-FFF2-40B4-BE49-F238E27FC236}">
                <a16:creationId xmlns:a16="http://schemas.microsoft.com/office/drawing/2014/main" id="{BA4501C3-BA42-4714-B395-27BE248708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000" y="1114450"/>
            <a:ext cx="1118100" cy="615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5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42">
            <a:extLst>
              <a:ext uri="{FF2B5EF4-FFF2-40B4-BE49-F238E27FC236}">
                <a16:creationId xmlns:a16="http://schemas.microsoft.com/office/drawing/2014/main" id="{4042E3D0-1CB6-43D1-BCF9-A27C228476E2}"/>
              </a:ext>
            </a:extLst>
          </p:cNvPr>
          <p:cNvSpPr>
            <a:spLocks noGrp="1"/>
          </p:cNvSpPr>
          <p:nvPr>
            <p:ph type="title" idx="7" hasCustomPrompt="1"/>
          </p:nvPr>
        </p:nvSpPr>
        <p:spPr>
          <a:xfrm>
            <a:off x="733000" y="3503175"/>
            <a:ext cx="1118100" cy="615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5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9pPr>
          </a:lstStyle>
          <a:p>
            <a:r>
              <a:t>xx%</a:t>
            </a:r>
          </a:p>
        </p:txBody>
      </p:sp>
      <p:sp>
        <p:nvSpPr>
          <p:cNvPr id="394" name="Google Shape;394;p42">
            <a:extLst>
              <a:ext uri="{FF2B5EF4-FFF2-40B4-BE49-F238E27FC236}">
                <a16:creationId xmlns:a16="http://schemas.microsoft.com/office/drawing/2014/main" id="{844B9DFA-2BFF-44ED-ADC9-13ECFF1503F5}"/>
              </a:ext>
            </a:extLst>
          </p:cNvPr>
          <p:cNvSpPr>
            <a:spLocks noGrp="1"/>
          </p:cNvSpPr>
          <p:nvPr>
            <p:ph type="title" idx="8" hasCustomPrompt="1"/>
          </p:nvPr>
        </p:nvSpPr>
        <p:spPr>
          <a:xfrm>
            <a:off x="4441002" y="2276488"/>
            <a:ext cx="1118100" cy="615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0"/>
              <a:buNone/>
              <a:defRPr sz="4500">
                <a:solidFill>
                  <a:schemeClr val="accent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0"/>
              <a:buFont typeface="Russo One"/>
              <a:buNone/>
              <a:defRPr sz="12000">
                <a:solidFill>
                  <a:schemeClr val="accent1"/>
                </a:solidFill>
                <a:latin typeface="Russo One"/>
                <a:ea typeface="Russo One"/>
                <a:cs typeface="Russo One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7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43">
            <a:extLst>
              <a:ext uri="{FF2B5EF4-FFF2-40B4-BE49-F238E27FC236}">
                <a16:creationId xmlns:a16="http://schemas.microsoft.com/office/drawing/2014/main" id="{117AC9FB-D1DF-48FB-9A44-48BBE5101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750" y="2040496"/>
            <a:ext cx="4087500" cy="673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43">
            <a:extLst>
              <a:ext uri="{FF2B5EF4-FFF2-40B4-BE49-F238E27FC236}">
                <a16:creationId xmlns:a16="http://schemas.microsoft.com/office/drawing/2014/main" id="{EB5981B1-E463-4CCA-A5DE-E0B1C65F7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750" y="2693525"/>
            <a:ext cx="3159300" cy="558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"/>
              <a:buNone/>
              <a:defRPr sz="14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0" name="Google Shape;398;p4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1" name="Google Shape;399;p4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CUSTOM_7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4">
            <a:extLst>
              <a:ext uri="{FF2B5EF4-FFF2-40B4-BE49-F238E27FC236}">
                <a16:creationId xmlns:a16="http://schemas.microsoft.com/office/drawing/2014/main" id="{1D1C3CA1-6101-4514-ABA5-363457A1E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0150" y="2047725"/>
            <a:ext cx="3364200" cy="628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 SemiBold"/>
                <a:ea typeface="Open Sans SemiBold"/>
                <a:cs typeface="Open Sans SemiBold"/>
              </a:defRPr>
            </a:lvl9pPr>
          </a:lstStyle>
          <a:p>
            <a:endParaRPr/>
          </a:p>
        </p:txBody>
      </p:sp>
      <p:sp>
        <p:nvSpPr>
          <p:cNvPr id="402" name="Google Shape;402;p44">
            <a:extLst>
              <a:ext uri="{FF2B5EF4-FFF2-40B4-BE49-F238E27FC236}">
                <a16:creationId xmlns:a16="http://schemas.microsoft.com/office/drawing/2014/main" id="{CD7AC19F-F465-4BE3-B8D8-B2BEB3B37D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55550" y="2694825"/>
            <a:ext cx="2998800" cy="558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Josefin Sans"/>
              <a:buNone/>
              <a:defRPr sz="14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cxnSp>
        <p:nvCxnSpPr>
          <p:cNvPr id="475" name="Google Shape;403;p4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6" name="Google Shape;404;p4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7">
  <p:cSld name="CUSTOM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5">
            <a:extLst>
              <a:ext uri="{FF2B5EF4-FFF2-40B4-BE49-F238E27FC236}">
                <a16:creationId xmlns:a16="http://schemas.microsoft.com/office/drawing/2014/main" id="{842AF9D7-7022-48C1-8B81-C0E776911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66800" y="1453525"/>
            <a:ext cx="3957600" cy="2889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marR="381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7" name="Google Shape;407;p45">
            <a:extLst>
              <a:ext uri="{FF2B5EF4-FFF2-40B4-BE49-F238E27FC236}">
                <a16:creationId xmlns:a16="http://schemas.microsoft.com/office/drawing/2014/main" id="{B635CE72-E238-42BC-81ED-C4766E513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4502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498" name="Google Shape;408;p4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9" name="Google Shape;409;p4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0" name="Google Shape;410;p45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3" name="Google Shape;412;p4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4" name="Google Shape;413;p4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5" name="Google Shape;414;p46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415;p46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7" name="Google Shape;416;p46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417;p46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8" name="Google Shape;418;p46">
            <a:extLst>
              <a:ext uri="{FF2B5EF4-FFF2-40B4-BE49-F238E27FC236}">
                <a16:creationId xmlns:a16="http://schemas.microsoft.com/office/drawing/2014/main" id="{F0F3AD3D-5A49-4B65-954E-3F08E7612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50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sp>
        <p:nvSpPr>
          <p:cNvPr id="419" name="Google Shape;419;p46">
            <a:extLst>
              <a:ext uri="{FF2B5EF4-FFF2-40B4-BE49-F238E27FC236}">
                <a16:creationId xmlns:a16="http://schemas.microsoft.com/office/drawing/2014/main" id="{80960870-D79C-4D51-8223-B0FEF0F58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25188" y="1537663"/>
            <a:ext cx="3957600" cy="2889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marR="381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0" name="Google Shape;420;p46">
            <a:extLst>
              <a:ext uri="{FF2B5EF4-FFF2-40B4-BE49-F238E27FC236}">
                <a16:creationId xmlns:a16="http://schemas.microsoft.com/office/drawing/2014/main" id="{88C78615-61F4-4DEC-BBD8-701670D8D86B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661213" y="1537663"/>
            <a:ext cx="3957600" cy="2889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marR="381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CUSTOM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7">
            <a:extLst>
              <a:ext uri="{FF2B5EF4-FFF2-40B4-BE49-F238E27FC236}">
                <a16:creationId xmlns:a16="http://schemas.microsoft.com/office/drawing/2014/main" id="{40DB3203-4216-49F2-B741-B8CBF9CF5B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6075" y="3616375"/>
            <a:ext cx="2942100" cy="357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423" name="Google Shape;423;p47">
            <a:extLst>
              <a:ext uri="{FF2B5EF4-FFF2-40B4-BE49-F238E27FC236}">
                <a16:creationId xmlns:a16="http://schemas.microsoft.com/office/drawing/2014/main" id="{5B4AF480-18B6-4EDF-B8DB-EE2A214972C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816200" y="3956375"/>
            <a:ext cx="2941800" cy="652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4" name="Google Shape;424;p47">
            <a:extLst>
              <a:ext uri="{FF2B5EF4-FFF2-40B4-BE49-F238E27FC236}">
                <a16:creationId xmlns:a16="http://schemas.microsoft.com/office/drawing/2014/main" id="{E3E387C5-C109-4573-A78D-634EE432A1F2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385829" y="3616375"/>
            <a:ext cx="2942100" cy="3570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425" name="Google Shape;425;p47">
            <a:extLst>
              <a:ext uri="{FF2B5EF4-FFF2-40B4-BE49-F238E27FC236}">
                <a16:creationId xmlns:a16="http://schemas.microsoft.com/office/drawing/2014/main" id="{159130DB-2CD5-44AD-A341-E654C5CB16E7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386025" y="3956375"/>
            <a:ext cx="2941800" cy="652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6" name="Google Shape;426;p47">
            <a:extLst>
              <a:ext uri="{FF2B5EF4-FFF2-40B4-BE49-F238E27FC236}">
                <a16:creationId xmlns:a16="http://schemas.microsoft.com/office/drawing/2014/main" id="{0EF20AC2-1405-4C9E-8F86-C98BA5BD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27291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cxnSp>
        <p:nvCxnSpPr>
          <p:cNvPr id="553" name="Google Shape;427;p4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4" name="Google Shape;428;p4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4">
  <p:cSld name="CUSTOM_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3420031F-9091-4471-A005-70BEA837B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4250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</a:defRPr>
            </a:lvl9pPr>
          </a:lstStyle>
          <a:p>
            <a:endParaRPr/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58B48EBD-6595-42A5-AE0A-064256073A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000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432" name="Google Shape;432;p48">
            <a:extLst>
              <a:ext uri="{FF2B5EF4-FFF2-40B4-BE49-F238E27FC236}">
                <a16:creationId xmlns:a16="http://schemas.microsoft.com/office/drawing/2014/main" id="{2B787F46-4AA5-488A-B4D2-D4118D006366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09025" y="3814950"/>
            <a:ext cx="2126100" cy="886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3" name="Google Shape;433;p48">
            <a:extLst>
              <a:ext uri="{FF2B5EF4-FFF2-40B4-BE49-F238E27FC236}">
                <a16:creationId xmlns:a16="http://schemas.microsoft.com/office/drawing/2014/main" id="{F79C6101-82CF-4361-8EF4-D1A028ABAF31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53025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06A1D5AB-08C4-4156-A7FC-B1C6ED64F81E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953125" y="3814951"/>
            <a:ext cx="2126100" cy="886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48">
            <a:extLst>
              <a:ext uri="{FF2B5EF4-FFF2-40B4-BE49-F238E27FC236}">
                <a16:creationId xmlns:a16="http://schemas.microsoft.com/office/drawing/2014/main" id="{2A52771B-B5CB-4B88-84B0-7C52087062E7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64875" y="3398751"/>
            <a:ext cx="2126100" cy="444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  <a:defRPr sz="24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9pPr>
          </a:lstStyle>
          <a:p>
            <a:endParaRPr/>
          </a:p>
        </p:txBody>
      </p:sp>
      <p:sp>
        <p:nvSpPr>
          <p:cNvPr id="436" name="Google Shape;436;p48">
            <a:extLst>
              <a:ext uri="{FF2B5EF4-FFF2-40B4-BE49-F238E27FC236}">
                <a16:creationId xmlns:a16="http://schemas.microsoft.com/office/drawing/2014/main" id="{AD2A8D23-4935-4621-A541-F5A300DE7E28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64875" y="3814950"/>
            <a:ext cx="2126100" cy="886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635" name="Google Shape;437;p4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438;p4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7" name="Google Shape;439;p48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8" name="Google Shape;440;p48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9">
            <a:extLst>
              <a:ext uri="{FF2B5EF4-FFF2-40B4-BE49-F238E27FC236}">
                <a16:creationId xmlns:a16="http://schemas.microsoft.com/office/drawing/2014/main" id="{BFD5047B-B46E-4E85-8FA9-09010BCE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2900" y="791200"/>
            <a:ext cx="3478200" cy="922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300"/>
              <a:buNone/>
              <a:defRPr sz="7000"/>
            </a:lvl1pPr>
            <a:lvl2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Open Sans"/>
                <a:ea typeface="Open Sans"/>
                <a:cs typeface="Open Sans"/>
              </a:defRPr>
            </a:lvl9pPr>
          </a:lstStyle>
          <a:p>
            <a:endParaRPr/>
          </a:p>
        </p:txBody>
      </p:sp>
      <p:sp>
        <p:nvSpPr>
          <p:cNvPr id="443" name="Google Shape;443;p49">
            <a:extLst>
              <a:ext uri="{FF2B5EF4-FFF2-40B4-BE49-F238E27FC236}">
                <a16:creationId xmlns:a16="http://schemas.microsoft.com/office/drawing/2014/main" id="{62544B8D-5A3B-4E98-AFB1-8E3CDCD84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3350" y="1749425"/>
            <a:ext cx="3177300" cy="922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570" name="Google Shape;445;p4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446;p49"/>
          <p:cNvCxnSpPr/>
          <p:nvPr/>
        </p:nvCxnSpPr>
        <p:spPr>
          <a:xfrm>
            <a:off x="-257975" y="3935375"/>
            <a:ext cx="3047400" cy="13464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2" name="Google Shape;447;p4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3" name="Google Shape;448;p49"/>
          <p:cNvCxnSpPr/>
          <p:nvPr/>
        </p:nvCxnSpPr>
        <p:spPr>
          <a:xfrm>
            <a:off x="6467450" y="-72550"/>
            <a:ext cx="3047400" cy="13464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6" name="Google Shape;450;p5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7" name="Google Shape;451;p5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5" name="Google Shape;453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454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7" name="Google Shape;455;p51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456;p51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2" name="Google Shape;458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3" name="Google Shape;459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4" name="Google Shape;460;p52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0" name="Google Shape;462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463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ln w="2857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2" name="Google Shape;464;p5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3" name="Google Shape;465;p5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4" name="Google Shape;466;p5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5" name="Google Shape;467;p5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58">
            <a:extLst>
              <a:ext uri="{FF2B5EF4-FFF2-40B4-BE49-F238E27FC236}">
                <a16:creationId xmlns:a16="http://schemas.microsoft.com/office/drawing/2014/main" id="{6E927E8D-7267-4EA8-87F6-CFEE35368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55.xml"/><Relationship Id="rId1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D5A05398-9D87-4B12-BF66-90899CD1A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mbria"/>
              <a:buNone/>
              <a:defRPr sz="3000">
                <a:solidFill>
                  <a:schemeClr val="dk1"/>
                </a:solidFill>
                <a:latin typeface="Cambria"/>
                <a:ea typeface="Cambria"/>
                <a:cs typeface="Cambria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1DFB1686-026F-4E41-932B-33F5744D5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4">
            <a:extLst>
              <a:ext uri="{FF2B5EF4-FFF2-40B4-BE49-F238E27FC236}">
                <a16:creationId xmlns:a16="http://schemas.microsoft.com/office/drawing/2014/main" id="{40EB03D3-7CE5-4752-98F6-7A3A9074B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9pPr>
          </a:lstStyle>
          <a:p>
            <a:endParaRPr/>
          </a:p>
        </p:txBody>
      </p:sp>
      <p:sp>
        <p:nvSpPr>
          <p:cNvPr id="470" name="Google Shape;470;p54">
            <a:extLst>
              <a:ext uri="{FF2B5EF4-FFF2-40B4-BE49-F238E27FC236}">
                <a16:creationId xmlns:a16="http://schemas.microsoft.com/office/drawing/2014/main" id="{ED157DA1-E5A7-4C93-9248-1B7FF9702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L="457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1pPr>
            <a:lvl2pPr marL="914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2pPr>
            <a:lvl3pPr marL="1371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3pPr>
            <a:lvl4pPr marL="1828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4pPr>
            <a:lvl5pPr marL="22860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5pPr>
            <a:lvl6pPr marL="2743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6pPr>
            <a:lvl7pPr marL="3200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7pPr>
            <a:lvl8pPr marL="3657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8pPr>
            <a:lvl9pPr marL="4114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2" r:id="rId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56">
            <a:extLst>
              <a:ext uri="{FF2B5EF4-FFF2-40B4-BE49-F238E27FC236}">
                <a16:creationId xmlns:a16="http://schemas.microsoft.com/office/drawing/2014/main" id="{5551A7FB-7E2E-4864-8F6E-E224C88F8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9pPr>
          </a:lstStyle>
          <a:p>
            <a:endParaRPr/>
          </a:p>
        </p:txBody>
      </p:sp>
      <p:sp>
        <p:nvSpPr>
          <p:cNvPr id="474" name="Google Shape;474;p56">
            <a:extLst>
              <a:ext uri="{FF2B5EF4-FFF2-40B4-BE49-F238E27FC236}">
                <a16:creationId xmlns:a16="http://schemas.microsoft.com/office/drawing/2014/main" id="{2B139B00-170B-4837-895A-5E219A380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>
            <a:lvl1pPr marL="457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1pPr>
            <a:lvl2pPr marL="914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2pPr>
            <a:lvl3pPr marL="1371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3pPr>
            <a:lvl4pPr marL="1828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4pPr>
            <a:lvl5pPr marL="22860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5pPr>
            <a:lvl6pPr marL="2743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6pPr>
            <a:lvl7pPr marL="3200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7pPr>
            <a:lvl8pPr marL="3657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8pPr>
            <a:lvl9pPr marL="4114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4" r:id="rId1"/>
    <p:sldLayoutId id="2147483705" r:id="rId2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>
            <a:extLst>
              <a:ext uri="{FF2B5EF4-FFF2-40B4-BE49-F238E27FC236}">
                <a16:creationId xmlns:a16="http://schemas.microsoft.com/office/drawing/2014/main" id="{4A546936-253C-486C-99B0-1ABDD6851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9950" y="154545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32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32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XÂY DỰNG HỆ THỐNG PHỎNG VẤN VÀ</a:t>
            </a:r>
            <a:br/>
            <a:r>
              <a:rPr sz="232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LUYỆN TẬP PHỎNG VẤN TÍCH HỢP</a:t>
            </a:r>
            <a:br/>
            <a:r>
              <a:rPr sz="232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TRÍ TUỆ NHÂN TẠO</a:t>
            </a:r>
          </a:p>
        </p:txBody>
      </p:sp>
      <p:sp>
        <p:nvSpPr>
          <p:cNvPr id="483" name="Google Shape;483;p59">
            <a:extLst>
              <a:ext uri="{FF2B5EF4-FFF2-40B4-BE49-F238E27FC236}">
                <a16:creationId xmlns:a16="http://schemas.microsoft.com/office/drawing/2014/main" id="{C43CA2B9-1CBA-46B1-A9D3-ED9D958D7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9950" y="3039643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 fontScale="91399" lnSpcReduction="1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Sinh </a:t>
            </a:r>
            <a:r>
              <a:rPr sz="1013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viên</a:t>
            </a: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: Lê Minh Duy — MSSV: 221A011220</a:t>
            </a:r>
            <a:endParaRPr dirty="0"/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GVHD: </a:t>
            </a:r>
            <a:r>
              <a:rPr sz="1013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ThS</a:t>
            </a: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. </a:t>
            </a:r>
            <a:r>
              <a:rPr sz="1013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Đặng</a:t>
            </a: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Văn </a:t>
            </a:r>
            <a:r>
              <a:rPr sz="1013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Lực</a:t>
            </a: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• </a:t>
            </a:r>
            <a:r>
              <a:rPr sz="1013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Trường</a:t>
            </a: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013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Đại</a:t>
            </a: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013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học</a:t>
            </a: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Văn </a:t>
            </a:r>
            <a:r>
              <a:rPr sz="1013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Hiến</a:t>
            </a:r>
            <a:r>
              <a:rPr sz="1013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• 2026</a:t>
            </a:r>
            <a:endParaRPr dirty="0"/>
          </a:p>
        </p:txBody>
      </p:sp>
      <p:pic>
        <p:nvPicPr>
          <p:cNvPr id="487" name="!!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848" y="486992"/>
            <a:ext cx="969451" cy="96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3816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62">
            <a:extLst>
              <a:ext uri="{FF2B5EF4-FFF2-40B4-BE49-F238E27FC236}">
                <a16:creationId xmlns:a16="http://schemas.microsoft.com/office/drawing/2014/main" id="{D2DEA9EA-4979-40B8-882A-109810B69349}"/>
              </a:ext>
            </a:extLst>
          </p:cNvPr>
          <p:cNvSpPr>
            <a:spLocks noGrp="1"/>
          </p:cNvSpPr>
          <p:nvPr>
            <p:ph type="title" idx="21"/>
          </p:nvPr>
        </p:nvSpPr>
        <p:spPr>
          <a:xfrm>
            <a:off x="2332400" y="445025"/>
            <a:ext cx="44793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Lộ trình trình bày</a:t>
            </a:r>
            <a:endParaRPr/>
          </a:p>
        </p:txBody>
      </p:sp>
      <p:sp>
        <p:nvSpPr>
          <p:cNvPr id="530" name="Rectangle: Rounded Corners 529">
            <a:extLst>
              <a:ext uri="{FF2B5EF4-FFF2-40B4-BE49-F238E27FC236}">
                <a16:creationId xmlns:a16="http://schemas.microsoft.com/office/drawing/2014/main" id="{B833D00D-35D3-49A3-999B-4ADFD66CC58D}"/>
              </a:ext>
            </a:extLst>
          </p:cNvPr>
          <p:cNvSpPr>
            <a:spLocks noGrp="1"/>
          </p:cNvSpPr>
          <p:nvPr/>
        </p:nvSpPr>
        <p:spPr>
          <a:xfrm>
            <a:off x="523875" y="1066800"/>
            <a:ext cx="8096250" cy="1581150"/>
          </a:xfrm>
          <a:prstGeom prst="roundRect">
            <a:avLst>
              <a:gd name="adj" fmla="val 4819"/>
            </a:avLst>
          </a:prstGeom>
          <a:solidFill>
            <a:srgbClr val="F4F7F1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531" name="Rectangle: Rounded Corners 530">
            <a:extLst>
              <a:ext uri="{FF2B5EF4-FFF2-40B4-BE49-F238E27FC236}">
                <a16:creationId xmlns:a16="http://schemas.microsoft.com/office/drawing/2014/main" id="{F86402BC-34FB-430E-A643-3624BBA21199}"/>
              </a:ext>
            </a:extLst>
          </p:cNvPr>
          <p:cNvSpPr>
            <a:spLocks noGrp="1"/>
          </p:cNvSpPr>
          <p:nvPr/>
        </p:nvSpPr>
        <p:spPr>
          <a:xfrm>
            <a:off x="523875" y="2724150"/>
            <a:ext cx="8096250" cy="1581150"/>
          </a:xfrm>
          <a:prstGeom prst="roundRect">
            <a:avLst>
              <a:gd name="adj" fmla="val 4819"/>
            </a:avLst>
          </a:prstGeom>
          <a:solidFill>
            <a:srgbClr val="DFF0D6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532" name="Straight Connector 531">
            <a:extLst>
              <a:ext uri="{FF2B5EF4-FFF2-40B4-BE49-F238E27FC236}">
                <a16:creationId xmlns:a16="http://schemas.microsoft.com/office/drawing/2014/main" id="{FD48B734-3A24-4CA7-BB36-1C0F98A4B113}"/>
              </a:ext>
            </a:extLst>
          </p:cNvPr>
          <p:cNvSpPr>
            <a:spLocks noGrp="1"/>
          </p:cNvSpPr>
          <p:nvPr/>
        </p:nvSpPr>
        <p:spPr>
          <a:xfrm>
            <a:off x="3219450" y="1238250"/>
            <a:ext cx="0" cy="1238250"/>
          </a:xfrm>
          <a:prstGeom prst="line">
            <a:avLst/>
          </a:prstGeom>
          <a:ln w="9525">
            <a:solidFill>
              <a:srgbClr val="8B9589"/>
            </a:solidFill>
            <a:prstDash val="solid"/>
          </a:ln>
        </p:spPr>
      </p:sp>
      <p:sp>
        <p:nvSpPr>
          <p:cNvPr id="533" name="Straight Connector 532">
            <a:extLst>
              <a:ext uri="{FF2B5EF4-FFF2-40B4-BE49-F238E27FC236}">
                <a16:creationId xmlns:a16="http://schemas.microsoft.com/office/drawing/2014/main" id="{F4A4B029-E6F1-44E7-8157-A0732A22A042}"/>
              </a:ext>
            </a:extLst>
          </p:cNvPr>
          <p:cNvSpPr>
            <a:spLocks noGrp="1"/>
          </p:cNvSpPr>
          <p:nvPr/>
        </p:nvSpPr>
        <p:spPr>
          <a:xfrm>
            <a:off x="3219450" y="2895600"/>
            <a:ext cx="0" cy="1238250"/>
          </a:xfrm>
          <a:prstGeom prst="line">
            <a:avLst/>
          </a:prstGeom>
          <a:ln w="9525">
            <a:solidFill>
              <a:srgbClr val="8B9589"/>
            </a:solidFill>
            <a:prstDash val="solid"/>
          </a:ln>
        </p:spPr>
      </p:sp>
      <p:sp>
        <p:nvSpPr>
          <p:cNvPr id="534" name="Straight Connector 533">
            <a:extLst>
              <a:ext uri="{FF2B5EF4-FFF2-40B4-BE49-F238E27FC236}">
                <a16:creationId xmlns:a16="http://schemas.microsoft.com/office/drawing/2014/main" id="{65DCBEC6-D753-4E73-ABF8-1BE54293C431}"/>
              </a:ext>
            </a:extLst>
          </p:cNvPr>
          <p:cNvSpPr>
            <a:spLocks noGrp="1"/>
          </p:cNvSpPr>
          <p:nvPr/>
        </p:nvSpPr>
        <p:spPr>
          <a:xfrm>
            <a:off x="5905500" y="1238250"/>
            <a:ext cx="0" cy="1238250"/>
          </a:xfrm>
          <a:prstGeom prst="line">
            <a:avLst/>
          </a:prstGeom>
          <a:ln w="9525">
            <a:solidFill>
              <a:srgbClr val="8B9589"/>
            </a:solidFill>
            <a:prstDash val="solid"/>
          </a:ln>
        </p:spPr>
      </p:sp>
      <p:sp>
        <p:nvSpPr>
          <p:cNvPr id="535" name="Straight Connector 534">
            <a:extLst>
              <a:ext uri="{FF2B5EF4-FFF2-40B4-BE49-F238E27FC236}">
                <a16:creationId xmlns:a16="http://schemas.microsoft.com/office/drawing/2014/main" id="{2E1117A4-A9B6-4147-8B9C-BBDE63FC6F82}"/>
              </a:ext>
            </a:extLst>
          </p:cNvPr>
          <p:cNvSpPr>
            <a:spLocks noGrp="1"/>
          </p:cNvSpPr>
          <p:nvPr/>
        </p:nvSpPr>
        <p:spPr>
          <a:xfrm>
            <a:off x="5905500" y="2895600"/>
            <a:ext cx="0" cy="1238250"/>
          </a:xfrm>
          <a:prstGeom prst="line">
            <a:avLst/>
          </a:prstGeom>
          <a:ln w="9525">
            <a:solidFill>
              <a:srgbClr val="8B9589"/>
            </a:solidFill>
            <a:prstDash val="solid"/>
          </a:ln>
        </p:spPr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32732FAC-FD96-4122-8DF8-2C9C19189CC0}"/>
              </a:ext>
            </a:extLst>
          </p:cNvPr>
          <p:cNvSpPr>
            <a:spLocks noGrp="1"/>
          </p:cNvSpPr>
          <p:nvPr/>
        </p:nvSpPr>
        <p:spPr>
          <a:xfrm>
            <a:off x="762000" y="116205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D493E622-5D26-47DF-8F83-7E598CDF409A}"/>
              </a:ext>
            </a:extLst>
          </p:cNvPr>
          <p:cNvSpPr>
            <a:spLocks noGrp="1"/>
          </p:cNvSpPr>
          <p:nvPr/>
        </p:nvSpPr>
        <p:spPr>
          <a:xfrm>
            <a:off x="762000" y="168592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Bài toán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43D1A26D-0039-4EC5-B70C-2608201A18ED}"/>
              </a:ext>
            </a:extLst>
          </p:cNvPr>
          <p:cNvSpPr>
            <a:spLocks noGrp="1"/>
          </p:cNvSpPr>
          <p:nvPr/>
        </p:nvSpPr>
        <p:spPr>
          <a:xfrm>
            <a:off x="762000" y="213360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Bối cảnh, đối tượng, mục tiêu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643FB89F-AFA3-4CC3-8D6D-A1463BCC5BFD}"/>
              </a:ext>
            </a:extLst>
          </p:cNvPr>
          <p:cNvSpPr>
            <a:spLocks noGrp="1"/>
          </p:cNvSpPr>
          <p:nvPr/>
        </p:nvSpPr>
        <p:spPr>
          <a:xfrm>
            <a:off x="3457575" y="116205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880D3EDC-2540-4899-98D7-7B4BBC8AA467}"/>
              </a:ext>
            </a:extLst>
          </p:cNvPr>
          <p:cNvSpPr>
            <a:spLocks noGrp="1"/>
          </p:cNvSpPr>
          <p:nvPr/>
        </p:nvSpPr>
        <p:spPr>
          <a:xfrm>
            <a:off x="3457575" y="168592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Phương pháp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DE8C4C18-2F28-4D72-9A47-E4EF1ED1A87E}"/>
              </a:ext>
            </a:extLst>
          </p:cNvPr>
          <p:cNvSpPr>
            <a:spLocks noGrp="1"/>
          </p:cNvSpPr>
          <p:nvPr/>
        </p:nvSpPr>
        <p:spPr>
          <a:xfrm>
            <a:off x="3457575" y="213360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Nền tảng và cách xác minh</a:t>
            </a: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4C38CD85-F5DA-42A7-833B-F66FF14FFBCB}"/>
              </a:ext>
            </a:extLst>
          </p:cNvPr>
          <p:cNvSpPr>
            <a:spLocks noGrp="1"/>
          </p:cNvSpPr>
          <p:nvPr/>
        </p:nvSpPr>
        <p:spPr>
          <a:xfrm>
            <a:off x="6153150" y="116205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43" name="Rectangle 542">
            <a:extLst>
              <a:ext uri="{FF2B5EF4-FFF2-40B4-BE49-F238E27FC236}">
                <a16:creationId xmlns:a16="http://schemas.microsoft.com/office/drawing/2014/main" id="{FE60AB70-B0EA-4976-9628-F8FB48304D6F}"/>
              </a:ext>
            </a:extLst>
          </p:cNvPr>
          <p:cNvSpPr>
            <a:spLocks noGrp="1"/>
          </p:cNvSpPr>
          <p:nvPr/>
        </p:nvSpPr>
        <p:spPr>
          <a:xfrm>
            <a:off x="6153150" y="168592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Thiết kế</a:t>
            </a: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9FF9FD1A-3045-4741-A940-4A352DE1E2BE}"/>
              </a:ext>
            </a:extLst>
          </p:cNvPr>
          <p:cNvSpPr>
            <a:spLocks noGrp="1"/>
          </p:cNvSpPr>
          <p:nvPr/>
        </p:nvSpPr>
        <p:spPr>
          <a:xfrm>
            <a:off x="6153150" y="213360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Kiến trúc, dữ liệu, pipeline</a:t>
            </a: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7BC28FD4-21F8-4D70-91D1-CD4A82F744C9}"/>
              </a:ext>
            </a:extLst>
          </p:cNvPr>
          <p:cNvSpPr>
            <a:spLocks noGrp="1"/>
          </p:cNvSpPr>
          <p:nvPr/>
        </p:nvSpPr>
        <p:spPr>
          <a:xfrm>
            <a:off x="762000" y="281940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638107AF-2945-4E8D-8E8A-94E9E771BCBE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Sản phẩm</a:t>
            </a: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877FD65F-5A31-4F83-918F-A201E15344FC}"/>
              </a:ext>
            </a:extLst>
          </p:cNvPr>
          <p:cNvSpPr>
            <a:spLocks noGrp="1"/>
          </p:cNvSpPr>
          <p:nvPr/>
        </p:nvSpPr>
        <p:spPr>
          <a:xfrm>
            <a:off x="762000" y="379095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Luồng trải nghiệm thực tế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446C16C2-9C1E-4350-BE16-1B6A78943BB4}"/>
              </a:ext>
            </a:extLst>
          </p:cNvPr>
          <p:cNvSpPr>
            <a:spLocks noGrp="1"/>
          </p:cNvSpPr>
          <p:nvPr/>
        </p:nvSpPr>
        <p:spPr>
          <a:xfrm>
            <a:off x="3457575" y="281940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CDC34A95-2734-43C5-8F9E-5C9EEEBC8971}"/>
              </a:ext>
            </a:extLst>
          </p:cNvPr>
          <p:cNvSpPr>
            <a:spLocks noGrp="1"/>
          </p:cNvSpPr>
          <p:nvPr/>
        </p:nvSpPr>
        <p:spPr>
          <a:xfrm>
            <a:off x="3457575" y="334327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Bằng chứng</a:t>
            </a: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04BB1910-3580-44D1-962E-2190B2519699}"/>
              </a:ext>
            </a:extLst>
          </p:cNvPr>
          <p:cNvSpPr>
            <a:spLocks noGrp="1"/>
          </p:cNvSpPr>
          <p:nvPr/>
        </p:nvSpPr>
        <p:spPr>
          <a:xfrm>
            <a:off x="3457575" y="379095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Quy mô và kiểm thử</a:t>
            </a: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1323452A-6009-4434-938F-F4388B7BBE31}"/>
              </a:ext>
            </a:extLst>
          </p:cNvPr>
          <p:cNvSpPr>
            <a:spLocks noGrp="1"/>
          </p:cNvSpPr>
          <p:nvPr/>
        </p:nvSpPr>
        <p:spPr>
          <a:xfrm>
            <a:off x="6153150" y="281940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06</a:t>
            </a:r>
          </a:p>
        </p:txBody>
      </p:sp>
      <p:sp>
        <p:nvSpPr>
          <p:cNvPr id="552" name="Rectangle 551">
            <a:extLst>
              <a:ext uri="{FF2B5EF4-FFF2-40B4-BE49-F238E27FC236}">
                <a16:creationId xmlns:a16="http://schemas.microsoft.com/office/drawing/2014/main" id="{F8082545-4952-4919-A0B9-34B8486BF3E0}"/>
              </a:ext>
            </a:extLst>
          </p:cNvPr>
          <p:cNvSpPr>
            <a:spLocks noGrp="1"/>
          </p:cNvSpPr>
          <p:nvPr/>
        </p:nvSpPr>
        <p:spPr>
          <a:xfrm>
            <a:off x="6153150" y="334327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Kết luận</a:t>
            </a: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D5366878-04EF-4518-8F3E-9BC1B530C8B1}"/>
              </a:ext>
            </a:extLst>
          </p:cNvPr>
          <p:cNvSpPr>
            <a:spLocks noGrp="1"/>
          </p:cNvSpPr>
          <p:nvPr/>
        </p:nvSpPr>
        <p:spPr>
          <a:xfrm>
            <a:off x="6153150" y="379095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Đóng góp, giới hạn, lộ trình</a:t>
            </a:r>
          </a:p>
        </p:txBody>
      </p:sp>
      <p:pic>
        <p:nvPicPr>
          <p:cNvPr id="2" name="!!22">
            <a:extLst>
              <a:ext uri="{FF2B5EF4-FFF2-40B4-BE49-F238E27FC236}">
                <a16:creationId xmlns:a16="http://schemas.microsoft.com/office/drawing/2014/main" id="{B2D9E813-1A2A-E3C9-5075-734F1B6BB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685" y="486992"/>
            <a:ext cx="969451" cy="96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8725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89">
            <a:extLst>
              <a:ext uri="{FF2B5EF4-FFF2-40B4-BE49-F238E27FC236}">
                <a16:creationId xmlns:a16="http://schemas.microsoft.com/office/drawing/2014/main" id="{B80505C1-D139-4E6F-B241-4EDD8383E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Bài toán: chuẩn hóa mà không loại bỏ phán đoán con người</a:t>
            </a:r>
            <a:endParaRPr/>
          </a:p>
        </p:txBody>
      </p:sp>
      <p:sp>
        <p:nvSpPr>
          <p:cNvPr id="879" name="Google Shape;879;p89">
            <a:extLst>
              <a:ext uri="{FF2B5EF4-FFF2-40B4-BE49-F238E27FC236}">
                <a16:creationId xmlns:a16="http://schemas.microsoft.com/office/drawing/2014/main" id="{3CA5FC07-BBDC-41E9-B696-E8A20C09E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000" y="1889389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67013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LLM thiếu căn cứ</a:t>
            </a:r>
            <a:endParaRPr/>
          </a:p>
        </p:txBody>
      </p:sp>
      <p:sp>
        <p:nvSpPr>
          <p:cNvPr id="880" name="Google Shape;880;p89">
            <a:extLst>
              <a:ext uri="{FF2B5EF4-FFF2-40B4-BE49-F238E27FC236}">
                <a16:creationId xmlns:a16="http://schemas.microsoft.com/office/drawing/2014/main" id="{EF39F8F5-6F9C-4AD1-A1A7-6AF6553B313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09025" y="2365639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86852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Câu hỏi có thể trôi chảy nhưng lệch JD hoặc không truy nguyên.</a:t>
            </a:r>
            <a:endParaRPr/>
          </a:p>
        </p:txBody>
      </p:sp>
      <p:sp>
        <p:nvSpPr>
          <p:cNvPr id="881" name="Google Shape;881;p89">
            <a:extLst>
              <a:ext uri="{FF2B5EF4-FFF2-40B4-BE49-F238E27FC236}">
                <a16:creationId xmlns:a16="http://schemas.microsoft.com/office/drawing/2014/main" id="{C88A62D0-4E84-4E92-B593-050E06D733E3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53025" y="1889389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6204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Thiếu nhất quán</a:t>
            </a:r>
            <a:endParaRPr/>
          </a:p>
        </p:txBody>
      </p:sp>
      <p:sp>
        <p:nvSpPr>
          <p:cNvPr id="882" name="Google Shape;882;p89">
            <a:extLst>
              <a:ext uri="{FF2B5EF4-FFF2-40B4-BE49-F238E27FC236}">
                <a16:creationId xmlns:a16="http://schemas.microsoft.com/office/drawing/2014/main" id="{9CC2C9A1-3486-4DDC-8306-0E6DB01EB392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953125" y="2365639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89772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Phỏng vấn tự do làm câu hỏi và tiêu chí thay đổi giữa ứng viên.</a:t>
            </a:r>
            <a:endParaRPr/>
          </a:p>
        </p:txBody>
      </p:sp>
      <p:sp>
        <p:nvSpPr>
          <p:cNvPr id="883" name="Google Shape;883;p89">
            <a:extLst>
              <a:ext uri="{FF2B5EF4-FFF2-40B4-BE49-F238E27FC236}">
                <a16:creationId xmlns:a16="http://schemas.microsoft.com/office/drawing/2014/main" id="{48848221-E426-48C1-8D92-9FB117774ADA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64875" y="1889389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6384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Suy diễn quá mức</a:t>
            </a:r>
            <a:endParaRPr/>
          </a:p>
        </p:txBody>
      </p:sp>
      <p:sp>
        <p:nvSpPr>
          <p:cNvPr id="884" name="Google Shape;884;p89">
            <a:extLst>
              <a:ext uri="{FF2B5EF4-FFF2-40B4-BE49-F238E27FC236}">
                <a16:creationId xmlns:a16="http://schemas.microsoft.com/office/drawing/2014/main" id="{C0EDBC46-FF58-48B4-B107-BA09682687A5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64875" y="2365639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84022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Tín hiệu giọng nói dễ bị biến thành kết luận tâm lý thiếu bằng chứng.</a:t>
            </a:r>
            <a:endParaRPr/>
          </a:p>
        </p:txBody>
      </p:sp>
      <p:sp>
        <p:nvSpPr>
          <p:cNvPr id="886" name="Google Shape;886;p89">
            <a:extLst>
              <a:ext uri="{FF2B5EF4-FFF2-40B4-BE49-F238E27FC236}">
                <a16:creationId xmlns:a16="http://schemas.microsoft.com/office/drawing/2014/main" id="{E3C6DD10-53BB-45CE-839E-D57514AC5269}"/>
              </a:ext>
            </a:extLst>
          </p:cNvPr>
          <p:cNvSpPr>
            <a:spLocks noGrp="1"/>
          </p:cNvSpPr>
          <p:nvPr/>
        </p:nvSpPr>
        <p:spPr>
          <a:xfrm>
            <a:off x="4608858" y="1672501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410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410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4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89">
            <a:extLst>
              <a:ext uri="{FF2B5EF4-FFF2-40B4-BE49-F238E27FC236}">
                <a16:creationId xmlns:a16="http://schemas.microsoft.com/office/drawing/2014/main" id="{24BC3697-5925-45C7-BC3D-98580AD0D4FB}"/>
              </a:ext>
            </a:extLst>
          </p:cNvPr>
          <p:cNvSpPr>
            <a:spLocks noGrp="1"/>
          </p:cNvSpPr>
          <p:nvPr/>
        </p:nvSpPr>
        <p:spPr>
          <a:xfrm>
            <a:off x="4506559" y="1570107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378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378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3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p89">
            <a:extLst>
              <a:ext uri="{FF2B5EF4-FFF2-40B4-BE49-F238E27FC236}">
                <a16:creationId xmlns:a16="http://schemas.microsoft.com/office/drawing/2014/main" id="{E7A06639-7743-4E01-9D33-A0DD094D5D3D}"/>
              </a:ext>
            </a:extLst>
          </p:cNvPr>
          <p:cNvSpPr>
            <a:spLocks noGrp="1"/>
          </p:cNvSpPr>
          <p:nvPr/>
        </p:nvSpPr>
        <p:spPr>
          <a:xfrm>
            <a:off x="4345507" y="1409358"/>
            <a:ext cx="453177" cy="452952"/>
          </a:xfrm>
          <a:custGeom>
            <a:avLst/>
            <a:gdLst/>
            <a:ahLst/>
            <a:cxnLst/>
            <a:rect l="l" t="t" r="r" b="b"/>
            <a:pathLst>
              <a:path w="12414" h="12406">
                <a:moveTo>
                  <a:pt x="4506" y="3332"/>
                </a:moveTo>
                <a:cubicBezTo>
                  <a:pt x="5167" y="3332"/>
                  <a:pt x="5735" y="3867"/>
                  <a:pt x="5735" y="4561"/>
                </a:cubicBezTo>
                <a:cubicBezTo>
                  <a:pt x="5735" y="5222"/>
                  <a:pt x="5199" y="5821"/>
                  <a:pt x="4506" y="5821"/>
                </a:cubicBezTo>
                <a:cubicBezTo>
                  <a:pt x="3844" y="5821"/>
                  <a:pt x="3277" y="5254"/>
                  <a:pt x="3277" y="4561"/>
                </a:cubicBezTo>
                <a:cubicBezTo>
                  <a:pt x="3277" y="3899"/>
                  <a:pt x="3844" y="3332"/>
                  <a:pt x="4506" y="3332"/>
                </a:cubicBezTo>
                <a:close/>
                <a:moveTo>
                  <a:pt x="7830" y="4159"/>
                </a:moveTo>
                <a:cubicBezTo>
                  <a:pt x="7940" y="4159"/>
                  <a:pt x="8050" y="4198"/>
                  <a:pt x="8129" y="4277"/>
                </a:cubicBezTo>
                <a:cubicBezTo>
                  <a:pt x="8286" y="4435"/>
                  <a:pt x="8286" y="4718"/>
                  <a:pt x="8129" y="4876"/>
                </a:cubicBezTo>
                <a:lnTo>
                  <a:pt x="4821" y="8184"/>
                </a:lnTo>
                <a:cubicBezTo>
                  <a:pt x="4742" y="8262"/>
                  <a:pt x="4632" y="8302"/>
                  <a:pt x="4522" y="8302"/>
                </a:cubicBezTo>
                <a:cubicBezTo>
                  <a:pt x="4411" y="8302"/>
                  <a:pt x="4301" y="8262"/>
                  <a:pt x="4222" y="8184"/>
                </a:cubicBezTo>
                <a:cubicBezTo>
                  <a:pt x="4065" y="8026"/>
                  <a:pt x="4065" y="7743"/>
                  <a:pt x="4222" y="7585"/>
                </a:cubicBezTo>
                <a:lnTo>
                  <a:pt x="7530" y="4277"/>
                </a:lnTo>
                <a:cubicBezTo>
                  <a:pt x="7609" y="4198"/>
                  <a:pt x="7719" y="4159"/>
                  <a:pt x="7830" y="4159"/>
                </a:cubicBezTo>
                <a:close/>
                <a:moveTo>
                  <a:pt x="7845" y="6640"/>
                </a:moveTo>
                <a:cubicBezTo>
                  <a:pt x="8539" y="6640"/>
                  <a:pt x="9074" y="7175"/>
                  <a:pt x="9074" y="7900"/>
                </a:cubicBezTo>
                <a:cubicBezTo>
                  <a:pt x="9074" y="8562"/>
                  <a:pt x="8539" y="9129"/>
                  <a:pt x="7845" y="9129"/>
                </a:cubicBezTo>
                <a:cubicBezTo>
                  <a:pt x="7184" y="9129"/>
                  <a:pt x="6648" y="8562"/>
                  <a:pt x="6648" y="7900"/>
                </a:cubicBezTo>
                <a:cubicBezTo>
                  <a:pt x="6648" y="7239"/>
                  <a:pt x="7184" y="6640"/>
                  <a:pt x="7845" y="6640"/>
                </a:cubicBezTo>
                <a:close/>
                <a:moveTo>
                  <a:pt x="6223" y="0"/>
                </a:moveTo>
                <a:cubicBezTo>
                  <a:pt x="6113" y="0"/>
                  <a:pt x="6002" y="40"/>
                  <a:pt x="5924" y="118"/>
                </a:cubicBezTo>
                <a:lnTo>
                  <a:pt x="4348" y="1694"/>
                </a:lnTo>
                <a:lnTo>
                  <a:pt x="2111" y="1694"/>
                </a:lnTo>
                <a:cubicBezTo>
                  <a:pt x="1859" y="1694"/>
                  <a:pt x="1702" y="1883"/>
                  <a:pt x="1702" y="2072"/>
                </a:cubicBezTo>
                <a:lnTo>
                  <a:pt x="1702" y="4309"/>
                </a:lnTo>
                <a:lnTo>
                  <a:pt x="127" y="5884"/>
                </a:lnTo>
                <a:cubicBezTo>
                  <a:pt x="1" y="6041"/>
                  <a:pt x="1" y="6325"/>
                  <a:pt x="127" y="6482"/>
                </a:cubicBezTo>
                <a:lnTo>
                  <a:pt x="1702" y="8058"/>
                </a:lnTo>
                <a:lnTo>
                  <a:pt x="1702" y="10294"/>
                </a:lnTo>
                <a:cubicBezTo>
                  <a:pt x="1702" y="10547"/>
                  <a:pt x="1922" y="10704"/>
                  <a:pt x="2111" y="10704"/>
                </a:cubicBezTo>
                <a:lnTo>
                  <a:pt x="4348" y="10704"/>
                </a:lnTo>
                <a:lnTo>
                  <a:pt x="5924" y="12279"/>
                </a:lnTo>
                <a:cubicBezTo>
                  <a:pt x="6018" y="12342"/>
                  <a:pt x="6113" y="12405"/>
                  <a:pt x="6207" y="12405"/>
                </a:cubicBezTo>
                <a:cubicBezTo>
                  <a:pt x="6333" y="12405"/>
                  <a:pt x="6396" y="12342"/>
                  <a:pt x="6491" y="12279"/>
                </a:cubicBezTo>
                <a:lnTo>
                  <a:pt x="8066" y="10704"/>
                </a:lnTo>
                <a:lnTo>
                  <a:pt x="10303" y="10704"/>
                </a:lnTo>
                <a:cubicBezTo>
                  <a:pt x="10523" y="10704"/>
                  <a:pt x="10744" y="10515"/>
                  <a:pt x="10744" y="10294"/>
                </a:cubicBezTo>
                <a:lnTo>
                  <a:pt x="10744" y="8058"/>
                </a:lnTo>
                <a:lnTo>
                  <a:pt x="12319" y="6482"/>
                </a:lnTo>
                <a:cubicBezTo>
                  <a:pt x="12382" y="6419"/>
                  <a:pt x="12414" y="6293"/>
                  <a:pt x="12414" y="6199"/>
                </a:cubicBezTo>
                <a:cubicBezTo>
                  <a:pt x="12414" y="6104"/>
                  <a:pt x="12382" y="6010"/>
                  <a:pt x="12319" y="5947"/>
                </a:cubicBezTo>
                <a:lnTo>
                  <a:pt x="10744" y="4372"/>
                </a:lnTo>
                <a:lnTo>
                  <a:pt x="10744" y="2103"/>
                </a:lnTo>
                <a:cubicBezTo>
                  <a:pt x="10744" y="1851"/>
                  <a:pt x="10523" y="1694"/>
                  <a:pt x="10334" y="1694"/>
                </a:cubicBezTo>
                <a:lnTo>
                  <a:pt x="8097" y="1694"/>
                </a:lnTo>
                <a:lnTo>
                  <a:pt x="6522" y="118"/>
                </a:lnTo>
                <a:cubicBezTo>
                  <a:pt x="6443" y="40"/>
                  <a:pt x="6333" y="0"/>
                  <a:pt x="62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89">
            <a:extLst>
              <a:ext uri="{FF2B5EF4-FFF2-40B4-BE49-F238E27FC236}">
                <a16:creationId xmlns:a16="http://schemas.microsoft.com/office/drawing/2014/main" id="{85BEDD93-6C91-4096-9ADC-C8CE5B50E137}"/>
              </a:ext>
            </a:extLst>
          </p:cNvPr>
          <p:cNvSpPr>
            <a:spLocks noGrp="1"/>
          </p:cNvSpPr>
          <p:nvPr/>
        </p:nvSpPr>
        <p:spPr>
          <a:xfrm>
            <a:off x="1786474" y="1408588"/>
            <a:ext cx="460033" cy="454301"/>
          </a:xfrm>
          <a:custGeom>
            <a:avLst/>
            <a:gdLst/>
            <a:ahLst/>
            <a:cxnLst/>
            <a:rect l="l" t="t" r="r" b="b"/>
            <a:pathLst>
              <a:path w="12603" h="12446">
                <a:moveTo>
                  <a:pt x="11136" y="1"/>
                </a:moveTo>
                <a:cubicBezTo>
                  <a:pt x="11054" y="1"/>
                  <a:pt x="10975" y="1"/>
                  <a:pt x="10902" y="1"/>
                </a:cubicBezTo>
                <a:cubicBezTo>
                  <a:pt x="10429" y="1"/>
                  <a:pt x="10051" y="159"/>
                  <a:pt x="9736" y="474"/>
                </a:cubicBezTo>
                <a:lnTo>
                  <a:pt x="3561" y="6649"/>
                </a:lnTo>
                <a:lnTo>
                  <a:pt x="2301" y="6428"/>
                </a:lnTo>
                <a:cubicBezTo>
                  <a:pt x="2278" y="6423"/>
                  <a:pt x="2253" y="6420"/>
                  <a:pt x="2229" y="6420"/>
                </a:cubicBezTo>
                <a:cubicBezTo>
                  <a:pt x="2119" y="6420"/>
                  <a:pt x="2000" y="6471"/>
                  <a:pt x="1923" y="6523"/>
                </a:cubicBezTo>
                <a:lnTo>
                  <a:pt x="158" y="8319"/>
                </a:lnTo>
                <a:cubicBezTo>
                  <a:pt x="32" y="8382"/>
                  <a:pt x="1" y="8539"/>
                  <a:pt x="32" y="8697"/>
                </a:cubicBezTo>
                <a:cubicBezTo>
                  <a:pt x="95" y="8823"/>
                  <a:pt x="190" y="8949"/>
                  <a:pt x="347" y="8980"/>
                </a:cubicBezTo>
                <a:lnTo>
                  <a:pt x="2994" y="9484"/>
                </a:lnTo>
                <a:lnTo>
                  <a:pt x="3498" y="12131"/>
                </a:lnTo>
                <a:cubicBezTo>
                  <a:pt x="3561" y="12288"/>
                  <a:pt x="3624" y="12414"/>
                  <a:pt x="3782" y="12446"/>
                </a:cubicBezTo>
                <a:lnTo>
                  <a:pt x="3908" y="12446"/>
                </a:lnTo>
                <a:cubicBezTo>
                  <a:pt x="4034" y="12446"/>
                  <a:pt x="4128" y="12414"/>
                  <a:pt x="4254" y="12414"/>
                </a:cubicBezTo>
                <a:lnTo>
                  <a:pt x="6018" y="10619"/>
                </a:lnTo>
                <a:cubicBezTo>
                  <a:pt x="6144" y="10556"/>
                  <a:pt x="6176" y="10398"/>
                  <a:pt x="6144" y="10272"/>
                </a:cubicBezTo>
                <a:lnTo>
                  <a:pt x="5924" y="9012"/>
                </a:lnTo>
                <a:lnTo>
                  <a:pt x="12099" y="2837"/>
                </a:lnTo>
                <a:cubicBezTo>
                  <a:pt x="12414" y="2522"/>
                  <a:pt x="12571" y="2081"/>
                  <a:pt x="12571" y="1671"/>
                </a:cubicBezTo>
                <a:cubicBezTo>
                  <a:pt x="12571" y="1199"/>
                  <a:pt x="12603" y="600"/>
                  <a:pt x="12288" y="285"/>
                </a:cubicBezTo>
                <a:cubicBezTo>
                  <a:pt x="12025" y="22"/>
                  <a:pt x="11544" y="1"/>
                  <a:pt x="1113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89">
            <a:extLst>
              <a:ext uri="{FF2B5EF4-FFF2-40B4-BE49-F238E27FC236}">
                <a16:creationId xmlns:a16="http://schemas.microsoft.com/office/drawing/2014/main" id="{365D6EB8-6A65-4086-96D1-2A6A49F1013C}"/>
              </a:ext>
            </a:extLst>
          </p:cNvPr>
          <p:cNvSpPr>
            <a:spLocks noGrp="1"/>
          </p:cNvSpPr>
          <p:nvPr/>
        </p:nvSpPr>
        <p:spPr>
          <a:xfrm>
            <a:off x="1801132" y="1467203"/>
            <a:ext cx="255361" cy="130378"/>
          </a:xfrm>
          <a:custGeom>
            <a:avLst/>
            <a:gdLst/>
            <a:ahLst/>
            <a:cxnLst/>
            <a:rect l="l" t="t" r="r" b="b"/>
            <a:pathLst>
              <a:path w="6995" h="3570">
                <a:moveTo>
                  <a:pt x="1632" y="1"/>
                </a:moveTo>
                <a:cubicBezTo>
                  <a:pt x="1523" y="1"/>
                  <a:pt x="1407" y="57"/>
                  <a:pt x="1355" y="135"/>
                </a:cubicBezTo>
                <a:lnTo>
                  <a:pt x="158" y="1301"/>
                </a:lnTo>
                <a:cubicBezTo>
                  <a:pt x="95" y="1395"/>
                  <a:pt x="0" y="1553"/>
                  <a:pt x="32" y="1710"/>
                </a:cubicBezTo>
                <a:cubicBezTo>
                  <a:pt x="126" y="1773"/>
                  <a:pt x="189" y="1899"/>
                  <a:pt x="315" y="1931"/>
                </a:cubicBezTo>
                <a:lnTo>
                  <a:pt x="4317" y="3569"/>
                </a:lnTo>
                <a:lnTo>
                  <a:pt x="6995" y="891"/>
                </a:lnTo>
                <a:lnTo>
                  <a:pt x="1702" y="9"/>
                </a:lnTo>
                <a:cubicBezTo>
                  <a:pt x="1679" y="4"/>
                  <a:pt x="1656" y="1"/>
                  <a:pt x="163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89">
            <a:extLst>
              <a:ext uri="{FF2B5EF4-FFF2-40B4-BE49-F238E27FC236}">
                <a16:creationId xmlns:a16="http://schemas.microsoft.com/office/drawing/2014/main" id="{732BE817-7B71-4205-8905-C60886E85AE9}"/>
              </a:ext>
            </a:extLst>
          </p:cNvPr>
          <p:cNvSpPr>
            <a:spLocks noGrp="1"/>
          </p:cNvSpPr>
          <p:nvPr/>
        </p:nvSpPr>
        <p:spPr>
          <a:xfrm>
            <a:off x="2053396" y="1593573"/>
            <a:ext cx="129929" cy="253114"/>
          </a:xfrm>
          <a:custGeom>
            <a:avLst/>
            <a:gdLst/>
            <a:ahLst/>
            <a:cxnLst/>
            <a:rect l="l" t="t" r="r" b="b"/>
            <a:pathLst>
              <a:path w="3560" h="6932">
                <a:moveTo>
                  <a:pt x="2678" y="0"/>
                </a:moveTo>
                <a:lnTo>
                  <a:pt x="0" y="2678"/>
                </a:lnTo>
                <a:lnTo>
                  <a:pt x="1607" y="6679"/>
                </a:lnTo>
                <a:cubicBezTo>
                  <a:pt x="1638" y="6805"/>
                  <a:pt x="1764" y="6931"/>
                  <a:pt x="1922" y="6931"/>
                </a:cubicBezTo>
                <a:lnTo>
                  <a:pt x="1985" y="6931"/>
                </a:lnTo>
                <a:cubicBezTo>
                  <a:pt x="2111" y="6931"/>
                  <a:pt x="2206" y="6900"/>
                  <a:pt x="2269" y="6805"/>
                </a:cubicBezTo>
                <a:lnTo>
                  <a:pt x="3466" y="5640"/>
                </a:lnTo>
                <a:cubicBezTo>
                  <a:pt x="3529" y="5545"/>
                  <a:pt x="3560" y="5388"/>
                  <a:pt x="3560" y="5262"/>
                </a:cubicBezTo>
                <a:lnTo>
                  <a:pt x="267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89">
            <a:extLst>
              <a:ext uri="{FF2B5EF4-FFF2-40B4-BE49-F238E27FC236}">
                <a16:creationId xmlns:a16="http://schemas.microsoft.com/office/drawing/2014/main" id="{C2BF4F60-3943-4F53-A970-A45E64E873A2}"/>
              </a:ext>
            </a:extLst>
          </p:cNvPr>
          <p:cNvSpPr>
            <a:spLocks noGrp="1"/>
          </p:cNvSpPr>
          <p:nvPr/>
        </p:nvSpPr>
        <p:spPr>
          <a:xfrm>
            <a:off x="7275523" y="1622376"/>
            <a:ext cx="76878" cy="31583"/>
          </a:xfrm>
          <a:custGeom>
            <a:avLst/>
            <a:gdLst/>
            <a:ahLst/>
            <a:cxnLst/>
            <a:rect l="l" t="t" r="r" b="b"/>
            <a:pathLst>
              <a:path w="1766" h="725">
                <a:moveTo>
                  <a:pt x="347" y="0"/>
                </a:moveTo>
                <a:cubicBezTo>
                  <a:pt x="158" y="0"/>
                  <a:pt x="1" y="158"/>
                  <a:pt x="1" y="378"/>
                </a:cubicBezTo>
                <a:cubicBezTo>
                  <a:pt x="1" y="567"/>
                  <a:pt x="158" y="725"/>
                  <a:pt x="347" y="725"/>
                </a:cubicBezTo>
                <a:lnTo>
                  <a:pt x="1419" y="725"/>
                </a:lnTo>
                <a:cubicBezTo>
                  <a:pt x="1608" y="725"/>
                  <a:pt x="1765" y="567"/>
                  <a:pt x="1765" y="378"/>
                </a:cubicBezTo>
                <a:cubicBezTo>
                  <a:pt x="1734" y="158"/>
                  <a:pt x="1608" y="0"/>
                  <a:pt x="14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89">
            <a:extLst>
              <a:ext uri="{FF2B5EF4-FFF2-40B4-BE49-F238E27FC236}">
                <a16:creationId xmlns:a16="http://schemas.microsoft.com/office/drawing/2014/main" id="{ABB0144A-C071-4EB8-8039-4E0EAFE19BD2}"/>
              </a:ext>
            </a:extLst>
          </p:cNvPr>
          <p:cNvSpPr>
            <a:spLocks noGrp="1"/>
          </p:cNvSpPr>
          <p:nvPr/>
        </p:nvSpPr>
        <p:spPr>
          <a:xfrm>
            <a:off x="7261321" y="1672671"/>
            <a:ext cx="64515" cy="59007"/>
          </a:xfrm>
          <a:custGeom>
            <a:avLst/>
            <a:gdLst/>
            <a:ahLst/>
            <a:cxnLst/>
            <a:rect l="l" t="t" r="r" b="b"/>
            <a:pathLst>
              <a:path w="1482" h="1355">
                <a:moveTo>
                  <a:pt x="394" y="0"/>
                </a:moveTo>
                <a:cubicBezTo>
                  <a:pt x="308" y="0"/>
                  <a:pt x="221" y="32"/>
                  <a:pt x="158" y="95"/>
                </a:cubicBezTo>
                <a:cubicBezTo>
                  <a:pt x="0" y="221"/>
                  <a:pt x="0" y="410"/>
                  <a:pt x="158" y="567"/>
                </a:cubicBezTo>
                <a:lnTo>
                  <a:pt x="882" y="1260"/>
                </a:lnTo>
                <a:cubicBezTo>
                  <a:pt x="945" y="1323"/>
                  <a:pt x="1032" y="1355"/>
                  <a:pt x="1119" y="1355"/>
                </a:cubicBezTo>
                <a:cubicBezTo>
                  <a:pt x="1205" y="1355"/>
                  <a:pt x="1292" y="1323"/>
                  <a:pt x="1355" y="1260"/>
                </a:cubicBezTo>
                <a:cubicBezTo>
                  <a:pt x="1481" y="1134"/>
                  <a:pt x="1481" y="914"/>
                  <a:pt x="1355" y="788"/>
                </a:cubicBezTo>
                <a:lnTo>
                  <a:pt x="630" y="95"/>
                </a:lnTo>
                <a:cubicBezTo>
                  <a:pt x="567" y="32"/>
                  <a:pt x="481" y="0"/>
                  <a:pt x="39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89">
            <a:extLst>
              <a:ext uri="{FF2B5EF4-FFF2-40B4-BE49-F238E27FC236}">
                <a16:creationId xmlns:a16="http://schemas.microsoft.com/office/drawing/2014/main" id="{DF2157F7-89F4-49EC-A862-CAF7A0FECEBE}"/>
              </a:ext>
            </a:extLst>
          </p:cNvPr>
          <p:cNvSpPr>
            <a:spLocks noGrp="1"/>
          </p:cNvSpPr>
          <p:nvPr/>
        </p:nvSpPr>
        <p:spPr>
          <a:xfrm>
            <a:off x="7263908" y="1543427"/>
            <a:ext cx="61817" cy="60131"/>
          </a:xfrm>
          <a:custGeom>
            <a:avLst/>
            <a:gdLst/>
            <a:ahLst/>
            <a:cxnLst/>
            <a:rect l="l" t="t" r="r" b="b"/>
            <a:pathLst>
              <a:path w="1419" h="1380">
                <a:moveTo>
                  <a:pt x="1056" y="1"/>
                </a:moveTo>
                <a:cubicBezTo>
                  <a:pt x="969" y="1"/>
                  <a:pt x="882" y="32"/>
                  <a:pt x="819" y="96"/>
                </a:cubicBezTo>
                <a:lnTo>
                  <a:pt x="95" y="789"/>
                </a:lnTo>
                <a:cubicBezTo>
                  <a:pt x="0" y="915"/>
                  <a:pt x="0" y="1135"/>
                  <a:pt x="95" y="1261"/>
                </a:cubicBezTo>
                <a:cubicBezTo>
                  <a:pt x="158" y="1340"/>
                  <a:pt x="252" y="1379"/>
                  <a:pt x="343" y="1379"/>
                </a:cubicBezTo>
                <a:cubicBezTo>
                  <a:pt x="434" y="1379"/>
                  <a:pt x="520" y="1340"/>
                  <a:pt x="567" y="1261"/>
                </a:cubicBezTo>
                <a:lnTo>
                  <a:pt x="1292" y="568"/>
                </a:lnTo>
                <a:cubicBezTo>
                  <a:pt x="1418" y="442"/>
                  <a:pt x="1418" y="190"/>
                  <a:pt x="1292" y="96"/>
                </a:cubicBezTo>
                <a:cubicBezTo>
                  <a:pt x="1229" y="32"/>
                  <a:pt x="1142" y="1"/>
                  <a:pt x="105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89">
            <a:extLst>
              <a:ext uri="{FF2B5EF4-FFF2-40B4-BE49-F238E27FC236}">
                <a16:creationId xmlns:a16="http://schemas.microsoft.com/office/drawing/2014/main" id="{520530B8-9B7B-4383-A1C5-5AA50495C4F4}"/>
              </a:ext>
            </a:extLst>
          </p:cNvPr>
          <p:cNvSpPr>
            <a:spLocks noGrp="1"/>
          </p:cNvSpPr>
          <p:nvPr/>
        </p:nvSpPr>
        <p:spPr>
          <a:xfrm>
            <a:off x="6895315" y="1534091"/>
            <a:ext cx="183878" cy="182529"/>
          </a:xfrm>
          <a:custGeom>
            <a:avLst/>
            <a:gdLst/>
            <a:ahLst/>
            <a:cxnLst/>
            <a:rect l="l" t="t" r="r" b="b"/>
            <a:pathLst>
              <a:path w="4222" h="4192">
                <a:moveTo>
                  <a:pt x="2489" y="1"/>
                </a:moveTo>
                <a:cubicBezTo>
                  <a:pt x="2048" y="1"/>
                  <a:pt x="1639" y="285"/>
                  <a:pt x="1481" y="726"/>
                </a:cubicBezTo>
                <a:lnTo>
                  <a:pt x="1418" y="726"/>
                </a:lnTo>
                <a:cubicBezTo>
                  <a:pt x="662" y="726"/>
                  <a:pt x="0" y="1356"/>
                  <a:pt x="0" y="2080"/>
                </a:cubicBezTo>
                <a:cubicBezTo>
                  <a:pt x="0" y="2836"/>
                  <a:pt x="630" y="3467"/>
                  <a:pt x="1418" y="3467"/>
                </a:cubicBezTo>
                <a:lnTo>
                  <a:pt x="1481" y="3467"/>
                </a:lnTo>
                <a:cubicBezTo>
                  <a:pt x="1639" y="3845"/>
                  <a:pt x="2017" y="4191"/>
                  <a:pt x="2489" y="4191"/>
                </a:cubicBezTo>
                <a:lnTo>
                  <a:pt x="4222" y="4191"/>
                </a:lnTo>
                <a:lnTo>
                  <a:pt x="422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89">
            <a:extLst>
              <a:ext uri="{FF2B5EF4-FFF2-40B4-BE49-F238E27FC236}">
                <a16:creationId xmlns:a16="http://schemas.microsoft.com/office/drawing/2014/main" id="{C2D2A745-4F25-4478-8C1D-6ACEC9B059AB}"/>
              </a:ext>
            </a:extLst>
          </p:cNvPr>
          <p:cNvSpPr>
            <a:spLocks noGrp="1"/>
          </p:cNvSpPr>
          <p:nvPr/>
        </p:nvSpPr>
        <p:spPr>
          <a:xfrm>
            <a:off x="7184859" y="1443605"/>
            <a:ext cx="61705" cy="363598"/>
          </a:xfrm>
          <a:custGeom>
            <a:avLst/>
            <a:gdLst/>
            <a:ahLst/>
            <a:cxnLst/>
            <a:rect l="l" t="t" r="r" b="b"/>
            <a:pathLst>
              <a:path w="1418" h="8350">
                <a:moveTo>
                  <a:pt x="725" y="1"/>
                </a:moveTo>
                <a:cubicBezTo>
                  <a:pt x="315" y="1"/>
                  <a:pt x="0" y="316"/>
                  <a:pt x="0" y="694"/>
                </a:cubicBezTo>
                <a:lnTo>
                  <a:pt x="0" y="7625"/>
                </a:lnTo>
                <a:cubicBezTo>
                  <a:pt x="0" y="8034"/>
                  <a:pt x="315" y="8349"/>
                  <a:pt x="725" y="8349"/>
                </a:cubicBezTo>
                <a:cubicBezTo>
                  <a:pt x="1134" y="8286"/>
                  <a:pt x="1418" y="8003"/>
                  <a:pt x="1418" y="7625"/>
                </a:cubicBezTo>
                <a:lnTo>
                  <a:pt x="1418" y="694"/>
                </a:lnTo>
                <a:cubicBezTo>
                  <a:pt x="1418" y="316"/>
                  <a:pt x="1103" y="1"/>
                  <a:pt x="72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89">
            <a:extLst>
              <a:ext uri="{FF2B5EF4-FFF2-40B4-BE49-F238E27FC236}">
                <a16:creationId xmlns:a16="http://schemas.microsoft.com/office/drawing/2014/main" id="{2BBD6331-35B2-415E-A497-2D040CD6FA5A}"/>
              </a:ext>
            </a:extLst>
          </p:cNvPr>
          <p:cNvSpPr>
            <a:spLocks noGrp="1"/>
          </p:cNvSpPr>
          <p:nvPr/>
        </p:nvSpPr>
        <p:spPr>
          <a:xfrm>
            <a:off x="6979209" y="1716733"/>
            <a:ext cx="89242" cy="120712"/>
          </a:xfrm>
          <a:custGeom>
            <a:avLst/>
            <a:gdLst/>
            <a:ahLst/>
            <a:cxnLst/>
            <a:rect l="l" t="t" r="r" b="b"/>
            <a:pathLst>
              <a:path w="2049" h="2773">
                <a:moveTo>
                  <a:pt x="1" y="0"/>
                </a:moveTo>
                <a:lnTo>
                  <a:pt x="1" y="1764"/>
                </a:lnTo>
                <a:cubicBezTo>
                  <a:pt x="1" y="2363"/>
                  <a:pt x="473" y="2773"/>
                  <a:pt x="1040" y="2773"/>
                </a:cubicBezTo>
                <a:cubicBezTo>
                  <a:pt x="1607" y="2773"/>
                  <a:pt x="2048" y="2300"/>
                  <a:pt x="2048" y="1764"/>
                </a:cubicBezTo>
                <a:lnTo>
                  <a:pt x="2048" y="32"/>
                </a:lnTo>
                <a:lnTo>
                  <a:pt x="316" y="32"/>
                </a:lnTo>
                <a:cubicBezTo>
                  <a:pt x="253" y="32"/>
                  <a:pt x="127" y="32"/>
                  <a:pt x="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89">
            <a:extLst>
              <a:ext uri="{FF2B5EF4-FFF2-40B4-BE49-F238E27FC236}">
                <a16:creationId xmlns:a16="http://schemas.microsoft.com/office/drawing/2014/main" id="{F7F04479-C37F-4FFB-8317-F0AC590B10DF}"/>
              </a:ext>
            </a:extLst>
          </p:cNvPr>
          <p:cNvSpPr>
            <a:spLocks noGrp="1"/>
          </p:cNvSpPr>
          <p:nvPr/>
        </p:nvSpPr>
        <p:spPr>
          <a:xfrm>
            <a:off x="7082643" y="1480995"/>
            <a:ext cx="90590" cy="285483"/>
          </a:xfrm>
          <a:custGeom>
            <a:avLst/>
            <a:gdLst/>
            <a:ahLst/>
            <a:cxnLst/>
            <a:rect l="l" t="t" r="r" b="b"/>
            <a:pathLst>
              <a:path w="2080" h="6554">
                <a:moveTo>
                  <a:pt x="2080" y="0"/>
                </a:moveTo>
                <a:lnTo>
                  <a:pt x="1765" y="315"/>
                </a:lnTo>
                <a:cubicBezTo>
                  <a:pt x="1292" y="788"/>
                  <a:pt x="662" y="1071"/>
                  <a:pt x="1" y="1166"/>
                </a:cubicBezTo>
                <a:lnTo>
                  <a:pt x="1" y="5419"/>
                </a:lnTo>
                <a:cubicBezTo>
                  <a:pt x="662" y="5482"/>
                  <a:pt x="1292" y="5766"/>
                  <a:pt x="1765" y="6238"/>
                </a:cubicBezTo>
                <a:lnTo>
                  <a:pt x="2080" y="6553"/>
                </a:lnTo>
                <a:lnTo>
                  <a:pt x="208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Rectangle: Rounded Corners 900">
            <a:extLst>
              <a:ext uri="{FF2B5EF4-FFF2-40B4-BE49-F238E27FC236}">
                <a16:creationId xmlns:a16="http://schemas.microsoft.com/office/drawing/2014/main" id="{7135BF92-5200-4D43-A23F-09BC3FFFD1ED}"/>
              </a:ext>
            </a:extLst>
          </p:cNvPr>
          <p:cNvSpPr>
            <a:spLocks noGrp="1"/>
          </p:cNvSpPr>
          <p:nvPr/>
        </p:nvSpPr>
        <p:spPr>
          <a:xfrm>
            <a:off x="1000125" y="3718189"/>
            <a:ext cx="714375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/>
          </a:bodyPr>
          <a:lstStyle/>
          <a:p>
            <a:pPr algn="ctr">
              <a:buNone/>
              <a:def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Yêu cầu thiết kế: cùng tiêu chí • output có căn cứ • AI không thay quyết định con người.</a:t>
            </a:r>
          </a:p>
        </p:txBody>
      </p:sp>
    </p:spTree>
    <p:extLst>
      <p:ext uri="{BB962C8B-B14F-4D97-AF65-F5344CB8AC3E}">
        <p14:creationId xmlns:p14="http://schemas.microsoft.com/office/powerpoint/2010/main" val="5814433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89">
            <a:extLst>
              <a:ext uri="{FF2B5EF4-FFF2-40B4-BE49-F238E27FC236}">
                <a16:creationId xmlns:a16="http://schemas.microsoft.com/office/drawing/2014/main" id="{B80505C1-D139-4E6F-B241-4EDD8383E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Ba nhóm người dùng, ba ranh giới trách nhiệm</a:t>
            </a:r>
            <a:endParaRPr/>
          </a:p>
        </p:txBody>
      </p:sp>
      <p:sp>
        <p:nvSpPr>
          <p:cNvPr id="879" name="Google Shape;879;p89">
            <a:extLst>
              <a:ext uri="{FF2B5EF4-FFF2-40B4-BE49-F238E27FC236}">
                <a16:creationId xmlns:a16="http://schemas.microsoft.com/office/drawing/2014/main" id="{3CA5FC07-BBDC-41E9-B696-E8A20C09E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000" y="188939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49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Recruiter</a:t>
            </a:r>
            <a:endParaRPr/>
          </a:p>
        </p:txBody>
      </p:sp>
      <p:sp>
        <p:nvSpPr>
          <p:cNvPr id="880" name="Google Shape;880;p89">
            <a:extLst>
              <a:ext uri="{FF2B5EF4-FFF2-40B4-BE49-F238E27FC236}">
                <a16:creationId xmlns:a16="http://schemas.microsoft.com/office/drawing/2014/main" id="{EF39F8F5-6F9C-4AD1-A1A7-6AF6553B313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09025" y="236564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Quản lý JD, chiến dịch, bằng chứng và đánh giá cuối.</a:t>
            </a:r>
            <a:endParaRPr/>
          </a:p>
        </p:txBody>
      </p:sp>
      <p:sp>
        <p:nvSpPr>
          <p:cNvPr id="881" name="Google Shape;881;p89">
            <a:extLst>
              <a:ext uri="{FF2B5EF4-FFF2-40B4-BE49-F238E27FC236}">
                <a16:creationId xmlns:a16="http://schemas.microsoft.com/office/drawing/2014/main" id="{C88A62D0-4E84-4E92-B593-050E06D733E3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53025" y="188939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49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Ứng viên</a:t>
            </a:r>
            <a:endParaRPr/>
          </a:p>
        </p:txBody>
      </p:sp>
      <p:sp>
        <p:nvSpPr>
          <p:cNvPr id="882" name="Google Shape;882;p89">
            <a:extLst>
              <a:ext uri="{FF2B5EF4-FFF2-40B4-BE49-F238E27FC236}">
                <a16:creationId xmlns:a16="http://schemas.microsoft.com/office/drawing/2014/main" id="{9CC2C9A1-3486-4DDC-8306-0E6DB01EB392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953125" y="236564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Luyện tập hoặc tham gia phiên theo lời mời.</a:t>
            </a:r>
            <a:endParaRPr/>
          </a:p>
        </p:txBody>
      </p:sp>
      <p:sp>
        <p:nvSpPr>
          <p:cNvPr id="883" name="Google Shape;883;p89">
            <a:extLst>
              <a:ext uri="{FF2B5EF4-FFF2-40B4-BE49-F238E27FC236}">
                <a16:creationId xmlns:a16="http://schemas.microsoft.com/office/drawing/2014/main" id="{48848221-E426-48C1-8D92-9FB117774ADA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64875" y="188939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49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Admin</a:t>
            </a:r>
            <a:endParaRPr/>
          </a:p>
        </p:txBody>
      </p:sp>
      <p:sp>
        <p:nvSpPr>
          <p:cNvPr id="884" name="Google Shape;884;p89">
            <a:extLst>
              <a:ext uri="{FF2B5EF4-FFF2-40B4-BE49-F238E27FC236}">
                <a16:creationId xmlns:a16="http://schemas.microsoft.com/office/drawing/2014/main" id="{C0EDBC46-FF58-48B4-B107-BA09682687A5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64875" y="236564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1572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Vận hành hệ thống; không thay recruiter ra quyết định.</a:t>
            </a:r>
            <a:endParaRPr/>
          </a:p>
        </p:txBody>
      </p:sp>
      <p:sp>
        <p:nvSpPr>
          <p:cNvPr id="886" name="Google Shape;886;p89">
            <a:extLst>
              <a:ext uri="{FF2B5EF4-FFF2-40B4-BE49-F238E27FC236}">
                <a16:creationId xmlns:a16="http://schemas.microsoft.com/office/drawing/2014/main" id="{E3C6DD10-53BB-45CE-839E-D57514AC5269}"/>
              </a:ext>
            </a:extLst>
          </p:cNvPr>
          <p:cNvSpPr>
            <a:spLocks noGrp="1"/>
          </p:cNvSpPr>
          <p:nvPr/>
        </p:nvSpPr>
        <p:spPr>
          <a:xfrm>
            <a:off x="4608858" y="1672502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410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410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4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89">
            <a:extLst>
              <a:ext uri="{FF2B5EF4-FFF2-40B4-BE49-F238E27FC236}">
                <a16:creationId xmlns:a16="http://schemas.microsoft.com/office/drawing/2014/main" id="{24BC3697-5925-45C7-BC3D-98580AD0D4FB}"/>
              </a:ext>
            </a:extLst>
          </p:cNvPr>
          <p:cNvSpPr>
            <a:spLocks noGrp="1"/>
          </p:cNvSpPr>
          <p:nvPr/>
        </p:nvSpPr>
        <p:spPr>
          <a:xfrm>
            <a:off x="4506559" y="1570108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378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378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3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p89">
            <a:extLst>
              <a:ext uri="{FF2B5EF4-FFF2-40B4-BE49-F238E27FC236}">
                <a16:creationId xmlns:a16="http://schemas.microsoft.com/office/drawing/2014/main" id="{E7A06639-7743-4E01-9D33-A0DD094D5D3D}"/>
              </a:ext>
            </a:extLst>
          </p:cNvPr>
          <p:cNvSpPr>
            <a:spLocks noGrp="1"/>
          </p:cNvSpPr>
          <p:nvPr/>
        </p:nvSpPr>
        <p:spPr>
          <a:xfrm>
            <a:off x="4345507" y="1409359"/>
            <a:ext cx="453177" cy="452952"/>
          </a:xfrm>
          <a:custGeom>
            <a:avLst/>
            <a:gdLst/>
            <a:ahLst/>
            <a:cxnLst/>
            <a:rect l="l" t="t" r="r" b="b"/>
            <a:pathLst>
              <a:path w="12414" h="12406">
                <a:moveTo>
                  <a:pt x="4506" y="3332"/>
                </a:moveTo>
                <a:cubicBezTo>
                  <a:pt x="5167" y="3332"/>
                  <a:pt x="5735" y="3867"/>
                  <a:pt x="5735" y="4561"/>
                </a:cubicBezTo>
                <a:cubicBezTo>
                  <a:pt x="5735" y="5222"/>
                  <a:pt x="5199" y="5821"/>
                  <a:pt x="4506" y="5821"/>
                </a:cubicBezTo>
                <a:cubicBezTo>
                  <a:pt x="3844" y="5821"/>
                  <a:pt x="3277" y="5254"/>
                  <a:pt x="3277" y="4561"/>
                </a:cubicBezTo>
                <a:cubicBezTo>
                  <a:pt x="3277" y="3899"/>
                  <a:pt x="3844" y="3332"/>
                  <a:pt x="4506" y="3332"/>
                </a:cubicBezTo>
                <a:close/>
                <a:moveTo>
                  <a:pt x="7830" y="4159"/>
                </a:moveTo>
                <a:cubicBezTo>
                  <a:pt x="7940" y="4159"/>
                  <a:pt x="8050" y="4198"/>
                  <a:pt x="8129" y="4277"/>
                </a:cubicBezTo>
                <a:cubicBezTo>
                  <a:pt x="8286" y="4435"/>
                  <a:pt x="8286" y="4718"/>
                  <a:pt x="8129" y="4876"/>
                </a:cubicBezTo>
                <a:lnTo>
                  <a:pt x="4821" y="8184"/>
                </a:lnTo>
                <a:cubicBezTo>
                  <a:pt x="4742" y="8262"/>
                  <a:pt x="4632" y="8302"/>
                  <a:pt x="4522" y="8302"/>
                </a:cubicBezTo>
                <a:cubicBezTo>
                  <a:pt x="4411" y="8302"/>
                  <a:pt x="4301" y="8262"/>
                  <a:pt x="4222" y="8184"/>
                </a:cubicBezTo>
                <a:cubicBezTo>
                  <a:pt x="4065" y="8026"/>
                  <a:pt x="4065" y="7743"/>
                  <a:pt x="4222" y="7585"/>
                </a:cubicBezTo>
                <a:lnTo>
                  <a:pt x="7530" y="4277"/>
                </a:lnTo>
                <a:cubicBezTo>
                  <a:pt x="7609" y="4198"/>
                  <a:pt x="7719" y="4159"/>
                  <a:pt x="7830" y="4159"/>
                </a:cubicBezTo>
                <a:close/>
                <a:moveTo>
                  <a:pt x="7845" y="6640"/>
                </a:moveTo>
                <a:cubicBezTo>
                  <a:pt x="8539" y="6640"/>
                  <a:pt x="9074" y="7175"/>
                  <a:pt x="9074" y="7900"/>
                </a:cubicBezTo>
                <a:cubicBezTo>
                  <a:pt x="9074" y="8562"/>
                  <a:pt x="8539" y="9129"/>
                  <a:pt x="7845" y="9129"/>
                </a:cubicBezTo>
                <a:cubicBezTo>
                  <a:pt x="7184" y="9129"/>
                  <a:pt x="6648" y="8562"/>
                  <a:pt x="6648" y="7900"/>
                </a:cubicBezTo>
                <a:cubicBezTo>
                  <a:pt x="6648" y="7239"/>
                  <a:pt x="7184" y="6640"/>
                  <a:pt x="7845" y="6640"/>
                </a:cubicBezTo>
                <a:close/>
                <a:moveTo>
                  <a:pt x="6223" y="0"/>
                </a:moveTo>
                <a:cubicBezTo>
                  <a:pt x="6113" y="0"/>
                  <a:pt x="6002" y="40"/>
                  <a:pt x="5924" y="118"/>
                </a:cubicBezTo>
                <a:lnTo>
                  <a:pt x="4348" y="1694"/>
                </a:lnTo>
                <a:lnTo>
                  <a:pt x="2111" y="1694"/>
                </a:lnTo>
                <a:cubicBezTo>
                  <a:pt x="1859" y="1694"/>
                  <a:pt x="1702" y="1883"/>
                  <a:pt x="1702" y="2072"/>
                </a:cubicBezTo>
                <a:lnTo>
                  <a:pt x="1702" y="4309"/>
                </a:lnTo>
                <a:lnTo>
                  <a:pt x="127" y="5884"/>
                </a:lnTo>
                <a:cubicBezTo>
                  <a:pt x="1" y="6041"/>
                  <a:pt x="1" y="6325"/>
                  <a:pt x="127" y="6482"/>
                </a:cubicBezTo>
                <a:lnTo>
                  <a:pt x="1702" y="8058"/>
                </a:lnTo>
                <a:lnTo>
                  <a:pt x="1702" y="10294"/>
                </a:lnTo>
                <a:cubicBezTo>
                  <a:pt x="1702" y="10547"/>
                  <a:pt x="1922" y="10704"/>
                  <a:pt x="2111" y="10704"/>
                </a:cubicBezTo>
                <a:lnTo>
                  <a:pt x="4348" y="10704"/>
                </a:lnTo>
                <a:lnTo>
                  <a:pt x="5924" y="12279"/>
                </a:lnTo>
                <a:cubicBezTo>
                  <a:pt x="6018" y="12342"/>
                  <a:pt x="6113" y="12405"/>
                  <a:pt x="6207" y="12405"/>
                </a:cubicBezTo>
                <a:cubicBezTo>
                  <a:pt x="6333" y="12405"/>
                  <a:pt x="6396" y="12342"/>
                  <a:pt x="6491" y="12279"/>
                </a:cubicBezTo>
                <a:lnTo>
                  <a:pt x="8066" y="10704"/>
                </a:lnTo>
                <a:lnTo>
                  <a:pt x="10303" y="10704"/>
                </a:lnTo>
                <a:cubicBezTo>
                  <a:pt x="10523" y="10704"/>
                  <a:pt x="10744" y="10515"/>
                  <a:pt x="10744" y="10294"/>
                </a:cubicBezTo>
                <a:lnTo>
                  <a:pt x="10744" y="8058"/>
                </a:lnTo>
                <a:lnTo>
                  <a:pt x="12319" y="6482"/>
                </a:lnTo>
                <a:cubicBezTo>
                  <a:pt x="12382" y="6419"/>
                  <a:pt x="12414" y="6293"/>
                  <a:pt x="12414" y="6199"/>
                </a:cubicBezTo>
                <a:cubicBezTo>
                  <a:pt x="12414" y="6104"/>
                  <a:pt x="12382" y="6010"/>
                  <a:pt x="12319" y="5947"/>
                </a:cubicBezTo>
                <a:lnTo>
                  <a:pt x="10744" y="4372"/>
                </a:lnTo>
                <a:lnTo>
                  <a:pt x="10744" y="2103"/>
                </a:lnTo>
                <a:cubicBezTo>
                  <a:pt x="10744" y="1851"/>
                  <a:pt x="10523" y="1694"/>
                  <a:pt x="10334" y="1694"/>
                </a:cubicBezTo>
                <a:lnTo>
                  <a:pt x="8097" y="1694"/>
                </a:lnTo>
                <a:lnTo>
                  <a:pt x="6522" y="118"/>
                </a:lnTo>
                <a:cubicBezTo>
                  <a:pt x="6443" y="40"/>
                  <a:pt x="6333" y="0"/>
                  <a:pt x="62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89">
            <a:extLst>
              <a:ext uri="{FF2B5EF4-FFF2-40B4-BE49-F238E27FC236}">
                <a16:creationId xmlns:a16="http://schemas.microsoft.com/office/drawing/2014/main" id="{85BEDD93-6C91-4096-9ADC-C8CE5B50E137}"/>
              </a:ext>
            </a:extLst>
          </p:cNvPr>
          <p:cNvSpPr>
            <a:spLocks noGrp="1"/>
          </p:cNvSpPr>
          <p:nvPr/>
        </p:nvSpPr>
        <p:spPr>
          <a:xfrm>
            <a:off x="1786474" y="1408589"/>
            <a:ext cx="460033" cy="454301"/>
          </a:xfrm>
          <a:custGeom>
            <a:avLst/>
            <a:gdLst/>
            <a:ahLst/>
            <a:cxnLst/>
            <a:rect l="l" t="t" r="r" b="b"/>
            <a:pathLst>
              <a:path w="12603" h="12446">
                <a:moveTo>
                  <a:pt x="11136" y="1"/>
                </a:moveTo>
                <a:cubicBezTo>
                  <a:pt x="11054" y="1"/>
                  <a:pt x="10975" y="1"/>
                  <a:pt x="10902" y="1"/>
                </a:cubicBezTo>
                <a:cubicBezTo>
                  <a:pt x="10429" y="1"/>
                  <a:pt x="10051" y="159"/>
                  <a:pt x="9736" y="474"/>
                </a:cubicBezTo>
                <a:lnTo>
                  <a:pt x="3561" y="6649"/>
                </a:lnTo>
                <a:lnTo>
                  <a:pt x="2301" y="6428"/>
                </a:lnTo>
                <a:cubicBezTo>
                  <a:pt x="2278" y="6423"/>
                  <a:pt x="2253" y="6420"/>
                  <a:pt x="2229" y="6420"/>
                </a:cubicBezTo>
                <a:cubicBezTo>
                  <a:pt x="2119" y="6420"/>
                  <a:pt x="2000" y="6471"/>
                  <a:pt x="1923" y="6523"/>
                </a:cubicBezTo>
                <a:lnTo>
                  <a:pt x="158" y="8319"/>
                </a:lnTo>
                <a:cubicBezTo>
                  <a:pt x="32" y="8382"/>
                  <a:pt x="1" y="8539"/>
                  <a:pt x="32" y="8697"/>
                </a:cubicBezTo>
                <a:cubicBezTo>
                  <a:pt x="95" y="8823"/>
                  <a:pt x="190" y="8949"/>
                  <a:pt x="347" y="8980"/>
                </a:cubicBezTo>
                <a:lnTo>
                  <a:pt x="2994" y="9484"/>
                </a:lnTo>
                <a:lnTo>
                  <a:pt x="3498" y="12131"/>
                </a:lnTo>
                <a:cubicBezTo>
                  <a:pt x="3561" y="12288"/>
                  <a:pt x="3624" y="12414"/>
                  <a:pt x="3782" y="12446"/>
                </a:cubicBezTo>
                <a:lnTo>
                  <a:pt x="3908" y="12446"/>
                </a:lnTo>
                <a:cubicBezTo>
                  <a:pt x="4034" y="12446"/>
                  <a:pt x="4128" y="12414"/>
                  <a:pt x="4254" y="12414"/>
                </a:cubicBezTo>
                <a:lnTo>
                  <a:pt x="6018" y="10619"/>
                </a:lnTo>
                <a:cubicBezTo>
                  <a:pt x="6144" y="10556"/>
                  <a:pt x="6176" y="10398"/>
                  <a:pt x="6144" y="10272"/>
                </a:cubicBezTo>
                <a:lnTo>
                  <a:pt x="5924" y="9012"/>
                </a:lnTo>
                <a:lnTo>
                  <a:pt x="12099" y="2837"/>
                </a:lnTo>
                <a:cubicBezTo>
                  <a:pt x="12414" y="2522"/>
                  <a:pt x="12571" y="2081"/>
                  <a:pt x="12571" y="1671"/>
                </a:cubicBezTo>
                <a:cubicBezTo>
                  <a:pt x="12571" y="1199"/>
                  <a:pt x="12603" y="600"/>
                  <a:pt x="12288" y="285"/>
                </a:cubicBezTo>
                <a:cubicBezTo>
                  <a:pt x="12025" y="22"/>
                  <a:pt x="11544" y="1"/>
                  <a:pt x="1113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89">
            <a:extLst>
              <a:ext uri="{FF2B5EF4-FFF2-40B4-BE49-F238E27FC236}">
                <a16:creationId xmlns:a16="http://schemas.microsoft.com/office/drawing/2014/main" id="{365D6EB8-6A65-4086-96D1-2A6A49F1013C}"/>
              </a:ext>
            </a:extLst>
          </p:cNvPr>
          <p:cNvSpPr>
            <a:spLocks noGrp="1"/>
          </p:cNvSpPr>
          <p:nvPr/>
        </p:nvSpPr>
        <p:spPr>
          <a:xfrm>
            <a:off x="1801132" y="1467204"/>
            <a:ext cx="255361" cy="130378"/>
          </a:xfrm>
          <a:custGeom>
            <a:avLst/>
            <a:gdLst/>
            <a:ahLst/>
            <a:cxnLst/>
            <a:rect l="l" t="t" r="r" b="b"/>
            <a:pathLst>
              <a:path w="6995" h="3570">
                <a:moveTo>
                  <a:pt x="1632" y="1"/>
                </a:moveTo>
                <a:cubicBezTo>
                  <a:pt x="1523" y="1"/>
                  <a:pt x="1407" y="57"/>
                  <a:pt x="1355" y="135"/>
                </a:cubicBezTo>
                <a:lnTo>
                  <a:pt x="158" y="1301"/>
                </a:lnTo>
                <a:cubicBezTo>
                  <a:pt x="95" y="1395"/>
                  <a:pt x="0" y="1553"/>
                  <a:pt x="32" y="1710"/>
                </a:cubicBezTo>
                <a:cubicBezTo>
                  <a:pt x="126" y="1773"/>
                  <a:pt x="189" y="1899"/>
                  <a:pt x="315" y="1931"/>
                </a:cubicBezTo>
                <a:lnTo>
                  <a:pt x="4317" y="3569"/>
                </a:lnTo>
                <a:lnTo>
                  <a:pt x="6995" y="891"/>
                </a:lnTo>
                <a:lnTo>
                  <a:pt x="1702" y="9"/>
                </a:lnTo>
                <a:cubicBezTo>
                  <a:pt x="1679" y="4"/>
                  <a:pt x="1656" y="1"/>
                  <a:pt x="163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89">
            <a:extLst>
              <a:ext uri="{FF2B5EF4-FFF2-40B4-BE49-F238E27FC236}">
                <a16:creationId xmlns:a16="http://schemas.microsoft.com/office/drawing/2014/main" id="{732BE817-7B71-4205-8905-C60886E85AE9}"/>
              </a:ext>
            </a:extLst>
          </p:cNvPr>
          <p:cNvSpPr>
            <a:spLocks noGrp="1"/>
          </p:cNvSpPr>
          <p:nvPr/>
        </p:nvSpPr>
        <p:spPr>
          <a:xfrm>
            <a:off x="2053396" y="1593574"/>
            <a:ext cx="129929" cy="253114"/>
          </a:xfrm>
          <a:custGeom>
            <a:avLst/>
            <a:gdLst/>
            <a:ahLst/>
            <a:cxnLst/>
            <a:rect l="l" t="t" r="r" b="b"/>
            <a:pathLst>
              <a:path w="3560" h="6932">
                <a:moveTo>
                  <a:pt x="2678" y="0"/>
                </a:moveTo>
                <a:lnTo>
                  <a:pt x="0" y="2678"/>
                </a:lnTo>
                <a:lnTo>
                  <a:pt x="1607" y="6679"/>
                </a:lnTo>
                <a:cubicBezTo>
                  <a:pt x="1638" y="6805"/>
                  <a:pt x="1764" y="6931"/>
                  <a:pt x="1922" y="6931"/>
                </a:cubicBezTo>
                <a:lnTo>
                  <a:pt x="1985" y="6931"/>
                </a:lnTo>
                <a:cubicBezTo>
                  <a:pt x="2111" y="6931"/>
                  <a:pt x="2206" y="6900"/>
                  <a:pt x="2269" y="6805"/>
                </a:cubicBezTo>
                <a:lnTo>
                  <a:pt x="3466" y="5640"/>
                </a:lnTo>
                <a:cubicBezTo>
                  <a:pt x="3529" y="5545"/>
                  <a:pt x="3560" y="5388"/>
                  <a:pt x="3560" y="5262"/>
                </a:cubicBezTo>
                <a:lnTo>
                  <a:pt x="267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89">
            <a:extLst>
              <a:ext uri="{FF2B5EF4-FFF2-40B4-BE49-F238E27FC236}">
                <a16:creationId xmlns:a16="http://schemas.microsoft.com/office/drawing/2014/main" id="{C2BF4F60-3943-4F53-A970-A45E64E873A2}"/>
              </a:ext>
            </a:extLst>
          </p:cNvPr>
          <p:cNvSpPr>
            <a:spLocks noGrp="1"/>
          </p:cNvSpPr>
          <p:nvPr/>
        </p:nvSpPr>
        <p:spPr>
          <a:xfrm>
            <a:off x="7275523" y="1622377"/>
            <a:ext cx="76878" cy="31583"/>
          </a:xfrm>
          <a:custGeom>
            <a:avLst/>
            <a:gdLst/>
            <a:ahLst/>
            <a:cxnLst/>
            <a:rect l="l" t="t" r="r" b="b"/>
            <a:pathLst>
              <a:path w="1766" h="725">
                <a:moveTo>
                  <a:pt x="347" y="0"/>
                </a:moveTo>
                <a:cubicBezTo>
                  <a:pt x="158" y="0"/>
                  <a:pt x="1" y="158"/>
                  <a:pt x="1" y="378"/>
                </a:cubicBezTo>
                <a:cubicBezTo>
                  <a:pt x="1" y="567"/>
                  <a:pt x="158" y="725"/>
                  <a:pt x="347" y="725"/>
                </a:cubicBezTo>
                <a:lnTo>
                  <a:pt x="1419" y="725"/>
                </a:lnTo>
                <a:cubicBezTo>
                  <a:pt x="1608" y="725"/>
                  <a:pt x="1765" y="567"/>
                  <a:pt x="1765" y="378"/>
                </a:cubicBezTo>
                <a:cubicBezTo>
                  <a:pt x="1734" y="158"/>
                  <a:pt x="1608" y="0"/>
                  <a:pt x="14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89">
            <a:extLst>
              <a:ext uri="{FF2B5EF4-FFF2-40B4-BE49-F238E27FC236}">
                <a16:creationId xmlns:a16="http://schemas.microsoft.com/office/drawing/2014/main" id="{ABB0144A-C071-4EB8-8039-4E0EAFE19BD2}"/>
              </a:ext>
            </a:extLst>
          </p:cNvPr>
          <p:cNvSpPr>
            <a:spLocks noGrp="1"/>
          </p:cNvSpPr>
          <p:nvPr/>
        </p:nvSpPr>
        <p:spPr>
          <a:xfrm>
            <a:off x="7261321" y="1672672"/>
            <a:ext cx="64515" cy="59007"/>
          </a:xfrm>
          <a:custGeom>
            <a:avLst/>
            <a:gdLst/>
            <a:ahLst/>
            <a:cxnLst/>
            <a:rect l="l" t="t" r="r" b="b"/>
            <a:pathLst>
              <a:path w="1482" h="1355">
                <a:moveTo>
                  <a:pt x="394" y="0"/>
                </a:moveTo>
                <a:cubicBezTo>
                  <a:pt x="308" y="0"/>
                  <a:pt x="221" y="32"/>
                  <a:pt x="158" y="95"/>
                </a:cubicBezTo>
                <a:cubicBezTo>
                  <a:pt x="0" y="221"/>
                  <a:pt x="0" y="410"/>
                  <a:pt x="158" y="567"/>
                </a:cubicBezTo>
                <a:lnTo>
                  <a:pt x="882" y="1260"/>
                </a:lnTo>
                <a:cubicBezTo>
                  <a:pt x="945" y="1323"/>
                  <a:pt x="1032" y="1355"/>
                  <a:pt x="1119" y="1355"/>
                </a:cubicBezTo>
                <a:cubicBezTo>
                  <a:pt x="1205" y="1355"/>
                  <a:pt x="1292" y="1323"/>
                  <a:pt x="1355" y="1260"/>
                </a:cubicBezTo>
                <a:cubicBezTo>
                  <a:pt x="1481" y="1134"/>
                  <a:pt x="1481" y="914"/>
                  <a:pt x="1355" y="788"/>
                </a:cubicBezTo>
                <a:lnTo>
                  <a:pt x="630" y="95"/>
                </a:lnTo>
                <a:cubicBezTo>
                  <a:pt x="567" y="32"/>
                  <a:pt x="481" y="0"/>
                  <a:pt x="39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89">
            <a:extLst>
              <a:ext uri="{FF2B5EF4-FFF2-40B4-BE49-F238E27FC236}">
                <a16:creationId xmlns:a16="http://schemas.microsoft.com/office/drawing/2014/main" id="{DF2157F7-89F4-49EC-A862-CAF7A0FECEBE}"/>
              </a:ext>
            </a:extLst>
          </p:cNvPr>
          <p:cNvSpPr>
            <a:spLocks noGrp="1"/>
          </p:cNvSpPr>
          <p:nvPr/>
        </p:nvSpPr>
        <p:spPr>
          <a:xfrm>
            <a:off x="7263908" y="1543428"/>
            <a:ext cx="61817" cy="60131"/>
          </a:xfrm>
          <a:custGeom>
            <a:avLst/>
            <a:gdLst/>
            <a:ahLst/>
            <a:cxnLst/>
            <a:rect l="l" t="t" r="r" b="b"/>
            <a:pathLst>
              <a:path w="1419" h="1380">
                <a:moveTo>
                  <a:pt x="1056" y="1"/>
                </a:moveTo>
                <a:cubicBezTo>
                  <a:pt x="969" y="1"/>
                  <a:pt x="882" y="32"/>
                  <a:pt x="819" y="96"/>
                </a:cubicBezTo>
                <a:lnTo>
                  <a:pt x="95" y="789"/>
                </a:lnTo>
                <a:cubicBezTo>
                  <a:pt x="0" y="915"/>
                  <a:pt x="0" y="1135"/>
                  <a:pt x="95" y="1261"/>
                </a:cubicBezTo>
                <a:cubicBezTo>
                  <a:pt x="158" y="1340"/>
                  <a:pt x="252" y="1379"/>
                  <a:pt x="343" y="1379"/>
                </a:cubicBezTo>
                <a:cubicBezTo>
                  <a:pt x="434" y="1379"/>
                  <a:pt x="520" y="1340"/>
                  <a:pt x="567" y="1261"/>
                </a:cubicBezTo>
                <a:lnTo>
                  <a:pt x="1292" y="568"/>
                </a:lnTo>
                <a:cubicBezTo>
                  <a:pt x="1418" y="442"/>
                  <a:pt x="1418" y="190"/>
                  <a:pt x="1292" y="96"/>
                </a:cubicBezTo>
                <a:cubicBezTo>
                  <a:pt x="1229" y="32"/>
                  <a:pt x="1142" y="1"/>
                  <a:pt x="105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89">
            <a:extLst>
              <a:ext uri="{FF2B5EF4-FFF2-40B4-BE49-F238E27FC236}">
                <a16:creationId xmlns:a16="http://schemas.microsoft.com/office/drawing/2014/main" id="{520530B8-9B7B-4383-A1C5-5AA50495C4F4}"/>
              </a:ext>
            </a:extLst>
          </p:cNvPr>
          <p:cNvSpPr>
            <a:spLocks noGrp="1"/>
          </p:cNvSpPr>
          <p:nvPr/>
        </p:nvSpPr>
        <p:spPr>
          <a:xfrm>
            <a:off x="6895315" y="1534092"/>
            <a:ext cx="183878" cy="182529"/>
          </a:xfrm>
          <a:custGeom>
            <a:avLst/>
            <a:gdLst/>
            <a:ahLst/>
            <a:cxnLst/>
            <a:rect l="l" t="t" r="r" b="b"/>
            <a:pathLst>
              <a:path w="4222" h="4192">
                <a:moveTo>
                  <a:pt x="2489" y="1"/>
                </a:moveTo>
                <a:cubicBezTo>
                  <a:pt x="2048" y="1"/>
                  <a:pt x="1639" y="285"/>
                  <a:pt x="1481" y="726"/>
                </a:cubicBezTo>
                <a:lnTo>
                  <a:pt x="1418" y="726"/>
                </a:lnTo>
                <a:cubicBezTo>
                  <a:pt x="662" y="726"/>
                  <a:pt x="0" y="1356"/>
                  <a:pt x="0" y="2080"/>
                </a:cubicBezTo>
                <a:cubicBezTo>
                  <a:pt x="0" y="2836"/>
                  <a:pt x="630" y="3467"/>
                  <a:pt x="1418" y="3467"/>
                </a:cubicBezTo>
                <a:lnTo>
                  <a:pt x="1481" y="3467"/>
                </a:lnTo>
                <a:cubicBezTo>
                  <a:pt x="1639" y="3845"/>
                  <a:pt x="2017" y="4191"/>
                  <a:pt x="2489" y="4191"/>
                </a:cubicBezTo>
                <a:lnTo>
                  <a:pt x="4222" y="4191"/>
                </a:lnTo>
                <a:lnTo>
                  <a:pt x="422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89">
            <a:extLst>
              <a:ext uri="{FF2B5EF4-FFF2-40B4-BE49-F238E27FC236}">
                <a16:creationId xmlns:a16="http://schemas.microsoft.com/office/drawing/2014/main" id="{C2D2A745-4F25-4478-8C1D-6ACEC9B059AB}"/>
              </a:ext>
            </a:extLst>
          </p:cNvPr>
          <p:cNvSpPr>
            <a:spLocks noGrp="1"/>
          </p:cNvSpPr>
          <p:nvPr/>
        </p:nvSpPr>
        <p:spPr>
          <a:xfrm>
            <a:off x="7184859" y="1443606"/>
            <a:ext cx="61705" cy="363598"/>
          </a:xfrm>
          <a:custGeom>
            <a:avLst/>
            <a:gdLst/>
            <a:ahLst/>
            <a:cxnLst/>
            <a:rect l="l" t="t" r="r" b="b"/>
            <a:pathLst>
              <a:path w="1418" h="8350">
                <a:moveTo>
                  <a:pt x="725" y="1"/>
                </a:moveTo>
                <a:cubicBezTo>
                  <a:pt x="315" y="1"/>
                  <a:pt x="0" y="316"/>
                  <a:pt x="0" y="694"/>
                </a:cubicBezTo>
                <a:lnTo>
                  <a:pt x="0" y="7625"/>
                </a:lnTo>
                <a:cubicBezTo>
                  <a:pt x="0" y="8034"/>
                  <a:pt x="315" y="8349"/>
                  <a:pt x="725" y="8349"/>
                </a:cubicBezTo>
                <a:cubicBezTo>
                  <a:pt x="1134" y="8286"/>
                  <a:pt x="1418" y="8003"/>
                  <a:pt x="1418" y="7625"/>
                </a:cubicBezTo>
                <a:lnTo>
                  <a:pt x="1418" y="694"/>
                </a:lnTo>
                <a:cubicBezTo>
                  <a:pt x="1418" y="316"/>
                  <a:pt x="1103" y="1"/>
                  <a:pt x="72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89">
            <a:extLst>
              <a:ext uri="{FF2B5EF4-FFF2-40B4-BE49-F238E27FC236}">
                <a16:creationId xmlns:a16="http://schemas.microsoft.com/office/drawing/2014/main" id="{2BBD6331-35B2-415E-A497-2D040CD6FA5A}"/>
              </a:ext>
            </a:extLst>
          </p:cNvPr>
          <p:cNvSpPr>
            <a:spLocks noGrp="1"/>
          </p:cNvSpPr>
          <p:nvPr/>
        </p:nvSpPr>
        <p:spPr>
          <a:xfrm>
            <a:off x="6979209" y="1716734"/>
            <a:ext cx="89242" cy="120712"/>
          </a:xfrm>
          <a:custGeom>
            <a:avLst/>
            <a:gdLst/>
            <a:ahLst/>
            <a:cxnLst/>
            <a:rect l="l" t="t" r="r" b="b"/>
            <a:pathLst>
              <a:path w="2049" h="2773">
                <a:moveTo>
                  <a:pt x="1" y="0"/>
                </a:moveTo>
                <a:lnTo>
                  <a:pt x="1" y="1764"/>
                </a:lnTo>
                <a:cubicBezTo>
                  <a:pt x="1" y="2363"/>
                  <a:pt x="473" y="2773"/>
                  <a:pt x="1040" y="2773"/>
                </a:cubicBezTo>
                <a:cubicBezTo>
                  <a:pt x="1607" y="2773"/>
                  <a:pt x="2048" y="2300"/>
                  <a:pt x="2048" y="1764"/>
                </a:cubicBezTo>
                <a:lnTo>
                  <a:pt x="2048" y="32"/>
                </a:lnTo>
                <a:lnTo>
                  <a:pt x="316" y="32"/>
                </a:lnTo>
                <a:cubicBezTo>
                  <a:pt x="253" y="32"/>
                  <a:pt x="127" y="32"/>
                  <a:pt x="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89">
            <a:extLst>
              <a:ext uri="{FF2B5EF4-FFF2-40B4-BE49-F238E27FC236}">
                <a16:creationId xmlns:a16="http://schemas.microsoft.com/office/drawing/2014/main" id="{F7F04479-C37F-4FFB-8317-F0AC590B10DF}"/>
              </a:ext>
            </a:extLst>
          </p:cNvPr>
          <p:cNvSpPr>
            <a:spLocks noGrp="1"/>
          </p:cNvSpPr>
          <p:nvPr/>
        </p:nvSpPr>
        <p:spPr>
          <a:xfrm>
            <a:off x="7082643" y="1480996"/>
            <a:ext cx="90590" cy="285483"/>
          </a:xfrm>
          <a:custGeom>
            <a:avLst/>
            <a:gdLst/>
            <a:ahLst/>
            <a:cxnLst/>
            <a:rect l="l" t="t" r="r" b="b"/>
            <a:pathLst>
              <a:path w="2080" h="6554">
                <a:moveTo>
                  <a:pt x="2080" y="0"/>
                </a:moveTo>
                <a:lnTo>
                  <a:pt x="1765" y="315"/>
                </a:lnTo>
                <a:cubicBezTo>
                  <a:pt x="1292" y="788"/>
                  <a:pt x="662" y="1071"/>
                  <a:pt x="1" y="1166"/>
                </a:cubicBezTo>
                <a:lnTo>
                  <a:pt x="1" y="5419"/>
                </a:lnTo>
                <a:cubicBezTo>
                  <a:pt x="662" y="5482"/>
                  <a:pt x="1292" y="5766"/>
                  <a:pt x="1765" y="6238"/>
                </a:cubicBezTo>
                <a:lnTo>
                  <a:pt x="2080" y="6553"/>
                </a:lnTo>
                <a:lnTo>
                  <a:pt x="208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Rectangle: Rounded Corners 900">
            <a:extLst>
              <a:ext uri="{FF2B5EF4-FFF2-40B4-BE49-F238E27FC236}">
                <a16:creationId xmlns:a16="http://schemas.microsoft.com/office/drawing/2014/main" id="{BCC593BC-7B82-4130-9C5C-F5E8062E9360}"/>
              </a:ext>
            </a:extLst>
          </p:cNvPr>
          <p:cNvSpPr>
            <a:spLocks noGrp="1"/>
          </p:cNvSpPr>
          <p:nvPr/>
        </p:nvSpPr>
        <p:spPr>
          <a:xfrm>
            <a:off x="1000125" y="3731940"/>
            <a:ext cx="714375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 fontScale="91380"/>
          </a:bodyPr>
          <a:lstStyle/>
          <a:p>
            <a:pPr algn="ctr">
              <a:buNone/>
              <a:defRPr sz="103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3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Ownership xuyên suốt: ứng viên sở hữu dữ liệu cá nhân • recruiter sở hữu quyết định • admin chỉ vận hành.</a:t>
            </a:r>
          </a:p>
        </p:txBody>
      </p:sp>
    </p:spTree>
    <p:extLst>
      <p:ext uri="{BB962C8B-B14F-4D97-AF65-F5344CB8AC3E}">
        <p14:creationId xmlns:p14="http://schemas.microsoft.com/office/powerpoint/2010/main" val="5814433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62">
            <a:extLst>
              <a:ext uri="{FF2B5EF4-FFF2-40B4-BE49-F238E27FC236}">
                <a16:creationId xmlns:a16="http://schemas.microsoft.com/office/drawing/2014/main" id="{D2DEA9EA-4979-40B8-882A-109810B69349}"/>
              </a:ext>
            </a:extLst>
          </p:cNvPr>
          <p:cNvSpPr>
            <a:spLocks noGrp="1"/>
          </p:cNvSpPr>
          <p:nvPr>
            <p:ph type="title" idx="21"/>
          </p:nvPr>
        </p:nvSpPr>
        <p:spPr>
          <a:xfrm>
            <a:off x="2332400" y="445025"/>
            <a:ext cx="44793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Mục tiêu và câu hỏi nghiên cứu</a:t>
            </a:r>
            <a:endParaRPr/>
          </a:p>
        </p:txBody>
      </p:sp>
      <p:sp>
        <p:nvSpPr>
          <p:cNvPr id="530" name="Rectangle: Rounded Corners 529">
            <a:extLst>
              <a:ext uri="{FF2B5EF4-FFF2-40B4-BE49-F238E27FC236}">
                <a16:creationId xmlns:a16="http://schemas.microsoft.com/office/drawing/2014/main" id="{58E150AF-B4CB-4109-A216-0F9DC5E934CE}"/>
              </a:ext>
            </a:extLst>
          </p:cNvPr>
          <p:cNvSpPr>
            <a:spLocks noGrp="1"/>
          </p:cNvSpPr>
          <p:nvPr/>
        </p:nvSpPr>
        <p:spPr>
          <a:xfrm>
            <a:off x="523875" y="1066800"/>
            <a:ext cx="8096250" cy="1581150"/>
          </a:xfrm>
          <a:prstGeom prst="roundRect">
            <a:avLst>
              <a:gd name="adj" fmla="val 4819"/>
            </a:avLst>
          </a:prstGeom>
          <a:solidFill>
            <a:srgbClr val="D7E7F1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531" name="Rectangle: Rounded Corners 530">
            <a:extLst>
              <a:ext uri="{FF2B5EF4-FFF2-40B4-BE49-F238E27FC236}">
                <a16:creationId xmlns:a16="http://schemas.microsoft.com/office/drawing/2014/main" id="{6E3EA538-6A0D-47AA-93A7-50FE083BDE99}"/>
              </a:ext>
            </a:extLst>
          </p:cNvPr>
          <p:cNvSpPr>
            <a:spLocks noGrp="1"/>
          </p:cNvSpPr>
          <p:nvPr/>
        </p:nvSpPr>
        <p:spPr>
          <a:xfrm>
            <a:off x="523875" y="2724150"/>
            <a:ext cx="8096250" cy="1581150"/>
          </a:xfrm>
          <a:prstGeom prst="roundRect">
            <a:avLst>
              <a:gd name="adj" fmla="val 4819"/>
            </a:avLst>
          </a:prstGeom>
          <a:solidFill>
            <a:srgbClr val="E4D9EE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532" name="Straight Connector 531">
            <a:extLst>
              <a:ext uri="{FF2B5EF4-FFF2-40B4-BE49-F238E27FC236}">
                <a16:creationId xmlns:a16="http://schemas.microsoft.com/office/drawing/2014/main" id="{E8D7DF51-71E3-44C1-8FE2-47B706C38560}"/>
              </a:ext>
            </a:extLst>
          </p:cNvPr>
          <p:cNvSpPr>
            <a:spLocks noGrp="1"/>
          </p:cNvSpPr>
          <p:nvPr/>
        </p:nvSpPr>
        <p:spPr>
          <a:xfrm>
            <a:off x="3219450" y="1238250"/>
            <a:ext cx="0" cy="1238250"/>
          </a:xfrm>
          <a:prstGeom prst="line">
            <a:avLst/>
          </a:prstGeom>
          <a:ln w="9525">
            <a:solidFill>
              <a:srgbClr val="8B9589"/>
            </a:solidFill>
            <a:prstDash val="solid"/>
          </a:ln>
        </p:spPr>
      </p:sp>
      <p:sp>
        <p:nvSpPr>
          <p:cNvPr id="533" name="Straight Connector 532">
            <a:extLst>
              <a:ext uri="{FF2B5EF4-FFF2-40B4-BE49-F238E27FC236}">
                <a16:creationId xmlns:a16="http://schemas.microsoft.com/office/drawing/2014/main" id="{9473A34D-7E58-41C3-98D6-CFA8FBF488AB}"/>
              </a:ext>
            </a:extLst>
          </p:cNvPr>
          <p:cNvSpPr>
            <a:spLocks noGrp="1"/>
          </p:cNvSpPr>
          <p:nvPr/>
        </p:nvSpPr>
        <p:spPr>
          <a:xfrm>
            <a:off x="3219450" y="2895600"/>
            <a:ext cx="0" cy="1238250"/>
          </a:xfrm>
          <a:prstGeom prst="line">
            <a:avLst/>
          </a:prstGeom>
          <a:ln w="9525">
            <a:solidFill>
              <a:srgbClr val="8B9589"/>
            </a:solidFill>
            <a:prstDash val="solid"/>
          </a:ln>
        </p:spPr>
      </p:sp>
      <p:sp>
        <p:nvSpPr>
          <p:cNvPr id="534" name="Straight Connector 533">
            <a:extLst>
              <a:ext uri="{FF2B5EF4-FFF2-40B4-BE49-F238E27FC236}">
                <a16:creationId xmlns:a16="http://schemas.microsoft.com/office/drawing/2014/main" id="{952D6E5A-047A-48C5-BCEC-6CEF3641CA47}"/>
              </a:ext>
            </a:extLst>
          </p:cNvPr>
          <p:cNvSpPr>
            <a:spLocks noGrp="1"/>
          </p:cNvSpPr>
          <p:nvPr/>
        </p:nvSpPr>
        <p:spPr>
          <a:xfrm>
            <a:off x="5905500" y="1238250"/>
            <a:ext cx="0" cy="1238250"/>
          </a:xfrm>
          <a:prstGeom prst="line">
            <a:avLst/>
          </a:prstGeom>
          <a:ln w="9525">
            <a:solidFill>
              <a:srgbClr val="8B9589"/>
            </a:solidFill>
            <a:prstDash val="solid"/>
          </a:ln>
        </p:spPr>
      </p:sp>
      <p:sp>
        <p:nvSpPr>
          <p:cNvPr id="535" name="Straight Connector 534">
            <a:extLst>
              <a:ext uri="{FF2B5EF4-FFF2-40B4-BE49-F238E27FC236}">
                <a16:creationId xmlns:a16="http://schemas.microsoft.com/office/drawing/2014/main" id="{11D76DBD-1C7E-4394-94CF-986159E09097}"/>
              </a:ext>
            </a:extLst>
          </p:cNvPr>
          <p:cNvSpPr>
            <a:spLocks noGrp="1"/>
          </p:cNvSpPr>
          <p:nvPr/>
        </p:nvSpPr>
        <p:spPr>
          <a:xfrm>
            <a:off x="5905500" y="2895600"/>
            <a:ext cx="0" cy="1238250"/>
          </a:xfrm>
          <a:prstGeom prst="line">
            <a:avLst/>
          </a:prstGeom>
          <a:ln w="9525">
            <a:solidFill>
              <a:srgbClr val="8B9589"/>
            </a:solidFill>
            <a:prstDash val="solid"/>
          </a:ln>
        </p:spPr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A2E3FCB3-2FF4-4C2F-94B0-06EF59F7B580}"/>
              </a:ext>
            </a:extLst>
          </p:cNvPr>
          <p:cNvSpPr>
            <a:spLocks noGrp="1"/>
          </p:cNvSpPr>
          <p:nvPr/>
        </p:nvSpPr>
        <p:spPr>
          <a:xfrm>
            <a:off x="762000" y="116205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ECDFD7F9-9DD6-4A47-B2A8-D4D8A4CB8D24}"/>
              </a:ext>
            </a:extLst>
          </p:cNvPr>
          <p:cNvSpPr>
            <a:spLocks noGrp="1"/>
          </p:cNvSpPr>
          <p:nvPr/>
        </p:nvSpPr>
        <p:spPr>
          <a:xfrm>
            <a:off x="762000" y="168592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Hai chế độ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6250D77D-7A69-430F-836C-324C51D2DCA5}"/>
              </a:ext>
            </a:extLst>
          </p:cNvPr>
          <p:cNvSpPr>
            <a:spLocks noGrp="1"/>
          </p:cNvSpPr>
          <p:nvPr/>
        </p:nvSpPr>
        <p:spPr>
          <a:xfrm>
            <a:off x="762000" y="213360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Practice và recruitment tách vòng đời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813886F9-EC56-49DC-B95C-301029C17B2D}"/>
              </a:ext>
            </a:extLst>
          </p:cNvPr>
          <p:cNvSpPr>
            <a:spLocks noGrp="1"/>
          </p:cNvSpPr>
          <p:nvPr/>
        </p:nvSpPr>
        <p:spPr>
          <a:xfrm>
            <a:off x="3457575" y="116205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D96BA037-699F-47A1-A0FC-4553F376B589}"/>
              </a:ext>
            </a:extLst>
          </p:cNvPr>
          <p:cNvSpPr>
            <a:spLocks noGrp="1"/>
          </p:cNvSpPr>
          <p:nvPr/>
        </p:nvSpPr>
        <p:spPr>
          <a:xfrm>
            <a:off x="3457575" y="168592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Grounded LLM</a:t>
            </a:r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C9EDC16A-F777-4649-AEDC-E4D5551557AF}"/>
              </a:ext>
            </a:extLst>
          </p:cNvPr>
          <p:cNvSpPr>
            <a:spLocks noGrp="1"/>
          </p:cNvSpPr>
          <p:nvPr/>
        </p:nvSpPr>
        <p:spPr>
          <a:xfrm>
            <a:off x="3457575" y="213360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JD/rule giới hạn output</a:t>
            </a:r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F56296D1-400F-44BB-909C-63CC196D6BAE}"/>
              </a:ext>
            </a:extLst>
          </p:cNvPr>
          <p:cNvSpPr>
            <a:spLocks noGrp="1"/>
          </p:cNvSpPr>
          <p:nvPr/>
        </p:nvSpPr>
        <p:spPr>
          <a:xfrm>
            <a:off x="6153150" y="116205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43" name="Rectangle 542">
            <a:extLst>
              <a:ext uri="{FF2B5EF4-FFF2-40B4-BE49-F238E27FC236}">
                <a16:creationId xmlns:a16="http://schemas.microsoft.com/office/drawing/2014/main" id="{F2927BC7-7AC0-4F51-AD06-52317A88844C}"/>
              </a:ext>
            </a:extLst>
          </p:cNvPr>
          <p:cNvSpPr>
            <a:spLocks noGrp="1"/>
          </p:cNvSpPr>
          <p:nvPr/>
        </p:nvSpPr>
        <p:spPr>
          <a:xfrm>
            <a:off x="6153150" y="168592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Speech an toàn</a:t>
            </a:r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13858425-E988-4D18-A3D8-E27E15BB3296}"/>
              </a:ext>
            </a:extLst>
          </p:cNvPr>
          <p:cNvSpPr>
            <a:spLocks noGrp="1"/>
          </p:cNvSpPr>
          <p:nvPr/>
        </p:nvSpPr>
        <p:spPr>
          <a:xfrm>
            <a:off x="6153150" y="213360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Coaching, không chẩn đoán</a:t>
            </a: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2DD70DB4-82C5-4B3B-85D9-8E6F5F806A97}"/>
              </a:ext>
            </a:extLst>
          </p:cNvPr>
          <p:cNvSpPr>
            <a:spLocks noGrp="1"/>
          </p:cNvSpPr>
          <p:nvPr/>
        </p:nvSpPr>
        <p:spPr>
          <a:xfrm>
            <a:off x="762000" y="281940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EB3B2081-04CB-4FB1-93CC-A8E019A2BC39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Provenance</a:t>
            </a: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E49AADFD-4208-4363-AA04-6CB5FDB3FC1A}"/>
              </a:ext>
            </a:extLst>
          </p:cNvPr>
          <p:cNvSpPr>
            <a:spLocks noGrp="1"/>
          </p:cNvSpPr>
          <p:nvPr/>
        </p:nvSpPr>
        <p:spPr>
          <a:xfrm>
            <a:off x="762000" y="379095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Evidence khác blueprint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011BFC26-1CB1-4058-96C2-19C45FBD38FF}"/>
              </a:ext>
            </a:extLst>
          </p:cNvPr>
          <p:cNvSpPr>
            <a:spLocks noGrp="1"/>
          </p:cNvSpPr>
          <p:nvPr/>
        </p:nvSpPr>
        <p:spPr>
          <a:xfrm>
            <a:off x="3457575" y="281940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43A0E2DE-8862-4BB4-806D-04A174BE1DC2}"/>
              </a:ext>
            </a:extLst>
          </p:cNvPr>
          <p:cNvSpPr>
            <a:spLocks noGrp="1"/>
          </p:cNvSpPr>
          <p:nvPr/>
        </p:nvSpPr>
        <p:spPr>
          <a:xfrm>
            <a:off x="3457575" y="334327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Xác minh</a:t>
            </a: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112E9DBB-1A4F-46BA-AE13-B989BFC9FF7F}"/>
              </a:ext>
            </a:extLst>
          </p:cNvPr>
          <p:cNvSpPr>
            <a:spLocks noGrp="1"/>
          </p:cNvSpPr>
          <p:nvPr/>
        </p:nvSpPr>
        <p:spPr>
          <a:xfrm>
            <a:off x="3457575" y="379095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Test, type check, corpus audit</a:t>
            </a: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37CE0F55-0D19-4446-9541-5DEB62363D4A}"/>
              </a:ext>
            </a:extLst>
          </p:cNvPr>
          <p:cNvSpPr>
            <a:spLocks noGrp="1"/>
          </p:cNvSpPr>
          <p:nvPr/>
        </p:nvSpPr>
        <p:spPr>
          <a:xfrm>
            <a:off x="6153150" y="2819400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6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06</a:t>
            </a:r>
          </a:p>
        </p:txBody>
      </p:sp>
      <p:sp>
        <p:nvSpPr>
          <p:cNvPr id="552" name="Rectangle 551">
            <a:extLst>
              <a:ext uri="{FF2B5EF4-FFF2-40B4-BE49-F238E27FC236}">
                <a16:creationId xmlns:a16="http://schemas.microsoft.com/office/drawing/2014/main" id="{C4A2B91F-8A64-44F1-98E3-D4403A8F3C23}"/>
              </a:ext>
            </a:extLst>
          </p:cNvPr>
          <p:cNvSpPr>
            <a:spLocks noGrp="1"/>
          </p:cNvSpPr>
          <p:nvPr/>
        </p:nvSpPr>
        <p:spPr>
          <a:xfrm>
            <a:off x="6153150" y="3343275"/>
            <a:ext cx="2238375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Ranh giới</a:t>
            </a:r>
          </a:p>
        </p:txBody>
      </p:sp>
      <p:sp>
        <p:nvSpPr>
          <p:cNvPr id="553" name="Rectangle 552">
            <a:extLst>
              <a:ext uri="{FF2B5EF4-FFF2-40B4-BE49-F238E27FC236}">
                <a16:creationId xmlns:a16="http://schemas.microsoft.com/office/drawing/2014/main" id="{4E6F8C12-CDCE-49A1-B2EB-8B7B0294E13F}"/>
              </a:ext>
            </a:extLst>
          </p:cNvPr>
          <p:cNvSpPr>
            <a:spLocks noGrp="1"/>
          </p:cNvSpPr>
          <p:nvPr/>
        </p:nvSpPr>
        <p:spPr>
          <a:xfrm>
            <a:off x="6153150" y="3790950"/>
            <a:ext cx="2238375" cy="4381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Không auto-hire/auto-reject</a:t>
            </a:r>
          </a:p>
        </p:txBody>
      </p:sp>
    </p:spTree>
    <p:extLst>
      <p:ext uri="{BB962C8B-B14F-4D97-AF65-F5344CB8AC3E}">
        <p14:creationId xmlns:p14="http://schemas.microsoft.com/office/powerpoint/2010/main" val="10488725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109">
            <a:extLst>
              <a:ext uri="{FF2B5EF4-FFF2-40B4-BE49-F238E27FC236}">
                <a16:creationId xmlns:a16="http://schemas.microsoft.com/office/drawing/2014/main" id="{81C3B06F-B2DB-4E73-BBD9-BBC1B0354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5" y="444818"/>
            <a:ext cx="7715250" cy="57340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Phạm vi đề tài được khóa bằng bốn nguyên tắc</a:t>
            </a:r>
            <a:endParaRPr/>
          </a:p>
        </p:txBody>
      </p:sp>
      <p:sp>
        <p:nvSpPr>
          <p:cNvPr id="1430" name="Rectangle: Rounded Corners 1429">
            <a:extLst>
              <a:ext uri="{FF2B5EF4-FFF2-40B4-BE49-F238E27FC236}">
                <a16:creationId xmlns:a16="http://schemas.microsoft.com/office/drawing/2014/main" id="{C9FB1F3B-BF0A-46EC-8C0A-D72212826F6A}"/>
              </a:ext>
            </a:extLst>
          </p:cNvPr>
          <p:cNvSpPr>
            <a:spLocks noGrp="1"/>
          </p:cNvSpPr>
          <p:nvPr/>
        </p:nvSpPr>
        <p:spPr>
          <a:xfrm>
            <a:off x="1000125" y="4171950"/>
            <a:ext cx="714375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/>
          </a:bodyPr>
          <a:lstStyle/>
          <a:p>
            <a:pPr algn="ctr">
              <a:buNone/>
              <a:def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Ngoài phạm vi: chẩn đoán tâm lý • auto-hire/auto-reject • tuyên bố validity/fairness.</a:t>
            </a:r>
          </a:p>
        </p:txBody>
      </p:sp>
      <p:sp>
        <p:nvSpPr>
          <p:cNvPr id="1431" name="Rectangle: Rounded Corners 1430">
            <a:extLst>
              <a:ext uri="{FF2B5EF4-FFF2-40B4-BE49-F238E27FC236}">
                <a16:creationId xmlns:a16="http://schemas.microsoft.com/office/drawing/2014/main" id="{18B41C06-F960-4316-BC69-607E75D8CC0D}"/>
              </a:ext>
            </a:extLst>
          </p:cNvPr>
          <p:cNvSpPr>
            <a:spLocks noGrp="1"/>
          </p:cNvSpPr>
          <p:nvPr/>
        </p:nvSpPr>
        <p:spPr>
          <a:xfrm>
            <a:off x="1333500" y="1181750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D7E7F1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2" name="Rectangle: Rounded Corners 1431">
            <a:extLst>
              <a:ext uri="{FF2B5EF4-FFF2-40B4-BE49-F238E27FC236}">
                <a16:creationId xmlns:a16="http://schemas.microsoft.com/office/drawing/2014/main" id="{8823EA72-F300-4B73-9CCB-2AB97F7DDE8E}"/>
              </a:ext>
            </a:extLst>
          </p:cNvPr>
          <p:cNvSpPr>
            <a:spLocks noGrp="1"/>
          </p:cNvSpPr>
          <p:nvPr/>
        </p:nvSpPr>
        <p:spPr>
          <a:xfrm>
            <a:off x="4667250" y="1181750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F7EDC8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3" name="Rectangle: Rounded Corners 1432">
            <a:extLst>
              <a:ext uri="{FF2B5EF4-FFF2-40B4-BE49-F238E27FC236}">
                <a16:creationId xmlns:a16="http://schemas.microsoft.com/office/drawing/2014/main" id="{ECD13966-D509-4115-824C-53B4C7A16ADB}"/>
              </a:ext>
            </a:extLst>
          </p:cNvPr>
          <p:cNvSpPr>
            <a:spLocks noGrp="1"/>
          </p:cNvSpPr>
          <p:nvPr/>
        </p:nvSpPr>
        <p:spPr>
          <a:xfrm>
            <a:off x="1333500" y="2600975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E4D9EE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4" name="Rectangle: Rounded Corners 1433">
            <a:extLst>
              <a:ext uri="{FF2B5EF4-FFF2-40B4-BE49-F238E27FC236}">
                <a16:creationId xmlns:a16="http://schemas.microsoft.com/office/drawing/2014/main" id="{211E0FC5-6EE0-4F1B-8170-4EED0404D89C}"/>
              </a:ext>
            </a:extLst>
          </p:cNvPr>
          <p:cNvSpPr>
            <a:spLocks noGrp="1"/>
          </p:cNvSpPr>
          <p:nvPr/>
        </p:nvSpPr>
        <p:spPr>
          <a:xfrm>
            <a:off x="4667250" y="2600975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DFF0D6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5" name="Rectangle 1434">
            <a:extLst>
              <a:ext uri="{FF2B5EF4-FFF2-40B4-BE49-F238E27FC236}">
                <a16:creationId xmlns:a16="http://schemas.microsoft.com/office/drawing/2014/main" id="{7A16259D-ACAC-4DB0-A387-E2AC6C9B9E0E}"/>
              </a:ext>
            </a:extLst>
          </p:cNvPr>
          <p:cNvSpPr>
            <a:spLocks noGrp="1"/>
          </p:cNvSpPr>
          <p:nvPr/>
        </p:nvSpPr>
        <p:spPr>
          <a:xfrm>
            <a:off x="1543050" y="1353200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436" name="Rectangle 1435">
            <a:extLst>
              <a:ext uri="{FF2B5EF4-FFF2-40B4-BE49-F238E27FC236}">
                <a16:creationId xmlns:a16="http://schemas.microsoft.com/office/drawing/2014/main" id="{C950603F-FA8A-4BAA-AAE2-1FF3C2D1E589}"/>
              </a:ext>
            </a:extLst>
          </p:cNvPr>
          <p:cNvSpPr>
            <a:spLocks noGrp="1"/>
          </p:cNvSpPr>
          <p:nvPr/>
        </p:nvSpPr>
        <p:spPr>
          <a:xfrm>
            <a:off x="2114550" y="1372250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Evidence-first</a:t>
            </a:r>
          </a:p>
        </p:txBody>
      </p:sp>
      <p:sp>
        <p:nvSpPr>
          <p:cNvPr id="1437" name="Rectangle 1436">
            <a:extLst>
              <a:ext uri="{FF2B5EF4-FFF2-40B4-BE49-F238E27FC236}">
                <a16:creationId xmlns:a16="http://schemas.microsoft.com/office/drawing/2014/main" id="{E4BEB2E5-B7B8-43C0-A4A7-72BE5CF7E85A}"/>
              </a:ext>
            </a:extLst>
          </p:cNvPr>
          <p:cNvSpPr>
            <a:spLocks noGrp="1"/>
          </p:cNvSpPr>
          <p:nvPr/>
        </p:nvSpPr>
        <p:spPr>
          <a:xfrm>
            <a:off x="2114550" y="1800875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Output quan trọng nối về JD/rule có ID.</a:t>
            </a:r>
          </a:p>
        </p:txBody>
      </p:sp>
      <p:sp>
        <p:nvSpPr>
          <p:cNvPr id="1438" name="Rectangle 1437">
            <a:extLst>
              <a:ext uri="{FF2B5EF4-FFF2-40B4-BE49-F238E27FC236}">
                <a16:creationId xmlns:a16="http://schemas.microsoft.com/office/drawing/2014/main" id="{A3BFC16E-DAC6-4C45-97D1-8A4146D04865}"/>
              </a:ext>
            </a:extLst>
          </p:cNvPr>
          <p:cNvSpPr>
            <a:spLocks noGrp="1"/>
          </p:cNvSpPr>
          <p:nvPr/>
        </p:nvSpPr>
        <p:spPr>
          <a:xfrm>
            <a:off x="4876800" y="1353200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439" name="Rectangle 1438">
            <a:extLst>
              <a:ext uri="{FF2B5EF4-FFF2-40B4-BE49-F238E27FC236}">
                <a16:creationId xmlns:a16="http://schemas.microsoft.com/office/drawing/2014/main" id="{A49DB4B7-2C69-4A88-B281-532EFEEA3DBC}"/>
              </a:ext>
            </a:extLst>
          </p:cNvPr>
          <p:cNvSpPr>
            <a:spLocks noGrp="1"/>
          </p:cNvSpPr>
          <p:nvPr/>
        </p:nvSpPr>
        <p:spPr>
          <a:xfrm>
            <a:off x="5448300" y="1372250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Human-in-the-loop</a:t>
            </a:r>
          </a:p>
        </p:txBody>
      </p:sp>
      <p:sp>
        <p:nvSpPr>
          <p:cNvPr id="1440" name="Rectangle 1439">
            <a:extLst>
              <a:ext uri="{FF2B5EF4-FFF2-40B4-BE49-F238E27FC236}">
                <a16:creationId xmlns:a16="http://schemas.microsoft.com/office/drawing/2014/main" id="{CED41F0D-2B13-4415-8337-C178723F1218}"/>
              </a:ext>
            </a:extLst>
          </p:cNvPr>
          <p:cNvSpPr>
            <a:spLocks noGrp="1"/>
          </p:cNvSpPr>
          <p:nvPr/>
        </p:nvSpPr>
        <p:spPr>
          <a:xfrm>
            <a:off x="5448300" y="1800875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Recruiter giữ quyết định cuối.</a:t>
            </a:r>
          </a:p>
        </p:txBody>
      </p:sp>
      <p:sp>
        <p:nvSpPr>
          <p:cNvPr id="1441" name="Rectangle 1440">
            <a:extLst>
              <a:ext uri="{FF2B5EF4-FFF2-40B4-BE49-F238E27FC236}">
                <a16:creationId xmlns:a16="http://schemas.microsoft.com/office/drawing/2014/main" id="{DF9ADE30-23A7-4EB6-85FF-AF2D45F389AA}"/>
              </a:ext>
            </a:extLst>
          </p:cNvPr>
          <p:cNvSpPr>
            <a:spLocks noGrp="1"/>
          </p:cNvSpPr>
          <p:nvPr/>
        </p:nvSpPr>
        <p:spPr>
          <a:xfrm>
            <a:off x="1543050" y="2772425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42" name="Rectangle 1441">
            <a:extLst>
              <a:ext uri="{FF2B5EF4-FFF2-40B4-BE49-F238E27FC236}">
                <a16:creationId xmlns:a16="http://schemas.microsoft.com/office/drawing/2014/main" id="{FC779CB5-3CF1-4B66-998C-7E6DAE611119}"/>
              </a:ext>
            </a:extLst>
          </p:cNvPr>
          <p:cNvSpPr>
            <a:spLocks noGrp="1"/>
          </p:cNvSpPr>
          <p:nvPr/>
        </p:nvSpPr>
        <p:spPr>
          <a:xfrm>
            <a:off x="2114550" y="2791475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Observation only</a:t>
            </a:r>
          </a:p>
        </p:txBody>
      </p:sp>
      <p:sp>
        <p:nvSpPr>
          <p:cNvPr id="1443" name="Rectangle 1442">
            <a:extLst>
              <a:ext uri="{FF2B5EF4-FFF2-40B4-BE49-F238E27FC236}">
                <a16:creationId xmlns:a16="http://schemas.microsoft.com/office/drawing/2014/main" id="{1D661C5E-DE1A-4977-A2EE-5B9168860C31}"/>
              </a:ext>
            </a:extLst>
          </p:cNvPr>
          <p:cNvSpPr>
            <a:spLocks noGrp="1"/>
          </p:cNvSpPr>
          <p:nvPr/>
        </p:nvSpPr>
        <p:spPr>
          <a:xfrm>
            <a:off x="2114550" y="3220100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Emotion chỉ mô tả tín hiệu.</a:t>
            </a:r>
          </a:p>
        </p:txBody>
      </p:sp>
      <p:sp>
        <p:nvSpPr>
          <p:cNvPr id="1444" name="Rectangle 1443">
            <a:extLst>
              <a:ext uri="{FF2B5EF4-FFF2-40B4-BE49-F238E27FC236}">
                <a16:creationId xmlns:a16="http://schemas.microsoft.com/office/drawing/2014/main" id="{4922484F-F0D5-4222-ACAD-2EEE6118A791}"/>
              </a:ext>
            </a:extLst>
          </p:cNvPr>
          <p:cNvSpPr>
            <a:spLocks noGrp="1"/>
          </p:cNvSpPr>
          <p:nvPr/>
        </p:nvSpPr>
        <p:spPr>
          <a:xfrm>
            <a:off x="4876800" y="2772425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445" name="Rectangle 1444">
            <a:extLst>
              <a:ext uri="{FF2B5EF4-FFF2-40B4-BE49-F238E27FC236}">
                <a16:creationId xmlns:a16="http://schemas.microsoft.com/office/drawing/2014/main" id="{C99CE58D-0A35-439E-BFCC-54B51AB0018A}"/>
              </a:ext>
            </a:extLst>
          </p:cNvPr>
          <p:cNvSpPr>
            <a:spLocks noGrp="1"/>
          </p:cNvSpPr>
          <p:nvPr/>
        </p:nvSpPr>
        <p:spPr>
          <a:xfrm>
            <a:off x="5448300" y="2791475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Đúng mức bằng chứng</a:t>
            </a:r>
          </a:p>
        </p:txBody>
      </p:sp>
      <p:sp>
        <p:nvSpPr>
          <p:cNvPr id="1446" name="Rectangle 1445">
            <a:extLst>
              <a:ext uri="{FF2B5EF4-FFF2-40B4-BE49-F238E27FC236}">
                <a16:creationId xmlns:a16="http://schemas.microsoft.com/office/drawing/2014/main" id="{A1B2481C-6117-4A9E-9C2F-D65F945F3C80}"/>
              </a:ext>
            </a:extLst>
          </p:cNvPr>
          <p:cNvSpPr>
            <a:spLocks noGrp="1"/>
          </p:cNvSpPr>
          <p:nvPr/>
        </p:nvSpPr>
        <p:spPr>
          <a:xfrm>
            <a:off x="5448300" y="3220100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Kỹ thuật không đồng nghĩa validity/fairness.</a:t>
            </a:r>
          </a:p>
        </p:txBody>
      </p:sp>
    </p:spTree>
    <p:extLst>
      <p:ext uri="{BB962C8B-B14F-4D97-AF65-F5344CB8AC3E}">
        <p14:creationId xmlns:p14="http://schemas.microsoft.com/office/powerpoint/2010/main" val="5746264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p105">
            <a:extLst>
              <a:ext uri="{FF2B5EF4-FFF2-40B4-BE49-F238E27FC236}">
                <a16:creationId xmlns:a16="http://schemas.microsoft.com/office/drawing/2014/main" id="{EC3029BD-D45B-40CB-B296-C633F6AF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7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Phương pháp tách rõ “chạy đúng” và “đo lường có hiệu lực”</a:t>
            </a:r>
            <a:endParaRPr/>
          </a:p>
        </p:txBody>
      </p:sp>
      <p:sp>
        <p:nvSpPr>
          <p:cNvPr id="1294" name="Google Shape;1294;p105">
            <a:extLst>
              <a:ext uri="{FF2B5EF4-FFF2-40B4-BE49-F238E27FC236}">
                <a16:creationId xmlns:a16="http://schemas.microsoft.com/office/drawing/2014/main" id="{A9006E6A-A2C3-48DA-AF38-5578B9925EE9}"/>
              </a:ext>
            </a:extLst>
          </p:cNvPr>
          <p:cNvSpPr>
            <a:spLocks noGrp="1"/>
          </p:cNvSpPr>
          <p:nvPr/>
        </p:nvSpPr>
        <p:spPr>
          <a:xfrm>
            <a:off x="1091616" y="3120395"/>
            <a:ext cx="18282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Thiết kế hệ thống</a:t>
            </a:r>
            <a:endParaRPr sz="24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1295" name="Google Shape;1295;p105">
            <a:extLst>
              <a:ext uri="{FF2B5EF4-FFF2-40B4-BE49-F238E27FC236}">
                <a16:creationId xmlns:a16="http://schemas.microsoft.com/office/drawing/2014/main" id="{51896301-E24A-4B6A-A0EA-8EE9F6E82100}"/>
              </a:ext>
            </a:extLst>
          </p:cNvPr>
          <p:cNvSpPr>
            <a:spLocks noGrp="1"/>
          </p:cNvSpPr>
          <p:nvPr/>
        </p:nvSpPr>
        <p:spPr>
          <a:xfrm>
            <a:off x="1091638" y="3460395"/>
            <a:ext cx="16662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Kiến trúc, pipeline, state và sequence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296" name="Google Shape;1296;p105">
            <a:extLst>
              <a:ext uri="{FF2B5EF4-FFF2-40B4-BE49-F238E27FC236}">
                <a16:creationId xmlns:a16="http://schemas.microsoft.com/office/drawing/2014/main" id="{E80558BA-CF2E-4D63-AD64-FAC066F173E1}"/>
              </a:ext>
            </a:extLst>
          </p:cNvPr>
          <p:cNvSpPr>
            <a:spLocks noGrp="1"/>
          </p:cNvSpPr>
          <p:nvPr/>
        </p:nvSpPr>
        <p:spPr>
          <a:xfrm>
            <a:off x="1091538" y="1553545"/>
            <a:ext cx="18282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Tổng quan tài liệu</a:t>
            </a:r>
            <a:endParaRPr sz="24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1297" name="Google Shape;1297;p105">
            <a:extLst>
              <a:ext uri="{FF2B5EF4-FFF2-40B4-BE49-F238E27FC236}">
                <a16:creationId xmlns:a16="http://schemas.microsoft.com/office/drawing/2014/main" id="{86BC7F8C-6B29-42D7-B9B0-1D4F7C192B2C}"/>
              </a:ext>
            </a:extLst>
          </p:cNvPr>
          <p:cNvSpPr>
            <a:spLocks noGrp="1"/>
          </p:cNvSpPr>
          <p:nvPr/>
        </p:nvSpPr>
        <p:spPr>
          <a:xfrm>
            <a:off x="1091638" y="1893545"/>
            <a:ext cx="16662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Structured interview, STAR, BARS, AI governance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298" name="Google Shape;1298;p105">
            <a:extLst>
              <a:ext uri="{FF2B5EF4-FFF2-40B4-BE49-F238E27FC236}">
                <a16:creationId xmlns:a16="http://schemas.microsoft.com/office/drawing/2014/main" id="{798B4E45-EAB6-45E9-81F8-39BC4F828ED3}"/>
              </a:ext>
            </a:extLst>
          </p:cNvPr>
          <p:cNvSpPr>
            <a:spLocks noGrp="1"/>
          </p:cNvSpPr>
          <p:nvPr/>
        </p:nvSpPr>
        <p:spPr>
          <a:xfrm>
            <a:off x="6386313" y="3120395"/>
            <a:ext cx="18282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Xác minh kỹ thuật</a:t>
            </a:r>
            <a:endParaRPr sz="24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1299" name="Google Shape;1299;p105">
            <a:extLst>
              <a:ext uri="{FF2B5EF4-FFF2-40B4-BE49-F238E27FC236}">
                <a16:creationId xmlns:a16="http://schemas.microsoft.com/office/drawing/2014/main" id="{39BB978A-6D0F-4156-A8CD-33B8977EE45B}"/>
              </a:ext>
            </a:extLst>
          </p:cNvPr>
          <p:cNvSpPr>
            <a:spLocks noGrp="1"/>
          </p:cNvSpPr>
          <p:nvPr/>
        </p:nvSpPr>
        <p:spPr>
          <a:xfrm>
            <a:off x="6548288" y="3460395"/>
            <a:ext cx="16662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Unit/contract test, type check, corpus audit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00" name="Google Shape;1300;p105">
            <a:extLst>
              <a:ext uri="{FF2B5EF4-FFF2-40B4-BE49-F238E27FC236}">
                <a16:creationId xmlns:a16="http://schemas.microsoft.com/office/drawing/2014/main" id="{CAD910C1-019F-40CA-BEBC-EA4BAEDFAD95}"/>
              </a:ext>
            </a:extLst>
          </p:cNvPr>
          <p:cNvSpPr>
            <a:spLocks noGrp="1"/>
          </p:cNvSpPr>
          <p:nvPr/>
        </p:nvSpPr>
        <p:spPr>
          <a:xfrm>
            <a:off x="6386313" y="1553545"/>
            <a:ext cx="18282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Audit hiện vật</a:t>
            </a:r>
            <a:endParaRPr sz="24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1301" name="Google Shape;1301;p105">
            <a:extLst>
              <a:ext uri="{FF2B5EF4-FFF2-40B4-BE49-F238E27FC236}">
                <a16:creationId xmlns:a16="http://schemas.microsoft.com/office/drawing/2014/main" id="{BA619B4B-CC4D-4634-8D7D-C601A02935D5}"/>
              </a:ext>
            </a:extLst>
          </p:cNvPr>
          <p:cNvSpPr>
            <a:spLocks noGrp="1"/>
          </p:cNvSpPr>
          <p:nvPr/>
        </p:nvSpPr>
        <p:spPr>
          <a:xfrm>
            <a:off x="6548263" y="1893545"/>
            <a:ext cx="16662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Route, model, proto, service, rule và test</a:t>
            </a:r>
            <a:endParaRPr>
              <a:solidFill>
                <a:schemeClr val="dk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04" name="Google Shape;1304;p105">
            <a:extLst>
              <a:ext uri="{FF2B5EF4-FFF2-40B4-BE49-F238E27FC236}">
                <a16:creationId xmlns:a16="http://schemas.microsoft.com/office/drawing/2014/main" id="{CB87D105-33F6-4AB0-BB92-600B6771906D}"/>
              </a:ext>
            </a:extLst>
          </p:cNvPr>
          <p:cNvSpPr>
            <a:spLocks noGrp="1"/>
          </p:cNvSpPr>
          <p:nvPr/>
        </p:nvSpPr>
        <p:spPr>
          <a:xfrm>
            <a:off x="3730408" y="1788269"/>
            <a:ext cx="2007300" cy="2007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6" name="Google Shape;1306;p105">
            <a:extLst>
              <a:ext uri="{FF2B5EF4-FFF2-40B4-BE49-F238E27FC236}">
                <a16:creationId xmlns:a16="http://schemas.microsoft.com/office/drawing/2014/main" id="{CF3CB00F-26AC-4360-B0C1-067F5A0BFD1C}"/>
              </a:ext>
            </a:extLst>
          </p:cNvPr>
          <p:cNvSpPr>
            <a:spLocks noGrp="1"/>
          </p:cNvSpPr>
          <p:nvPr/>
        </p:nvSpPr>
        <p:spPr>
          <a:xfrm>
            <a:off x="4629246" y="2442561"/>
            <a:ext cx="204398" cy="204398"/>
          </a:xfrm>
          <a:custGeom>
            <a:avLst/>
            <a:gdLst/>
            <a:ahLst/>
            <a:cxnLst/>
            <a:rect l="l" t="t" r="r" b="b"/>
            <a:pathLst>
              <a:path w="3466" h="3466">
                <a:moveTo>
                  <a:pt x="1733" y="0"/>
                </a:moveTo>
                <a:cubicBezTo>
                  <a:pt x="788" y="0"/>
                  <a:pt x="0" y="788"/>
                  <a:pt x="0" y="1733"/>
                </a:cubicBezTo>
                <a:cubicBezTo>
                  <a:pt x="0" y="2678"/>
                  <a:pt x="788" y="3466"/>
                  <a:pt x="1733" y="3466"/>
                </a:cubicBezTo>
                <a:cubicBezTo>
                  <a:pt x="2678" y="3466"/>
                  <a:pt x="3466" y="2678"/>
                  <a:pt x="3466" y="1733"/>
                </a:cubicBezTo>
                <a:cubicBezTo>
                  <a:pt x="3466" y="788"/>
                  <a:pt x="2678" y="0"/>
                  <a:pt x="173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7" name="Google Shape;1307;p105">
            <a:extLst>
              <a:ext uri="{FF2B5EF4-FFF2-40B4-BE49-F238E27FC236}">
                <a16:creationId xmlns:a16="http://schemas.microsoft.com/office/drawing/2014/main" id="{B03AF90B-BC4E-4722-8645-2E702FEE727B}"/>
              </a:ext>
            </a:extLst>
          </p:cNvPr>
          <p:cNvSpPr>
            <a:spLocks noGrp="1"/>
          </p:cNvSpPr>
          <p:nvPr/>
        </p:nvSpPr>
        <p:spPr>
          <a:xfrm>
            <a:off x="4383980" y="2851299"/>
            <a:ext cx="700534" cy="289908"/>
          </a:xfrm>
          <a:custGeom>
            <a:avLst/>
            <a:gdLst/>
            <a:ahLst/>
            <a:cxnLst/>
            <a:rect l="l" t="t" r="r" b="b"/>
            <a:pathLst>
              <a:path w="11879" h="4916">
                <a:moveTo>
                  <a:pt x="694" y="0"/>
                </a:moveTo>
                <a:cubicBezTo>
                  <a:pt x="316" y="0"/>
                  <a:pt x="1" y="315"/>
                  <a:pt x="1" y="693"/>
                </a:cubicBezTo>
                <a:cubicBezTo>
                  <a:pt x="1" y="1103"/>
                  <a:pt x="316" y="1418"/>
                  <a:pt x="694" y="1418"/>
                </a:cubicBezTo>
                <a:lnTo>
                  <a:pt x="694" y="4569"/>
                </a:lnTo>
                <a:cubicBezTo>
                  <a:pt x="694" y="4758"/>
                  <a:pt x="851" y="4915"/>
                  <a:pt x="1040" y="4915"/>
                </a:cubicBezTo>
                <a:lnTo>
                  <a:pt x="10807" y="4915"/>
                </a:lnTo>
                <a:cubicBezTo>
                  <a:pt x="11028" y="4915"/>
                  <a:pt x="11185" y="4758"/>
                  <a:pt x="11185" y="4569"/>
                </a:cubicBezTo>
                <a:lnTo>
                  <a:pt x="11185" y="1418"/>
                </a:lnTo>
                <a:cubicBezTo>
                  <a:pt x="11563" y="1418"/>
                  <a:pt x="11878" y="1103"/>
                  <a:pt x="11878" y="693"/>
                </a:cubicBezTo>
                <a:cubicBezTo>
                  <a:pt x="11815" y="315"/>
                  <a:pt x="11500" y="0"/>
                  <a:pt x="1112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8" name="Google Shape;1308;p105">
            <a:extLst>
              <a:ext uri="{FF2B5EF4-FFF2-40B4-BE49-F238E27FC236}">
                <a16:creationId xmlns:a16="http://schemas.microsoft.com/office/drawing/2014/main" id="{E0FE45A0-FE08-4ECF-9CB9-F6C8A99840B8}"/>
              </a:ext>
            </a:extLst>
          </p:cNvPr>
          <p:cNvSpPr>
            <a:spLocks noGrp="1"/>
          </p:cNvSpPr>
          <p:nvPr/>
        </p:nvSpPr>
        <p:spPr>
          <a:xfrm>
            <a:off x="4861480" y="2526184"/>
            <a:ext cx="176563" cy="286134"/>
          </a:xfrm>
          <a:custGeom>
            <a:avLst/>
            <a:gdLst/>
            <a:ahLst/>
            <a:cxnLst/>
            <a:rect l="l" t="t" r="r" b="b"/>
            <a:pathLst>
              <a:path w="2994" h="4852">
                <a:moveTo>
                  <a:pt x="190" y="0"/>
                </a:moveTo>
                <a:cubicBezTo>
                  <a:pt x="190" y="126"/>
                  <a:pt x="253" y="221"/>
                  <a:pt x="253" y="347"/>
                </a:cubicBezTo>
                <a:cubicBezTo>
                  <a:pt x="253" y="693"/>
                  <a:pt x="158" y="1071"/>
                  <a:pt x="1" y="1386"/>
                </a:cubicBezTo>
                <a:cubicBezTo>
                  <a:pt x="977" y="2079"/>
                  <a:pt x="1607" y="3182"/>
                  <a:pt x="1607" y="4474"/>
                </a:cubicBezTo>
                <a:lnTo>
                  <a:pt x="1607" y="4852"/>
                </a:lnTo>
                <a:lnTo>
                  <a:pt x="2994" y="4852"/>
                </a:lnTo>
                <a:lnTo>
                  <a:pt x="2489" y="756"/>
                </a:lnTo>
                <a:cubicBezTo>
                  <a:pt x="2363" y="315"/>
                  <a:pt x="1922" y="0"/>
                  <a:pt x="145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9" name="Google Shape;1309;p105">
            <a:extLst>
              <a:ext uri="{FF2B5EF4-FFF2-40B4-BE49-F238E27FC236}">
                <a16:creationId xmlns:a16="http://schemas.microsoft.com/office/drawing/2014/main" id="{88CCB582-E7B4-4768-83C1-D4C4C3CB1513}"/>
              </a:ext>
            </a:extLst>
          </p:cNvPr>
          <p:cNvSpPr>
            <a:spLocks noGrp="1"/>
          </p:cNvSpPr>
          <p:nvPr/>
        </p:nvSpPr>
        <p:spPr>
          <a:xfrm>
            <a:off x="4424848" y="2526184"/>
            <a:ext cx="176563" cy="286134"/>
          </a:xfrm>
          <a:custGeom>
            <a:avLst/>
            <a:gdLst/>
            <a:ahLst/>
            <a:cxnLst/>
            <a:rect l="l" t="t" r="r" b="b"/>
            <a:pathLst>
              <a:path w="2994" h="4852">
                <a:moveTo>
                  <a:pt x="1545" y="0"/>
                </a:moveTo>
                <a:cubicBezTo>
                  <a:pt x="1072" y="0"/>
                  <a:pt x="663" y="315"/>
                  <a:pt x="505" y="788"/>
                </a:cubicBezTo>
                <a:lnTo>
                  <a:pt x="1" y="4852"/>
                </a:lnTo>
                <a:lnTo>
                  <a:pt x="1356" y="4852"/>
                </a:lnTo>
                <a:lnTo>
                  <a:pt x="1356" y="4474"/>
                </a:lnTo>
                <a:lnTo>
                  <a:pt x="1387" y="4474"/>
                </a:lnTo>
                <a:cubicBezTo>
                  <a:pt x="1387" y="3182"/>
                  <a:pt x="2017" y="2048"/>
                  <a:pt x="2994" y="1386"/>
                </a:cubicBezTo>
                <a:cubicBezTo>
                  <a:pt x="2836" y="1071"/>
                  <a:pt x="2773" y="693"/>
                  <a:pt x="2773" y="347"/>
                </a:cubicBezTo>
                <a:cubicBezTo>
                  <a:pt x="2773" y="221"/>
                  <a:pt x="2773" y="95"/>
                  <a:pt x="2805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0" name="Google Shape;1310;p105">
            <a:extLst>
              <a:ext uri="{FF2B5EF4-FFF2-40B4-BE49-F238E27FC236}">
                <a16:creationId xmlns:a16="http://schemas.microsoft.com/office/drawing/2014/main" id="{0CEE7A8B-85BE-4BEA-B014-D48D69CF388E}"/>
              </a:ext>
            </a:extLst>
          </p:cNvPr>
          <p:cNvSpPr>
            <a:spLocks noGrp="1"/>
          </p:cNvSpPr>
          <p:nvPr/>
        </p:nvSpPr>
        <p:spPr>
          <a:xfrm>
            <a:off x="4748135" y="2639470"/>
            <a:ext cx="167304" cy="167304"/>
          </a:xfrm>
          <a:custGeom>
            <a:avLst/>
            <a:gdLst/>
            <a:ahLst/>
            <a:cxnLst/>
            <a:rect l="l" t="t" r="r" b="b"/>
            <a:pathLst>
              <a:path w="2837" h="2837">
                <a:moveTo>
                  <a:pt x="1482" y="1"/>
                </a:moveTo>
                <a:cubicBezTo>
                  <a:pt x="1450" y="32"/>
                  <a:pt x="1418" y="64"/>
                  <a:pt x="1324" y="127"/>
                </a:cubicBezTo>
                <a:cubicBezTo>
                  <a:pt x="1324" y="190"/>
                  <a:pt x="1292" y="253"/>
                  <a:pt x="1261" y="284"/>
                </a:cubicBezTo>
                <a:lnTo>
                  <a:pt x="1" y="1923"/>
                </a:lnTo>
                <a:lnTo>
                  <a:pt x="1" y="2836"/>
                </a:lnTo>
                <a:lnTo>
                  <a:pt x="2742" y="2836"/>
                </a:lnTo>
                <a:lnTo>
                  <a:pt x="2742" y="2553"/>
                </a:lnTo>
                <a:lnTo>
                  <a:pt x="2836" y="2553"/>
                </a:lnTo>
                <a:cubicBezTo>
                  <a:pt x="2836" y="1513"/>
                  <a:pt x="2332" y="599"/>
                  <a:pt x="148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1" name="Google Shape;1311;p105">
            <a:extLst>
              <a:ext uri="{FF2B5EF4-FFF2-40B4-BE49-F238E27FC236}">
                <a16:creationId xmlns:a16="http://schemas.microsoft.com/office/drawing/2014/main" id="{50F0A281-4FC4-4746-8FF5-0FCF85A3C4D5}"/>
              </a:ext>
            </a:extLst>
          </p:cNvPr>
          <p:cNvSpPr>
            <a:spLocks noGrp="1"/>
          </p:cNvSpPr>
          <p:nvPr/>
        </p:nvSpPr>
        <p:spPr>
          <a:xfrm>
            <a:off x="4543795" y="2641357"/>
            <a:ext cx="167245" cy="172848"/>
          </a:xfrm>
          <a:custGeom>
            <a:avLst/>
            <a:gdLst/>
            <a:ahLst/>
            <a:cxnLst/>
            <a:rect l="l" t="t" r="r" b="b"/>
            <a:pathLst>
              <a:path w="2836" h="2931">
                <a:moveTo>
                  <a:pt x="1323" y="0"/>
                </a:moveTo>
                <a:cubicBezTo>
                  <a:pt x="536" y="567"/>
                  <a:pt x="0" y="1513"/>
                  <a:pt x="0" y="2584"/>
                </a:cubicBezTo>
                <a:lnTo>
                  <a:pt x="0" y="2930"/>
                </a:lnTo>
                <a:lnTo>
                  <a:pt x="2741" y="2930"/>
                </a:lnTo>
                <a:lnTo>
                  <a:pt x="2741" y="1922"/>
                </a:lnTo>
                <a:lnTo>
                  <a:pt x="2836" y="1922"/>
                </a:lnTo>
                <a:lnTo>
                  <a:pt x="1575" y="284"/>
                </a:lnTo>
                <a:cubicBezTo>
                  <a:pt x="1512" y="252"/>
                  <a:pt x="1512" y="158"/>
                  <a:pt x="1481" y="126"/>
                </a:cubicBezTo>
                <a:cubicBezTo>
                  <a:pt x="1449" y="95"/>
                  <a:pt x="1355" y="63"/>
                  <a:pt x="13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3" name="Google Shape;1313;p105">
            <a:extLst>
              <a:ext uri="{FF2B5EF4-FFF2-40B4-BE49-F238E27FC236}">
                <a16:creationId xmlns:a16="http://schemas.microsoft.com/office/drawing/2014/main" id="{C2980E4A-ABDA-484F-A7BB-27773B346D0B}"/>
              </a:ext>
            </a:extLst>
          </p:cNvPr>
          <p:cNvSpPr>
            <a:spLocks noGrp="1"/>
          </p:cNvSpPr>
          <p:nvPr/>
        </p:nvSpPr>
        <p:spPr>
          <a:xfrm>
            <a:off x="3295412" y="1553545"/>
            <a:ext cx="930000" cy="930000"/>
          </a:xfrm>
          <a:prstGeom prst="rect">
            <a:avLst/>
          </a:prstGeom>
          <a:solidFill>
            <a:schemeClr val="lt1"/>
          </a:solidFill>
          <a:ln w="28575" cmpd="sng">
            <a:solidFill>
              <a:schemeClr val="accent2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4" name="Google Shape;1314;p105">
            <a:extLst>
              <a:ext uri="{FF2B5EF4-FFF2-40B4-BE49-F238E27FC236}">
                <a16:creationId xmlns:a16="http://schemas.microsoft.com/office/drawing/2014/main" id="{69DCB9DD-9491-4375-B3AD-2B5AD94B3A6F}"/>
              </a:ext>
            </a:extLst>
          </p:cNvPr>
          <p:cNvSpPr>
            <a:spLocks noGrp="1"/>
          </p:cNvSpPr>
          <p:nvPr/>
        </p:nvSpPr>
        <p:spPr>
          <a:xfrm>
            <a:off x="3254913" y="1684795"/>
            <a:ext cx="1011000" cy="6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  <a:endParaRPr sz="35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1316" name="Google Shape;1316;p105">
            <a:extLst>
              <a:ext uri="{FF2B5EF4-FFF2-40B4-BE49-F238E27FC236}">
                <a16:creationId xmlns:a16="http://schemas.microsoft.com/office/drawing/2014/main" id="{E4769C69-1EF9-43C3-A918-14C639EBEE7A}"/>
              </a:ext>
            </a:extLst>
          </p:cNvPr>
          <p:cNvSpPr>
            <a:spLocks noGrp="1"/>
          </p:cNvSpPr>
          <p:nvPr/>
        </p:nvSpPr>
        <p:spPr>
          <a:xfrm>
            <a:off x="5242681" y="1553545"/>
            <a:ext cx="930000" cy="930000"/>
          </a:xfrm>
          <a:prstGeom prst="rect">
            <a:avLst/>
          </a:prstGeom>
          <a:solidFill>
            <a:schemeClr val="lt1"/>
          </a:solidFill>
          <a:ln w="28575" cmpd="sng">
            <a:solidFill>
              <a:schemeClr val="accent2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7" name="Google Shape;1317;p105">
            <a:extLst>
              <a:ext uri="{FF2B5EF4-FFF2-40B4-BE49-F238E27FC236}">
                <a16:creationId xmlns:a16="http://schemas.microsoft.com/office/drawing/2014/main" id="{74378778-5911-447A-8AF1-44E1AAF5F3CF}"/>
              </a:ext>
            </a:extLst>
          </p:cNvPr>
          <p:cNvSpPr>
            <a:spLocks noGrp="1"/>
          </p:cNvSpPr>
          <p:nvPr/>
        </p:nvSpPr>
        <p:spPr>
          <a:xfrm>
            <a:off x="5202188" y="1684795"/>
            <a:ext cx="1011000" cy="6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  <a:endParaRPr sz="35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1319" name="Google Shape;1319;p105">
            <a:extLst>
              <a:ext uri="{FF2B5EF4-FFF2-40B4-BE49-F238E27FC236}">
                <a16:creationId xmlns:a16="http://schemas.microsoft.com/office/drawing/2014/main" id="{E87163F4-4C3E-400C-A034-B59BCF72CEE1}"/>
              </a:ext>
            </a:extLst>
          </p:cNvPr>
          <p:cNvSpPr>
            <a:spLocks noGrp="1"/>
          </p:cNvSpPr>
          <p:nvPr/>
        </p:nvSpPr>
        <p:spPr>
          <a:xfrm>
            <a:off x="3295412" y="3120390"/>
            <a:ext cx="930000" cy="930000"/>
          </a:xfrm>
          <a:prstGeom prst="rect">
            <a:avLst/>
          </a:prstGeom>
          <a:solidFill>
            <a:schemeClr val="lt1"/>
          </a:solidFill>
          <a:ln w="28575" cmpd="sng">
            <a:solidFill>
              <a:schemeClr val="accent2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0" name="Google Shape;1320;p105">
            <a:extLst>
              <a:ext uri="{FF2B5EF4-FFF2-40B4-BE49-F238E27FC236}">
                <a16:creationId xmlns:a16="http://schemas.microsoft.com/office/drawing/2014/main" id="{4E604A6E-F50A-487A-BBDA-D15213D1B42E}"/>
              </a:ext>
            </a:extLst>
          </p:cNvPr>
          <p:cNvSpPr>
            <a:spLocks noGrp="1"/>
          </p:cNvSpPr>
          <p:nvPr/>
        </p:nvSpPr>
        <p:spPr>
          <a:xfrm>
            <a:off x="3254913" y="3251645"/>
            <a:ext cx="1011000" cy="6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03</a:t>
            </a:r>
            <a:endParaRPr sz="35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1322" name="Google Shape;1322;p105">
            <a:extLst>
              <a:ext uri="{FF2B5EF4-FFF2-40B4-BE49-F238E27FC236}">
                <a16:creationId xmlns:a16="http://schemas.microsoft.com/office/drawing/2014/main" id="{63575376-C4B5-4877-8150-90CE72461F66}"/>
              </a:ext>
            </a:extLst>
          </p:cNvPr>
          <p:cNvSpPr>
            <a:spLocks noGrp="1"/>
          </p:cNvSpPr>
          <p:nvPr/>
        </p:nvSpPr>
        <p:spPr>
          <a:xfrm>
            <a:off x="5242681" y="3120390"/>
            <a:ext cx="930000" cy="930000"/>
          </a:xfrm>
          <a:prstGeom prst="rect">
            <a:avLst/>
          </a:prstGeom>
          <a:solidFill>
            <a:schemeClr val="lt1"/>
          </a:solidFill>
          <a:ln w="28575" cmpd="sng">
            <a:solidFill>
              <a:schemeClr val="accent2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3" name="Google Shape;1323;p105">
            <a:extLst>
              <a:ext uri="{FF2B5EF4-FFF2-40B4-BE49-F238E27FC236}">
                <a16:creationId xmlns:a16="http://schemas.microsoft.com/office/drawing/2014/main" id="{40548EB7-BC4A-4787-BD94-75B74D367547}"/>
              </a:ext>
            </a:extLst>
          </p:cNvPr>
          <p:cNvSpPr>
            <a:spLocks noGrp="1"/>
          </p:cNvSpPr>
          <p:nvPr/>
        </p:nvSpPr>
        <p:spPr>
          <a:xfrm>
            <a:off x="5202188" y="3251645"/>
            <a:ext cx="1011000" cy="6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04</a:t>
            </a:r>
            <a:endParaRPr sz="35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4386298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89">
            <a:extLst>
              <a:ext uri="{FF2B5EF4-FFF2-40B4-BE49-F238E27FC236}">
                <a16:creationId xmlns:a16="http://schemas.microsoft.com/office/drawing/2014/main" id="{B80505C1-D139-4E6F-B241-4EDD8383E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Lý thuyết được chuyển thành cơ chế phần mềm</a:t>
            </a:r>
            <a:endParaRPr/>
          </a:p>
        </p:txBody>
      </p:sp>
      <p:sp>
        <p:nvSpPr>
          <p:cNvPr id="879" name="Google Shape;879;p89">
            <a:extLst>
              <a:ext uri="{FF2B5EF4-FFF2-40B4-BE49-F238E27FC236}">
                <a16:creationId xmlns:a16="http://schemas.microsoft.com/office/drawing/2014/main" id="{3CA5FC07-BBDC-41E9-B696-E8A20C09E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000" y="1889388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82998" lnSpcReduction="1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STAR + BARS</a:t>
            </a:r>
            <a:endParaRPr/>
          </a:p>
        </p:txBody>
      </p:sp>
      <p:sp>
        <p:nvSpPr>
          <p:cNvPr id="880" name="Google Shape;880;p89">
            <a:extLst>
              <a:ext uri="{FF2B5EF4-FFF2-40B4-BE49-F238E27FC236}">
                <a16:creationId xmlns:a16="http://schemas.microsoft.com/office/drawing/2014/main" id="{EF39F8F5-6F9C-4AD1-A1A7-6AF6553B313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09025" y="2365638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Hành vi quan sát được gắn với mốc đánh giá.</a:t>
            </a:r>
            <a:endParaRPr/>
          </a:p>
        </p:txBody>
      </p:sp>
      <p:sp>
        <p:nvSpPr>
          <p:cNvPr id="881" name="Google Shape;881;p89">
            <a:extLst>
              <a:ext uri="{FF2B5EF4-FFF2-40B4-BE49-F238E27FC236}">
                <a16:creationId xmlns:a16="http://schemas.microsoft.com/office/drawing/2014/main" id="{C88A62D0-4E84-4E92-B593-050E06D733E3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53025" y="1889388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55181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Structured interview</a:t>
            </a:r>
            <a:endParaRPr/>
          </a:p>
        </p:txBody>
      </p:sp>
      <p:sp>
        <p:nvSpPr>
          <p:cNvPr id="882" name="Google Shape;882;p89">
            <a:extLst>
              <a:ext uri="{FF2B5EF4-FFF2-40B4-BE49-F238E27FC236}">
                <a16:creationId xmlns:a16="http://schemas.microsoft.com/office/drawing/2014/main" id="{9CC2C9A1-3486-4DDC-8306-0E6DB01EB392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953125" y="2365638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4542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Cùng năng lực, thang đo và evidence requirement.</a:t>
            </a:r>
            <a:endParaRPr/>
          </a:p>
        </p:txBody>
      </p:sp>
      <p:sp>
        <p:nvSpPr>
          <p:cNvPr id="883" name="Google Shape;883;p89">
            <a:extLst>
              <a:ext uri="{FF2B5EF4-FFF2-40B4-BE49-F238E27FC236}">
                <a16:creationId xmlns:a16="http://schemas.microsoft.com/office/drawing/2014/main" id="{48848221-E426-48C1-8D92-9FB117774ADA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64875" y="1889388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7549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Responsible AI</a:t>
            </a:r>
            <a:endParaRPr/>
          </a:p>
        </p:txBody>
      </p:sp>
      <p:sp>
        <p:nvSpPr>
          <p:cNvPr id="884" name="Google Shape;884;p89">
            <a:extLst>
              <a:ext uri="{FF2B5EF4-FFF2-40B4-BE49-F238E27FC236}">
                <a16:creationId xmlns:a16="http://schemas.microsoft.com/office/drawing/2014/main" id="{C0EDBC46-FF58-48B4-B107-BA09682687A5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64875" y="2365638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3852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Grounding, audit, fallback và người chịu trách nhiệm cuối.</a:t>
            </a:r>
            <a:endParaRPr/>
          </a:p>
        </p:txBody>
      </p:sp>
      <p:sp>
        <p:nvSpPr>
          <p:cNvPr id="886" name="Google Shape;886;p89">
            <a:extLst>
              <a:ext uri="{FF2B5EF4-FFF2-40B4-BE49-F238E27FC236}">
                <a16:creationId xmlns:a16="http://schemas.microsoft.com/office/drawing/2014/main" id="{E3C6DD10-53BB-45CE-839E-D57514AC5269}"/>
              </a:ext>
            </a:extLst>
          </p:cNvPr>
          <p:cNvSpPr>
            <a:spLocks noGrp="1"/>
          </p:cNvSpPr>
          <p:nvPr/>
        </p:nvSpPr>
        <p:spPr>
          <a:xfrm>
            <a:off x="4608858" y="1672500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410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410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4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89">
            <a:extLst>
              <a:ext uri="{FF2B5EF4-FFF2-40B4-BE49-F238E27FC236}">
                <a16:creationId xmlns:a16="http://schemas.microsoft.com/office/drawing/2014/main" id="{24BC3697-5925-45C7-BC3D-98580AD0D4FB}"/>
              </a:ext>
            </a:extLst>
          </p:cNvPr>
          <p:cNvSpPr>
            <a:spLocks noGrp="1"/>
          </p:cNvSpPr>
          <p:nvPr/>
        </p:nvSpPr>
        <p:spPr>
          <a:xfrm>
            <a:off x="4506559" y="1570106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378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378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3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p89">
            <a:extLst>
              <a:ext uri="{FF2B5EF4-FFF2-40B4-BE49-F238E27FC236}">
                <a16:creationId xmlns:a16="http://schemas.microsoft.com/office/drawing/2014/main" id="{E7A06639-7743-4E01-9D33-A0DD094D5D3D}"/>
              </a:ext>
            </a:extLst>
          </p:cNvPr>
          <p:cNvSpPr>
            <a:spLocks noGrp="1"/>
          </p:cNvSpPr>
          <p:nvPr/>
        </p:nvSpPr>
        <p:spPr>
          <a:xfrm>
            <a:off x="4345507" y="1409357"/>
            <a:ext cx="453177" cy="452952"/>
          </a:xfrm>
          <a:custGeom>
            <a:avLst/>
            <a:gdLst/>
            <a:ahLst/>
            <a:cxnLst/>
            <a:rect l="l" t="t" r="r" b="b"/>
            <a:pathLst>
              <a:path w="12414" h="12406">
                <a:moveTo>
                  <a:pt x="4506" y="3332"/>
                </a:moveTo>
                <a:cubicBezTo>
                  <a:pt x="5167" y="3332"/>
                  <a:pt x="5735" y="3867"/>
                  <a:pt x="5735" y="4561"/>
                </a:cubicBezTo>
                <a:cubicBezTo>
                  <a:pt x="5735" y="5222"/>
                  <a:pt x="5199" y="5821"/>
                  <a:pt x="4506" y="5821"/>
                </a:cubicBezTo>
                <a:cubicBezTo>
                  <a:pt x="3844" y="5821"/>
                  <a:pt x="3277" y="5254"/>
                  <a:pt x="3277" y="4561"/>
                </a:cubicBezTo>
                <a:cubicBezTo>
                  <a:pt x="3277" y="3899"/>
                  <a:pt x="3844" y="3332"/>
                  <a:pt x="4506" y="3332"/>
                </a:cubicBezTo>
                <a:close/>
                <a:moveTo>
                  <a:pt x="7830" y="4159"/>
                </a:moveTo>
                <a:cubicBezTo>
                  <a:pt x="7940" y="4159"/>
                  <a:pt x="8050" y="4198"/>
                  <a:pt x="8129" y="4277"/>
                </a:cubicBezTo>
                <a:cubicBezTo>
                  <a:pt x="8286" y="4435"/>
                  <a:pt x="8286" y="4718"/>
                  <a:pt x="8129" y="4876"/>
                </a:cubicBezTo>
                <a:lnTo>
                  <a:pt x="4821" y="8184"/>
                </a:lnTo>
                <a:cubicBezTo>
                  <a:pt x="4742" y="8262"/>
                  <a:pt x="4632" y="8302"/>
                  <a:pt x="4522" y="8302"/>
                </a:cubicBezTo>
                <a:cubicBezTo>
                  <a:pt x="4411" y="8302"/>
                  <a:pt x="4301" y="8262"/>
                  <a:pt x="4222" y="8184"/>
                </a:cubicBezTo>
                <a:cubicBezTo>
                  <a:pt x="4065" y="8026"/>
                  <a:pt x="4065" y="7743"/>
                  <a:pt x="4222" y="7585"/>
                </a:cubicBezTo>
                <a:lnTo>
                  <a:pt x="7530" y="4277"/>
                </a:lnTo>
                <a:cubicBezTo>
                  <a:pt x="7609" y="4198"/>
                  <a:pt x="7719" y="4159"/>
                  <a:pt x="7830" y="4159"/>
                </a:cubicBezTo>
                <a:close/>
                <a:moveTo>
                  <a:pt x="7845" y="6640"/>
                </a:moveTo>
                <a:cubicBezTo>
                  <a:pt x="8539" y="6640"/>
                  <a:pt x="9074" y="7175"/>
                  <a:pt x="9074" y="7900"/>
                </a:cubicBezTo>
                <a:cubicBezTo>
                  <a:pt x="9074" y="8562"/>
                  <a:pt x="8539" y="9129"/>
                  <a:pt x="7845" y="9129"/>
                </a:cubicBezTo>
                <a:cubicBezTo>
                  <a:pt x="7184" y="9129"/>
                  <a:pt x="6648" y="8562"/>
                  <a:pt x="6648" y="7900"/>
                </a:cubicBezTo>
                <a:cubicBezTo>
                  <a:pt x="6648" y="7239"/>
                  <a:pt x="7184" y="6640"/>
                  <a:pt x="7845" y="6640"/>
                </a:cubicBezTo>
                <a:close/>
                <a:moveTo>
                  <a:pt x="6223" y="0"/>
                </a:moveTo>
                <a:cubicBezTo>
                  <a:pt x="6113" y="0"/>
                  <a:pt x="6002" y="40"/>
                  <a:pt x="5924" y="118"/>
                </a:cubicBezTo>
                <a:lnTo>
                  <a:pt x="4348" y="1694"/>
                </a:lnTo>
                <a:lnTo>
                  <a:pt x="2111" y="1694"/>
                </a:lnTo>
                <a:cubicBezTo>
                  <a:pt x="1859" y="1694"/>
                  <a:pt x="1702" y="1883"/>
                  <a:pt x="1702" y="2072"/>
                </a:cubicBezTo>
                <a:lnTo>
                  <a:pt x="1702" y="4309"/>
                </a:lnTo>
                <a:lnTo>
                  <a:pt x="127" y="5884"/>
                </a:lnTo>
                <a:cubicBezTo>
                  <a:pt x="1" y="6041"/>
                  <a:pt x="1" y="6325"/>
                  <a:pt x="127" y="6482"/>
                </a:cubicBezTo>
                <a:lnTo>
                  <a:pt x="1702" y="8058"/>
                </a:lnTo>
                <a:lnTo>
                  <a:pt x="1702" y="10294"/>
                </a:lnTo>
                <a:cubicBezTo>
                  <a:pt x="1702" y="10547"/>
                  <a:pt x="1922" y="10704"/>
                  <a:pt x="2111" y="10704"/>
                </a:cubicBezTo>
                <a:lnTo>
                  <a:pt x="4348" y="10704"/>
                </a:lnTo>
                <a:lnTo>
                  <a:pt x="5924" y="12279"/>
                </a:lnTo>
                <a:cubicBezTo>
                  <a:pt x="6018" y="12342"/>
                  <a:pt x="6113" y="12405"/>
                  <a:pt x="6207" y="12405"/>
                </a:cubicBezTo>
                <a:cubicBezTo>
                  <a:pt x="6333" y="12405"/>
                  <a:pt x="6396" y="12342"/>
                  <a:pt x="6491" y="12279"/>
                </a:cubicBezTo>
                <a:lnTo>
                  <a:pt x="8066" y="10704"/>
                </a:lnTo>
                <a:lnTo>
                  <a:pt x="10303" y="10704"/>
                </a:lnTo>
                <a:cubicBezTo>
                  <a:pt x="10523" y="10704"/>
                  <a:pt x="10744" y="10515"/>
                  <a:pt x="10744" y="10294"/>
                </a:cubicBezTo>
                <a:lnTo>
                  <a:pt x="10744" y="8058"/>
                </a:lnTo>
                <a:lnTo>
                  <a:pt x="12319" y="6482"/>
                </a:lnTo>
                <a:cubicBezTo>
                  <a:pt x="12382" y="6419"/>
                  <a:pt x="12414" y="6293"/>
                  <a:pt x="12414" y="6199"/>
                </a:cubicBezTo>
                <a:cubicBezTo>
                  <a:pt x="12414" y="6104"/>
                  <a:pt x="12382" y="6010"/>
                  <a:pt x="12319" y="5947"/>
                </a:cubicBezTo>
                <a:lnTo>
                  <a:pt x="10744" y="4372"/>
                </a:lnTo>
                <a:lnTo>
                  <a:pt x="10744" y="2103"/>
                </a:lnTo>
                <a:cubicBezTo>
                  <a:pt x="10744" y="1851"/>
                  <a:pt x="10523" y="1694"/>
                  <a:pt x="10334" y="1694"/>
                </a:cubicBezTo>
                <a:lnTo>
                  <a:pt x="8097" y="1694"/>
                </a:lnTo>
                <a:lnTo>
                  <a:pt x="6522" y="118"/>
                </a:lnTo>
                <a:cubicBezTo>
                  <a:pt x="6443" y="40"/>
                  <a:pt x="6333" y="0"/>
                  <a:pt x="62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89">
            <a:extLst>
              <a:ext uri="{FF2B5EF4-FFF2-40B4-BE49-F238E27FC236}">
                <a16:creationId xmlns:a16="http://schemas.microsoft.com/office/drawing/2014/main" id="{85BEDD93-6C91-4096-9ADC-C8CE5B50E137}"/>
              </a:ext>
            </a:extLst>
          </p:cNvPr>
          <p:cNvSpPr>
            <a:spLocks noGrp="1"/>
          </p:cNvSpPr>
          <p:nvPr/>
        </p:nvSpPr>
        <p:spPr>
          <a:xfrm>
            <a:off x="1786474" y="1408587"/>
            <a:ext cx="460033" cy="454301"/>
          </a:xfrm>
          <a:custGeom>
            <a:avLst/>
            <a:gdLst/>
            <a:ahLst/>
            <a:cxnLst/>
            <a:rect l="l" t="t" r="r" b="b"/>
            <a:pathLst>
              <a:path w="12603" h="12446">
                <a:moveTo>
                  <a:pt x="11136" y="1"/>
                </a:moveTo>
                <a:cubicBezTo>
                  <a:pt x="11054" y="1"/>
                  <a:pt x="10975" y="1"/>
                  <a:pt x="10902" y="1"/>
                </a:cubicBezTo>
                <a:cubicBezTo>
                  <a:pt x="10429" y="1"/>
                  <a:pt x="10051" y="159"/>
                  <a:pt x="9736" y="474"/>
                </a:cubicBezTo>
                <a:lnTo>
                  <a:pt x="3561" y="6649"/>
                </a:lnTo>
                <a:lnTo>
                  <a:pt x="2301" y="6428"/>
                </a:lnTo>
                <a:cubicBezTo>
                  <a:pt x="2278" y="6423"/>
                  <a:pt x="2253" y="6420"/>
                  <a:pt x="2229" y="6420"/>
                </a:cubicBezTo>
                <a:cubicBezTo>
                  <a:pt x="2119" y="6420"/>
                  <a:pt x="2000" y="6471"/>
                  <a:pt x="1923" y="6523"/>
                </a:cubicBezTo>
                <a:lnTo>
                  <a:pt x="158" y="8319"/>
                </a:lnTo>
                <a:cubicBezTo>
                  <a:pt x="32" y="8382"/>
                  <a:pt x="1" y="8539"/>
                  <a:pt x="32" y="8697"/>
                </a:cubicBezTo>
                <a:cubicBezTo>
                  <a:pt x="95" y="8823"/>
                  <a:pt x="190" y="8949"/>
                  <a:pt x="347" y="8980"/>
                </a:cubicBezTo>
                <a:lnTo>
                  <a:pt x="2994" y="9484"/>
                </a:lnTo>
                <a:lnTo>
                  <a:pt x="3498" y="12131"/>
                </a:lnTo>
                <a:cubicBezTo>
                  <a:pt x="3561" y="12288"/>
                  <a:pt x="3624" y="12414"/>
                  <a:pt x="3782" y="12446"/>
                </a:cubicBezTo>
                <a:lnTo>
                  <a:pt x="3908" y="12446"/>
                </a:lnTo>
                <a:cubicBezTo>
                  <a:pt x="4034" y="12446"/>
                  <a:pt x="4128" y="12414"/>
                  <a:pt x="4254" y="12414"/>
                </a:cubicBezTo>
                <a:lnTo>
                  <a:pt x="6018" y="10619"/>
                </a:lnTo>
                <a:cubicBezTo>
                  <a:pt x="6144" y="10556"/>
                  <a:pt x="6176" y="10398"/>
                  <a:pt x="6144" y="10272"/>
                </a:cubicBezTo>
                <a:lnTo>
                  <a:pt x="5924" y="9012"/>
                </a:lnTo>
                <a:lnTo>
                  <a:pt x="12099" y="2837"/>
                </a:lnTo>
                <a:cubicBezTo>
                  <a:pt x="12414" y="2522"/>
                  <a:pt x="12571" y="2081"/>
                  <a:pt x="12571" y="1671"/>
                </a:cubicBezTo>
                <a:cubicBezTo>
                  <a:pt x="12571" y="1199"/>
                  <a:pt x="12603" y="600"/>
                  <a:pt x="12288" y="285"/>
                </a:cubicBezTo>
                <a:cubicBezTo>
                  <a:pt x="12025" y="22"/>
                  <a:pt x="11544" y="1"/>
                  <a:pt x="1113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89">
            <a:extLst>
              <a:ext uri="{FF2B5EF4-FFF2-40B4-BE49-F238E27FC236}">
                <a16:creationId xmlns:a16="http://schemas.microsoft.com/office/drawing/2014/main" id="{365D6EB8-6A65-4086-96D1-2A6A49F1013C}"/>
              </a:ext>
            </a:extLst>
          </p:cNvPr>
          <p:cNvSpPr>
            <a:spLocks noGrp="1"/>
          </p:cNvSpPr>
          <p:nvPr/>
        </p:nvSpPr>
        <p:spPr>
          <a:xfrm>
            <a:off x="1801132" y="1467202"/>
            <a:ext cx="255361" cy="130378"/>
          </a:xfrm>
          <a:custGeom>
            <a:avLst/>
            <a:gdLst/>
            <a:ahLst/>
            <a:cxnLst/>
            <a:rect l="l" t="t" r="r" b="b"/>
            <a:pathLst>
              <a:path w="6995" h="3570">
                <a:moveTo>
                  <a:pt x="1632" y="1"/>
                </a:moveTo>
                <a:cubicBezTo>
                  <a:pt x="1523" y="1"/>
                  <a:pt x="1407" y="57"/>
                  <a:pt x="1355" y="135"/>
                </a:cubicBezTo>
                <a:lnTo>
                  <a:pt x="158" y="1301"/>
                </a:lnTo>
                <a:cubicBezTo>
                  <a:pt x="95" y="1395"/>
                  <a:pt x="0" y="1553"/>
                  <a:pt x="32" y="1710"/>
                </a:cubicBezTo>
                <a:cubicBezTo>
                  <a:pt x="126" y="1773"/>
                  <a:pt x="189" y="1899"/>
                  <a:pt x="315" y="1931"/>
                </a:cubicBezTo>
                <a:lnTo>
                  <a:pt x="4317" y="3569"/>
                </a:lnTo>
                <a:lnTo>
                  <a:pt x="6995" y="891"/>
                </a:lnTo>
                <a:lnTo>
                  <a:pt x="1702" y="9"/>
                </a:lnTo>
                <a:cubicBezTo>
                  <a:pt x="1679" y="4"/>
                  <a:pt x="1656" y="1"/>
                  <a:pt x="163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89">
            <a:extLst>
              <a:ext uri="{FF2B5EF4-FFF2-40B4-BE49-F238E27FC236}">
                <a16:creationId xmlns:a16="http://schemas.microsoft.com/office/drawing/2014/main" id="{732BE817-7B71-4205-8905-C60886E85AE9}"/>
              </a:ext>
            </a:extLst>
          </p:cNvPr>
          <p:cNvSpPr>
            <a:spLocks noGrp="1"/>
          </p:cNvSpPr>
          <p:nvPr/>
        </p:nvSpPr>
        <p:spPr>
          <a:xfrm>
            <a:off x="2053396" y="1593572"/>
            <a:ext cx="129929" cy="253114"/>
          </a:xfrm>
          <a:custGeom>
            <a:avLst/>
            <a:gdLst/>
            <a:ahLst/>
            <a:cxnLst/>
            <a:rect l="l" t="t" r="r" b="b"/>
            <a:pathLst>
              <a:path w="3560" h="6932">
                <a:moveTo>
                  <a:pt x="2678" y="0"/>
                </a:moveTo>
                <a:lnTo>
                  <a:pt x="0" y="2678"/>
                </a:lnTo>
                <a:lnTo>
                  <a:pt x="1607" y="6679"/>
                </a:lnTo>
                <a:cubicBezTo>
                  <a:pt x="1638" y="6805"/>
                  <a:pt x="1764" y="6931"/>
                  <a:pt x="1922" y="6931"/>
                </a:cubicBezTo>
                <a:lnTo>
                  <a:pt x="1985" y="6931"/>
                </a:lnTo>
                <a:cubicBezTo>
                  <a:pt x="2111" y="6931"/>
                  <a:pt x="2206" y="6900"/>
                  <a:pt x="2269" y="6805"/>
                </a:cubicBezTo>
                <a:lnTo>
                  <a:pt x="3466" y="5640"/>
                </a:lnTo>
                <a:cubicBezTo>
                  <a:pt x="3529" y="5545"/>
                  <a:pt x="3560" y="5388"/>
                  <a:pt x="3560" y="5262"/>
                </a:cubicBezTo>
                <a:lnTo>
                  <a:pt x="267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89">
            <a:extLst>
              <a:ext uri="{FF2B5EF4-FFF2-40B4-BE49-F238E27FC236}">
                <a16:creationId xmlns:a16="http://schemas.microsoft.com/office/drawing/2014/main" id="{C2BF4F60-3943-4F53-A970-A45E64E873A2}"/>
              </a:ext>
            </a:extLst>
          </p:cNvPr>
          <p:cNvSpPr>
            <a:spLocks noGrp="1"/>
          </p:cNvSpPr>
          <p:nvPr/>
        </p:nvSpPr>
        <p:spPr>
          <a:xfrm>
            <a:off x="7275523" y="1622375"/>
            <a:ext cx="76878" cy="31583"/>
          </a:xfrm>
          <a:custGeom>
            <a:avLst/>
            <a:gdLst/>
            <a:ahLst/>
            <a:cxnLst/>
            <a:rect l="l" t="t" r="r" b="b"/>
            <a:pathLst>
              <a:path w="1766" h="725">
                <a:moveTo>
                  <a:pt x="347" y="0"/>
                </a:moveTo>
                <a:cubicBezTo>
                  <a:pt x="158" y="0"/>
                  <a:pt x="1" y="158"/>
                  <a:pt x="1" y="378"/>
                </a:cubicBezTo>
                <a:cubicBezTo>
                  <a:pt x="1" y="567"/>
                  <a:pt x="158" y="725"/>
                  <a:pt x="347" y="725"/>
                </a:cubicBezTo>
                <a:lnTo>
                  <a:pt x="1419" y="725"/>
                </a:lnTo>
                <a:cubicBezTo>
                  <a:pt x="1608" y="725"/>
                  <a:pt x="1765" y="567"/>
                  <a:pt x="1765" y="378"/>
                </a:cubicBezTo>
                <a:cubicBezTo>
                  <a:pt x="1734" y="158"/>
                  <a:pt x="1608" y="0"/>
                  <a:pt x="14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89">
            <a:extLst>
              <a:ext uri="{FF2B5EF4-FFF2-40B4-BE49-F238E27FC236}">
                <a16:creationId xmlns:a16="http://schemas.microsoft.com/office/drawing/2014/main" id="{ABB0144A-C071-4EB8-8039-4E0EAFE19BD2}"/>
              </a:ext>
            </a:extLst>
          </p:cNvPr>
          <p:cNvSpPr>
            <a:spLocks noGrp="1"/>
          </p:cNvSpPr>
          <p:nvPr/>
        </p:nvSpPr>
        <p:spPr>
          <a:xfrm>
            <a:off x="7261321" y="1672670"/>
            <a:ext cx="64515" cy="59007"/>
          </a:xfrm>
          <a:custGeom>
            <a:avLst/>
            <a:gdLst/>
            <a:ahLst/>
            <a:cxnLst/>
            <a:rect l="l" t="t" r="r" b="b"/>
            <a:pathLst>
              <a:path w="1482" h="1355">
                <a:moveTo>
                  <a:pt x="394" y="0"/>
                </a:moveTo>
                <a:cubicBezTo>
                  <a:pt x="308" y="0"/>
                  <a:pt x="221" y="32"/>
                  <a:pt x="158" y="95"/>
                </a:cubicBezTo>
                <a:cubicBezTo>
                  <a:pt x="0" y="221"/>
                  <a:pt x="0" y="410"/>
                  <a:pt x="158" y="567"/>
                </a:cubicBezTo>
                <a:lnTo>
                  <a:pt x="882" y="1260"/>
                </a:lnTo>
                <a:cubicBezTo>
                  <a:pt x="945" y="1323"/>
                  <a:pt x="1032" y="1355"/>
                  <a:pt x="1119" y="1355"/>
                </a:cubicBezTo>
                <a:cubicBezTo>
                  <a:pt x="1205" y="1355"/>
                  <a:pt x="1292" y="1323"/>
                  <a:pt x="1355" y="1260"/>
                </a:cubicBezTo>
                <a:cubicBezTo>
                  <a:pt x="1481" y="1134"/>
                  <a:pt x="1481" y="914"/>
                  <a:pt x="1355" y="788"/>
                </a:cubicBezTo>
                <a:lnTo>
                  <a:pt x="630" y="95"/>
                </a:lnTo>
                <a:cubicBezTo>
                  <a:pt x="567" y="32"/>
                  <a:pt x="481" y="0"/>
                  <a:pt x="39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89">
            <a:extLst>
              <a:ext uri="{FF2B5EF4-FFF2-40B4-BE49-F238E27FC236}">
                <a16:creationId xmlns:a16="http://schemas.microsoft.com/office/drawing/2014/main" id="{DF2157F7-89F4-49EC-A862-CAF7A0FECEBE}"/>
              </a:ext>
            </a:extLst>
          </p:cNvPr>
          <p:cNvSpPr>
            <a:spLocks noGrp="1"/>
          </p:cNvSpPr>
          <p:nvPr/>
        </p:nvSpPr>
        <p:spPr>
          <a:xfrm>
            <a:off x="7263908" y="1543426"/>
            <a:ext cx="61817" cy="60131"/>
          </a:xfrm>
          <a:custGeom>
            <a:avLst/>
            <a:gdLst/>
            <a:ahLst/>
            <a:cxnLst/>
            <a:rect l="l" t="t" r="r" b="b"/>
            <a:pathLst>
              <a:path w="1419" h="1380">
                <a:moveTo>
                  <a:pt x="1056" y="1"/>
                </a:moveTo>
                <a:cubicBezTo>
                  <a:pt x="969" y="1"/>
                  <a:pt x="882" y="32"/>
                  <a:pt x="819" y="96"/>
                </a:cubicBezTo>
                <a:lnTo>
                  <a:pt x="95" y="789"/>
                </a:lnTo>
                <a:cubicBezTo>
                  <a:pt x="0" y="915"/>
                  <a:pt x="0" y="1135"/>
                  <a:pt x="95" y="1261"/>
                </a:cubicBezTo>
                <a:cubicBezTo>
                  <a:pt x="158" y="1340"/>
                  <a:pt x="252" y="1379"/>
                  <a:pt x="343" y="1379"/>
                </a:cubicBezTo>
                <a:cubicBezTo>
                  <a:pt x="434" y="1379"/>
                  <a:pt x="520" y="1340"/>
                  <a:pt x="567" y="1261"/>
                </a:cubicBezTo>
                <a:lnTo>
                  <a:pt x="1292" y="568"/>
                </a:lnTo>
                <a:cubicBezTo>
                  <a:pt x="1418" y="442"/>
                  <a:pt x="1418" y="190"/>
                  <a:pt x="1292" y="96"/>
                </a:cubicBezTo>
                <a:cubicBezTo>
                  <a:pt x="1229" y="32"/>
                  <a:pt x="1142" y="1"/>
                  <a:pt x="105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89">
            <a:extLst>
              <a:ext uri="{FF2B5EF4-FFF2-40B4-BE49-F238E27FC236}">
                <a16:creationId xmlns:a16="http://schemas.microsoft.com/office/drawing/2014/main" id="{520530B8-9B7B-4383-A1C5-5AA50495C4F4}"/>
              </a:ext>
            </a:extLst>
          </p:cNvPr>
          <p:cNvSpPr>
            <a:spLocks noGrp="1"/>
          </p:cNvSpPr>
          <p:nvPr/>
        </p:nvSpPr>
        <p:spPr>
          <a:xfrm>
            <a:off x="6895315" y="1534090"/>
            <a:ext cx="183878" cy="182529"/>
          </a:xfrm>
          <a:custGeom>
            <a:avLst/>
            <a:gdLst/>
            <a:ahLst/>
            <a:cxnLst/>
            <a:rect l="l" t="t" r="r" b="b"/>
            <a:pathLst>
              <a:path w="4222" h="4192">
                <a:moveTo>
                  <a:pt x="2489" y="1"/>
                </a:moveTo>
                <a:cubicBezTo>
                  <a:pt x="2048" y="1"/>
                  <a:pt x="1639" y="285"/>
                  <a:pt x="1481" y="726"/>
                </a:cubicBezTo>
                <a:lnTo>
                  <a:pt x="1418" y="726"/>
                </a:lnTo>
                <a:cubicBezTo>
                  <a:pt x="662" y="726"/>
                  <a:pt x="0" y="1356"/>
                  <a:pt x="0" y="2080"/>
                </a:cubicBezTo>
                <a:cubicBezTo>
                  <a:pt x="0" y="2836"/>
                  <a:pt x="630" y="3467"/>
                  <a:pt x="1418" y="3467"/>
                </a:cubicBezTo>
                <a:lnTo>
                  <a:pt x="1481" y="3467"/>
                </a:lnTo>
                <a:cubicBezTo>
                  <a:pt x="1639" y="3845"/>
                  <a:pt x="2017" y="4191"/>
                  <a:pt x="2489" y="4191"/>
                </a:cubicBezTo>
                <a:lnTo>
                  <a:pt x="4222" y="4191"/>
                </a:lnTo>
                <a:lnTo>
                  <a:pt x="422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89">
            <a:extLst>
              <a:ext uri="{FF2B5EF4-FFF2-40B4-BE49-F238E27FC236}">
                <a16:creationId xmlns:a16="http://schemas.microsoft.com/office/drawing/2014/main" id="{C2D2A745-4F25-4478-8C1D-6ACEC9B059AB}"/>
              </a:ext>
            </a:extLst>
          </p:cNvPr>
          <p:cNvSpPr>
            <a:spLocks noGrp="1"/>
          </p:cNvSpPr>
          <p:nvPr/>
        </p:nvSpPr>
        <p:spPr>
          <a:xfrm>
            <a:off x="7184859" y="1443604"/>
            <a:ext cx="61705" cy="363598"/>
          </a:xfrm>
          <a:custGeom>
            <a:avLst/>
            <a:gdLst/>
            <a:ahLst/>
            <a:cxnLst/>
            <a:rect l="l" t="t" r="r" b="b"/>
            <a:pathLst>
              <a:path w="1418" h="8350">
                <a:moveTo>
                  <a:pt x="725" y="1"/>
                </a:moveTo>
                <a:cubicBezTo>
                  <a:pt x="315" y="1"/>
                  <a:pt x="0" y="316"/>
                  <a:pt x="0" y="694"/>
                </a:cubicBezTo>
                <a:lnTo>
                  <a:pt x="0" y="7625"/>
                </a:lnTo>
                <a:cubicBezTo>
                  <a:pt x="0" y="8034"/>
                  <a:pt x="315" y="8349"/>
                  <a:pt x="725" y="8349"/>
                </a:cubicBezTo>
                <a:cubicBezTo>
                  <a:pt x="1134" y="8286"/>
                  <a:pt x="1418" y="8003"/>
                  <a:pt x="1418" y="7625"/>
                </a:cubicBezTo>
                <a:lnTo>
                  <a:pt x="1418" y="694"/>
                </a:lnTo>
                <a:cubicBezTo>
                  <a:pt x="1418" y="316"/>
                  <a:pt x="1103" y="1"/>
                  <a:pt x="72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89">
            <a:extLst>
              <a:ext uri="{FF2B5EF4-FFF2-40B4-BE49-F238E27FC236}">
                <a16:creationId xmlns:a16="http://schemas.microsoft.com/office/drawing/2014/main" id="{2BBD6331-35B2-415E-A497-2D040CD6FA5A}"/>
              </a:ext>
            </a:extLst>
          </p:cNvPr>
          <p:cNvSpPr>
            <a:spLocks noGrp="1"/>
          </p:cNvSpPr>
          <p:nvPr/>
        </p:nvSpPr>
        <p:spPr>
          <a:xfrm>
            <a:off x="6979209" y="1716732"/>
            <a:ext cx="89242" cy="120712"/>
          </a:xfrm>
          <a:custGeom>
            <a:avLst/>
            <a:gdLst/>
            <a:ahLst/>
            <a:cxnLst/>
            <a:rect l="l" t="t" r="r" b="b"/>
            <a:pathLst>
              <a:path w="2049" h="2773">
                <a:moveTo>
                  <a:pt x="1" y="0"/>
                </a:moveTo>
                <a:lnTo>
                  <a:pt x="1" y="1764"/>
                </a:lnTo>
                <a:cubicBezTo>
                  <a:pt x="1" y="2363"/>
                  <a:pt x="473" y="2773"/>
                  <a:pt x="1040" y="2773"/>
                </a:cubicBezTo>
                <a:cubicBezTo>
                  <a:pt x="1607" y="2773"/>
                  <a:pt x="2048" y="2300"/>
                  <a:pt x="2048" y="1764"/>
                </a:cubicBezTo>
                <a:lnTo>
                  <a:pt x="2048" y="32"/>
                </a:lnTo>
                <a:lnTo>
                  <a:pt x="316" y="32"/>
                </a:lnTo>
                <a:cubicBezTo>
                  <a:pt x="253" y="32"/>
                  <a:pt x="127" y="32"/>
                  <a:pt x="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89">
            <a:extLst>
              <a:ext uri="{FF2B5EF4-FFF2-40B4-BE49-F238E27FC236}">
                <a16:creationId xmlns:a16="http://schemas.microsoft.com/office/drawing/2014/main" id="{F7F04479-C37F-4FFB-8317-F0AC590B10DF}"/>
              </a:ext>
            </a:extLst>
          </p:cNvPr>
          <p:cNvSpPr>
            <a:spLocks noGrp="1"/>
          </p:cNvSpPr>
          <p:nvPr/>
        </p:nvSpPr>
        <p:spPr>
          <a:xfrm>
            <a:off x="7082643" y="1480994"/>
            <a:ext cx="90590" cy="285483"/>
          </a:xfrm>
          <a:custGeom>
            <a:avLst/>
            <a:gdLst/>
            <a:ahLst/>
            <a:cxnLst/>
            <a:rect l="l" t="t" r="r" b="b"/>
            <a:pathLst>
              <a:path w="2080" h="6554">
                <a:moveTo>
                  <a:pt x="2080" y="0"/>
                </a:moveTo>
                <a:lnTo>
                  <a:pt x="1765" y="315"/>
                </a:lnTo>
                <a:cubicBezTo>
                  <a:pt x="1292" y="788"/>
                  <a:pt x="662" y="1071"/>
                  <a:pt x="1" y="1166"/>
                </a:cubicBezTo>
                <a:lnTo>
                  <a:pt x="1" y="5419"/>
                </a:lnTo>
                <a:cubicBezTo>
                  <a:pt x="662" y="5482"/>
                  <a:pt x="1292" y="5766"/>
                  <a:pt x="1765" y="6238"/>
                </a:cubicBezTo>
                <a:lnTo>
                  <a:pt x="2080" y="6553"/>
                </a:lnTo>
                <a:lnTo>
                  <a:pt x="208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Rectangle: Rounded Corners 900">
            <a:extLst>
              <a:ext uri="{FF2B5EF4-FFF2-40B4-BE49-F238E27FC236}">
                <a16:creationId xmlns:a16="http://schemas.microsoft.com/office/drawing/2014/main" id="{703964C7-64AE-4C10-AE0D-B27EC92DF7BD}"/>
              </a:ext>
            </a:extLst>
          </p:cNvPr>
          <p:cNvSpPr>
            <a:spLocks noGrp="1"/>
          </p:cNvSpPr>
          <p:nvPr/>
        </p:nvSpPr>
        <p:spPr>
          <a:xfrm>
            <a:off x="1000125" y="3718188"/>
            <a:ext cx="714375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 fontScale="90981"/>
          </a:bodyPr>
          <a:lstStyle/>
          <a:p>
            <a:pPr algn="ctr">
              <a:buNone/>
              <a:defRPr sz="1013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Ánh xạ vào hệ thống: Structured interview → schema • STAR/BARS → rule • Responsible AI → grounding + audit.</a:t>
            </a:r>
          </a:p>
        </p:txBody>
      </p:sp>
    </p:spTree>
    <p:extLst>
      <p:ext uri="{BB962C8B-B14F-4D97-AF65-F5344CB8AC3E}">
        <p14:creationId xmlns:p14="http://schemas.microsoft.com/office/powerpoint/2010/main" val="581443355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Google Shape;1434;p110">
            <a:extLst>
              <a:ext uri="{FF2B5EF4-FFF2-40B4-BE49-F238E27FC236}">
                <a16:creationId xmlns:a16="http://schemas.microsoft.com/office/drawing/2014/main" id="{888A3544-B32E-40E6-AFCF-E5C10864AD25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1290029" y="3016199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AI + tri thức</a:t>
            </a:r>
            <a:endParaRPr/>
          </a:p>
        </p:txBody>
      </p:sp>
      <p:sp>
        <p:nvSpPr>
          <p:cNvPr id="1435" name="Google Shape;1435;p110">
            <a:extLst>
              <a:ext uri="{FF2B5EF4-FFF2-40B4-BE49-F238E27FC236}">
                <a16:creationId xmlns:a16="http://schemas.microsoft.com/office/drawing/2014/main" id="{376FB015-3D1B-436A-96FD-F5C7D5818DAD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290041" y="3424973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Python/gRPC, DeepSeek, Qdrant, speech</a:t>
            </a:r>
            <a:endParaRPr/>
          </a:p>
        </p:txBody>
      </p:sp>
      <p:sp>
        <p:nvSpPr>
          <p:cNvPr id="1436" name="Google Shape;1436;p110">
            <a:extLst>
              <a:ext uri="{FF2B5EF4-FFF2-40B4-BE49-F238E27FC236}">
                <a16:creationId xmlns:a16="http://schemas.microsoft.com/office/drawing/2014/main" id="{91944C9D-A573-4E71-AB3C-CD6D66EEFC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0029" y="1131846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Web + BFF</a:t>
            </a:r>
            <a:endParaRPr/>
          </a:p>
        </p:txBody>
      </p:sp>
      <p:sp>
        <p:nvSpPr>
          <p:cNvPr id="1437" name="Google Shape;1437;p110">
            <a:extLst>
              <a:ext uri="{FF2B5EF4-FFF2-40B4-BE49-F238E27FC236}">
                <a16:creationId xmlns:a16="http://schemas.microsoft.com/office/drawing/2014/main" id="{C5E19540-4810-4E0F-8CB0-F4A76E49B94F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290041" y="1534123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Next.js kiểm soát quyền và điều phối</a:t>
            </a:r>
            <a:endParaRPr/>
          </a:p>
        </p:txBody>
      </p:sp>
      <p:sp>
        <p:nvSpPr>
          <p:cNvPr id="1438" name="Google Shape;1438;p110">
            <a:extLst>
              <a:ext uri="{FF2B5EF4-FFF2-40B4-BE49-F238E27FC236}">
                <a16:creationId xmlns:a16="http://schemas.microsoft.com/office/drawing/2014/main" id="{5662BCB5-9D6B-433B-8A0F-AEDBC2566826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290029" y="2055360"/>
            <a:ext cx="2014800" cy="499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Dữ liệu</a:t>
            </a:r>
            <a:endParaRPr/>
          </a:p>
        </p:txBody>
      </p:sp>
      <p:sp>
        <p:nvSpPr>
          <p:cNvPr id="1439" name="Google Shape;1439;p110">
            <a:extLst>
              <a:ext uri="{FF2B5EF4-FFF2-40B4-BE49-F238E27FC236}">
                <a16:creationId xmlns:a16="http://schemas.microsoft.com/office/drawing/2014/main" id="{BEE0AA3C-C2BC-4723-9BBD-4E86504D4B53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90041" y="2464134"/>
            <a:ext cx="20148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MongoDB giao dịch; event phục vụ audit</a:t>
            </a:r>
            <a:endParaRPr/>
          </a:p>
        </p:txBody>
      </p:sp>
      <p:sp>
        <p:nvSpPr>
          <p:cNvPr id="1440" name="Google Shape;1440;p110">
            <a:extLst>
              <a:ext uri="{FF2B5EF4-FFF2-40B4-BE49-F238E27FC236}">
                <a16:creationId xmlns:a16="http://schemas.microsoft.com/office/drawing/2014/main" id="{B13B004C-E841-46E8-851C-564EA1F11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50" y="445025"/>
            <a:ext cx="60807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7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Kiến trúc InterV: các biên trách nhiệm có hợp đồng</a:t>
            </a:r>
            <a:endParaRPr/>
          </a:p>
        </p:txBody>
      </p:sp>
      <p:sp>
        <p:nvSpPr>
          <p:cNvPr id="1441" name="Rectangle: Rounded Corners 1440">
            <a:extLst>
              <a:ext uri="{FF2B5EF4-FFF2-40B4-BE49-F238E27FC236}">
                <a16:creationId xmlns:a16="http://schemas.microsoft.com/office/drawing/2014/main" id="{42DB99C1-6094-43E9-96BA-855EFD3F87E3}"/>
              </a:ext>
            </a:extLst>
          </p:cNvPr>
          <p:cNvSpPr>
            <a:spLocks noGrp="1"/>
          </p:cNvSpPr>
          <p:nvPr/>
        </p:nvSpPr>
        <p:spPr>
          <a:xfrm>
            <a:off x="3978872" y="1154323"/>
            <a:ext cx="4095750" cy="428625"/>
          </a:xfrm>
          <a:prstGeom prst="roundRect">
            <a:avLst>
              <a:gd name="adj" fmla="val 17778"/>
            </a:avLst>
          </a:prstGeom>
          <a:solidFill>
            <a:srgbClr val="D7E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 fontScale="98867" lnSpcReduction="10000"/>
          </a:bodyPr>
          <a:lstStyle/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Web client</a:t>
            </a:r>
          </a:p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Next.js</a:t>
            </a:r>
          </a:p>
        </p:txBody>
      </p:sp>
      <p:sp>
        <p:nvSpPr>
          <p:cNvPr id="1442" name="Rectangle: Rounded Corners 1441">
            <a:extLst>
              <a:ext uri="{FF2B5EF4-FFF2-40B4-BE49-F238E27FC236}">
                <a16:creationId xmlns:a16="http://schemas.microsoft.com/office/drawing/2014/main" id="{7E58C154-8F08-48CF-831C-BB7854F3D72E}"/>
              </a:ext>
            </a:extLst>
          </p:cNvPr>
          <p:cNvSpPr>
            <a:spLocks noGrp="1"/>
          </p:cNvSpPr>
          <p:nvPr/>
        </p:nvSpPr>
        <p:spPr>
          <a:xfrm>
            <a:off x="3978872" y="1678198"/>
            <a:ext cx="4095750" cy="428625"/>
          </a:xfrm>
          <a:prstGeom prst="roundRect">
            <a:avLst>
              <a:gd name="adj" fmla="val 17778"/>
            </a:avLst>
          </a:prstGeom>
          <a:solidFill>
            <a:srgbClr val="F4F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 fontScale="98867" lnSpcReduction="10000"/>
          </a:bodyPr>
          <a:lstStyle/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BFF + nghiệp vụ</a:t>
            </a:r>
          </a:p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TypeScript</a:t>
            </a:r>
          </a:p>
        </p:txBody>
      </p:sp>
      <p:sp>
        <p:nvSpPr>
          <p:cNvPr id="1443" name="Rectangle: Rounded Corners 1442">
            <a:extLst>
              <a:ext uri="{FF2B5EF4-FFF2-40B4-BE49-F238E27FC236}">
                <a16:creationId xmlns:a16="http://schemas.microsoft.com/office/drawing/2014/main" id="{E8A64855-C4D4-42C8-94AB-F1DF5F63786A}"/>
              </a:ext>
            </a:extLst>
          </p:cNvPr>
          <p:cNvSpPr>
            <a:spLocks noGrp="1"/>
          </p:cNvSpPr>
          <p:nvPr/>
        </p:nvSpPr>
        <p:spPr>
          <a:xfrm>
            <a:off x="3978872" y="2202073"/>
            <a:ext cx="4095750" cy="428625"/>
          </a:xfrm>
          <a:prstGeom prst="roundRect">
            <a:avLst>
              <a:gd name="adj" fmla="val 17778"/>
            </a:avLst>
          </a:prstGeom>
          <a:solidFill>
            <a:srgbClr val="E4D9EE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 fontScale="98867" lnSpcReduction="10000"/>
          </a:bodyPr>
          <a:lstStyle/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AI boundary</a:t>
            </a:r>
          </a:p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Python / gRPC</a:t>
            </a:r>
          </a:p>
        </p:txBody>
      </p:sp>
      <p:sp>
        <p:nvSpPr>
          <p:cNvPr id="1444" name="Rectangle: Rounded Corners 1443">
            <a:extLst>
              <a:ext uri="{FF2B5EF4-FFF2-40B4-BE49-F238E27FC236}">
                <a16:creationId xmlns:a16="http://schemas.microsoft.com/office/drawing/2014/main" id="{05AAA6B8-1E42-4554-B157-157F0CC88ADA}"/>
              </a:ext>
            </a:extLst>
          </p:cNvPr>
          <p:cNvSpPr>
            <a:spLocks noGrp="1"/>
          </p:cNvSpPr>
          <p:nvPr/>
        </p:nvSpPr>
        <p:spPr>
          <a:xfrm>
            <a:off x="3978872" y="2725948"/>
            <a:ext cx="4095750" cy="428625"/>
          </a:xfrm>
          <a:prstGeom prst="roundRect">
            <a:avLst>
              <a:gd name="adj" fmla="val 17778"/>
            </a:avLst>
          </a:prstGeom>
          <a:solidFill>
            <a:srgbClr val="F7EDC8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 fontScale="98867" lnSpcReduction="10000"/>
          </a:bodyPr>
          <a:lstStyle/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Model providers</a:t>
            </a:r>
          </a:p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DeepSeek • Speech</a:t>
            </a:r>
          </a:p>
        </p:txBody>
      </p:sp>
      <p:cxnSp>
        <p:nvCxnSpPr>
          <p:cNvPr id="1733" name="Straight Arrow Connector 1624"/>
          <p:cNvCxnSpPr>
            <a:stCxn id="1441" idx="2"/>
            <a:endCxn id="1442" idx="0"/>
          </p:cNvCxnSpPr>
          <p:nvPr/>
        </p:nvCxnSpPr>
        <p:spPr>
          <a:xfrm>
            <a:off x="6026747" y="1582948"/>
            <a:ext cx="0" cy="95250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734" name="Straight Arrow Connector 1625"/>
          <p:cNvCxnSpPr>
            <a:stCxn id="1442" idx="2"/>
            <a:endCxn id="1443" idx="0"/>
          </p:cNvCxnSpPr>
          <p:nvPr/>
        </p:nvCxnSpPr>
        <p:spPr>
          <a:xfrm>
            <a:off x="6026747" y="2106823"/>
            <a:ext cx="0" cy="95250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735" name="Straight Arrow Connector 1626"/>
          <p:cNvCxnSpPr>
            <a:stCxn id="1443" idx="2"/>
            <a:endCxn id="1444" idx="0"/>
          </p:cNvCxnSpPr>
          <p:nvPr/>
        </p:nvCxnSpPr>
        <p:spPr>
          <a:xfrm>
            <a:off x="6026747" y="2630698"/>
            <a:ext cx="0" cy="95250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sp>
        <p:nvSpPr>
          <p:cNvPr id="1448" name="Rectangle: Rounded Corners 1447">
            <a:extLst>
              <a:ext uri="{FF2B5EF4-FFF2-40B4-BE49-F238E27FC236}">
                <a16:creationId xmlns:a16="http://schemas.microsoft.com/office/drawing/2014/main" id="{95E02551-2917-4547-94A1-B5F086CA64D7}"/>
              </a:ext>
            </a:extLst>
          </p:cNvPr>
          <p:cNvSpPr>
            <a:spLocks noGrp="1"/>
          </p:cNvSpPr>
          <p:nvPr/>
        </p:nvSpPr>
        <p:spPr>
          <a:xfrm>
            <a:off x="6264872" y="3392698"/>
            <a:ext cx="1381125" cy="590550"/>
          </a:xfrm>
          <a:prstGeom prst="roundRect">
            <a:avLst>
              <a:gd name="adj" fmla="val 12903"/>
            </a:avLst>
          </a:prstGeom>
          <a:solidFill>
            <a:srgbClr val="D7E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MongoDB</a:t>
            </a:r>
          </a:p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state + audit</a:t>
            </a:r>
          </a:p>
        </p:txBody>
      </p:sp>
      <p:sp>
        <p:nvSpPr>
          <p:cNvPr id="1449" name="Rectangle: Rounded Corners 1448">
            <a:extLst>
              <a:ext uri="{FF2B5EF4-FFF2-40B4-BE49-F238E27FC236}">
                <a16:creationId xmlns:a16="http://schemas.microsoft.com/office/drawing/2014/main" id="{5EB3917B-4F77-474A-A689-C8329A87E2DA}"/>
              </a:ext>
            </a:extLst>
          </p:cNvPr>
          <p:cNvSpPr>
            <a:spLocks noGrp="1"/>
          </p:cNvSpPr>
          <p:nvPr/>
        </p:nvSpPr>
        <p:spPr>
          <a:xfrm>
            <a:off x="4645622" y="3392698"/>
            <a:ext cx="1381125" cy="590550"/>
          </a:xfrm>
          <a:prstGeom prst="roundRect">
            <a:avLst>
              <a:gd name="adj" fmla="val 12903"/>
            </a:avLst>
          </a:prstGeom>
          <a:solidFill>
            <a:srgbClr val="E4D9EE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Qdrant</a:t>
            </a:r>
          </a:p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Dense + BM25</a:t>
            </a:r>
          </a:p>
        </p:txBody>
      </p:sp>
      <p:cxnSp>
        <p:nvCxnSpPr>
          <p:cNvPr id="1738" name="Connector: Elbow 1629"/>
          <p:cNvCxnSpPr>
            <a:stCxn id="1442" idx="3"/>
            <a:endCxn id="1448" idx="0"/>
          </p:cNvCxnSpPr>
          <p:nvPr/>
        </p:nvCxnSpPr>
        <p:spPr>
          <a:xfrm flipH="1">
            <a:off x="6955435" y="1892511"/>
            <a:ext cx="1119188" cy="1500188"/>
          </a:xfrm>
          <a:prstGeom prst="bentConnector2">
            <a:avLst/>
          </a:prstGeom>
          <a:ln w="17145">
            <a:solidFill>
              <a:srgbClr val="6C766B"/>
            </a:solidFill>
            <a:prstDash val="dash"/>
            <a:tailEnd type="triangle" w="sm" len="sm"/>
          </a:ln>
        </p:spPr>
      </p:cxnSp>
      <p:cxnSp>
        <p:nvCxnSpPr>
          <p:cNvPr id="1739" name="Connector: Elbow 1630"/>
          <p:cNvCxnSpPr>
            <a:stCxn id="1443" idx="1"/>
            <a:endCxn id="1449" idx="0"/>
          </p:cNvCxnSpPr>
          <p:nvPr/>
        </p:nvCxnSpPr>
        <p:spPr>
          <a:xfrm>
            <a:off x="3978872" y="2416386"/>
            <a:ext cx="1357313" cy="976313"/>
          </a:xfrm>
          <a:prstGeom prst="bentConnector2">
            <a:avLst/>
          </a:prstGeom>
          <a:ln w="17145">
            <a:solidFill>
              <a:srgbClr val="6C766B"/>
            </a:solidFill>
            <a:prstDash val="dash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639275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87">
            <a:extLst>
              <a:ext uri="{FF2B5EF4-FFF2-40B4-BE49-F238E27FC236}">
                <a16:creationId xmlns:a16="http://schemas.microsoft.com/office/drawing/2014/main" id="{B3B18513-4946-4579-871F-6BFF69882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725" y="922567"/>
            <a:ext cx="3123000" cy="225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7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Mô hình dữ liệu giữ ownership và provenance</a:t>
            </a:r>
            <a:endParaRPr/>
          </a:p>
        </p:txBody>
      </p:sp>
      <p:sp>
        <p:nvSpPr>
          <p:cNvPr id="865" name="Google Shape;865;p87">
            <a:extLst>
              <a:ext uri="{FF2B5EF4-FFF2-40B4-BE49-F238E27FC236}">
                <a16:creationId xmlns:a16="http://schemas.microsoft.com/office/drawing/2014/main" id="{6BE3C6A7-B5EE-46A2-AE4C-C32030FA4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725" y="3360938"/>
            <a:ext cx="3013500" cy="78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1000"/>
              </a:spcAft>
              <a:buNone/>
              <a:defRPr sz="97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97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User, job, invitation, interview, answer, evaluation và audit liên kết theo vòng đời.</a:t>
            </a:r>
            <a:endParaRPr/>
          </a:p>
        </p:txBody>
      </p:sp>
      <p:sp>
        <p:nvSpPr>
          <p:cNvPr id="866" name="Rectangle: Rounded Corners 865">
            <a:extLst>
              <a:ext uri="{FF2B5EF4-FFF2-40B4-BE49-F238E27FC236}">
                <a16:creationId xmlns:a16="http://schemas.microsoft.com/office/drawing/2014/main" id="{33476414-26F1-416C-9354-BB23326B1782}"/>
              </a:ext>
            </a:extLst>
          </p:cNvPr>
          <p:cNvSpPr>
            <a:spLocks noGrp="1"/>
          </p:cNvSpPr>
          <p:nvPr/>
        </p:nvSpPr>
        <p:spPr>
          <a:xfrm>
            <a:off x="4857750" y="1381125"/>
            <a:ext cx="1095375" cy="590550"/>
          </a:xfrm>
          <a:prstGeom prst="roundRect">
            <a:avLst>
              <a:gd name="adj" fmla="val 12903"/>
            </a:avLst>
          </a:prstGeom>
          <a:solidFill>
            <a:srgbClr val="D7E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User</a:t>
            </a:r>
          </a:p>
        </p:txBody>
      </p:sp>
      <p:sp>
        <p:nvSpPr>
          <p:cNvPr id="867" name="Rectangle: Rounded Corners 866">
            <a:extLst>
              <a:ext uri="{FF2B5EF4-FFF2-40B4-BE49-F238E27FC236}">
                <a16:creationId xmlns:a16="http://schemas.microsoft.com/office/drawing/2014/main" id="{64B43FFA-43C9-468A-BFB9-345F40E32AD0}"/>
              </a:ext>
            </a:extLst>
          </p:cNvPr>
          <p:cNvSpPr>
            <a:spLocks noGrp="1"/>
          </p:cNvSpPr>
          <p:nvPr/>
        </p:nvSpPr>
        <p:spPr>
          <a:xfrm>
            <a:off x="6667500" y="1381125"/>
            <a:ext cx="1095375" cy="590550"/>
          </a:xfrm>
          <a:prstGeom prst="roundRect">
            <a:avLst>
              <a:gd name="adj" fmla="val 12903"/>
            </a:avLst>
          </a:prstGeom>
          <a:solidFill>
            <a:srgbClr val="F7EDC8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Job</a:t>
            </a:r>
          </a:p>
        </p:txBody>
      </p:sp>
      <p:sp>
        <p:nvSpPr>
          <p:cNvPr id="868" name="Rectangle: Rounded Corners 867">
            <a:extLst>
              <a:ext uri="{FF2B5EF4-FFF2-40B4-BE49-F238E27FC236}">
                <a16:creationId xmlns:a16="http://schemas.microsoft.com/office/drawing/2014/main" id="{FA3BD10C-649F-4AED-A314-AC02695116E5}"/>
              </a:ext>
            </a:extLst>
          </p:cNvPr>
          <p:cNvSpPr>
            <a:spLocks noGrp="1"/>
          </p:cNvSpPr>
          <p:nvPr/>
        </p:nvSpPr>
        <p:spPr>
          <a:xfrm>
            <a:off x="5762625" y="2238375"/>
            <a:ext cx="1190625" cy="590550"/>
          </a:xfrm>
          <a:prstGeom prst="roundRect">
            <a:avLst>
              <a:gd name="adj" fmla="val 12903"/>
            </a:avLst>
          </a:prstGeom>
          <a:solidFill>
            <a:srgbClr val="E4D9EE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Invitation</a:t>
            </a:r>
          </a:p>
        </p:txBody>
      </p:sp>
      <p:sp>
        <p:nvSpPr>
          <p:cNvPr id="869" name="Rectangle: Rounded Corners 868">
            <a:extLst>
              <a:ext uri="{FF2B5EF4-FFF2-40B4-BE49-F238E27FC236}">
                <a16:creationId xmlns:a16="http://schemas.microsoft.com/office/drawing/2014/main" id="{D7B142D3-03F7-4D0B-B997-F455C239F0A5}"/>
              </a:ext>
            </a:extLst>
          </p:cNvPr>
          <p:cNvSpPr>
            <a:spLocks noGrp="1"/>
          </p:cNvSpPr>
          <p:nvPr/>
        </p:nvSpPr>
        <p:spPr>
          <a:xfrm>
            <a:off x="4857750" y="3143250"/>
            <a:ext cx="1190625" cy="590550"/>
          </a:xfrm>
          <a:prstGeom prst="roundRect">
            <a:avLst>
              <a:gd name="adj" fmla="val 12903"/>
            </a:avLst>
          </a:prstGeom>
          <a:solidFill>
            <a:srgbClr val="F4F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Interview</a:t>
            </a:r>
          </a:p>
        </p:txBody>
      </p:sp>
      <p:sp>
        <p:nvSpPr>
          <p:cNvPr id="870" name="Rectangle: Rounded Corners 869">
            <a:extLst>
              <a:ext uri="{FF2B5EF4-FFF2-40B4-BE49-F238E27FC236}">
                <a16:creationId xmlns:a16="http://schemas.microsoft.com/office/drawing/2014/main" id="{95A8B8BC-A2D6-48EA-8328-AA5B1596E1AF}"/>
              </a:ext>
            </a:extLst>
          </p:cNvPr>
          <p:cNvSpPr>
            <a:spLocks noGrp="1"/>
          </p:cNvSpPr>
          <p:nvPr/>
        </p:nvSpPr>
        <p:spPr>
          <a:xfrm>
            <a:off x="6667500" y="3143250"/>
            <a:ext cx="1095375" cy="590550"/>
          </a:xfrm>
          <a:prstGeom prst="roundRect">
            <a:avLst>
              <a:gd name="adj" fmla="val 12903"/>
            </a:avLst>
          </a:prstGeom>
          <a:solidFill>
            <a:srgbClr val="D7E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Answer</a:t>
            </a:r>
          </a:p>
        </p:txBody>
      </p:sp>
      <p:sp>
        <p:nvSpPr>
          <p:cNvPr id="871" name="Rectangle: Rounded Corners 870">
            <a:extLst>
              <a:ext uri="{FF2B5EF4-FFF2-40B4-BE49-F238E27FC236}">
                <a16:creationId xmlns:a16="http://schemas.microsoft.com/office/drawing/2014/main" id="{3FC54BF5-F37D-482F-B51B-7D9A4D36BB04}"/>
              </a:ext>
            </a:extLst>
          </p:cNvPr>
          <p:cNvSpPr>
            <a:spLocks noGrp="1"/>
          </p:cNvSpPr>
          <p:nvPr/>
        </p:nvSpPr>
        <p:spPr>
          <a:xfrm>
            <a:off x="5762625" y="4000500"/>
            <a:ext cx="1190625" cy="590550"/>
          </a:xfrm>
          <a:prstGeom prst="roundRect">
            <a:avLst>
              <a:gd name="adj" fmla="val 12903"/>
            </a:avLst>
          </a:prstGeom>
          <a:solidFill>
            <a:srgbClr val="F4D7D3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Evaluation</a:t>
            </a:r>
          </a:p>
        </p:txBody>
      </p:sp>
      <p:cxnSp>
        <p:nvCxnSpPr>
          <p:cNvPr id="1096" name="Straight Arrow Connector 1011"/>
          <p:cNvCxnSpPr>
            <a:stCxn id="866" idx="2"/>
            <a:endCxn id="868" idx="1"/>
          </p:cNvCxnSpPr>
          <p:nvPr/>
        </p:nvCxnSpPr>
        <p:spPr>
          <a:xfrm>
            <a:off x="5405438" y="1971675"/>
            <a:ext cx="357188" cy="561975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097" name="Straight Arrow Connector 1012"/>
          <p:cNvCxnSpPr>
            <a:stCxn id="867" idx="2"/>
            <a:endCxn id="868" idx="3"/>
          </p:cNvCxnSpPr>
          <p:nvPr/>
        </p:nvCxnSpPr>
        <p:spPr>
          <a:xfrm flipH="1">
            <a:off x="6953250" y="1971675"/>
            <a:ext cx="261938" cy="561975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098" name="Straight Arrow Connector 1013"/>
          <p:cNvCxnSpPr>
            <a:stCxn id="868" idx="2"/>
            <a:endCxn id="869" idx="0"/>
          </p:cNvCxnSpPr>
          <p:nvPr/>
        </p:nvCxnSpPr>
        <p:spPr>
          <a:xfrm flipH="1">
            <a:off x="5453063" y="2828925"/>
            <a:ext cx="904875" cy="314325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099" name="Straight Arrow Connector 1014"/>
          <p:cNvCxnSpPr>
            <a:stCxn id="869" idx="3"/>
            <a:endCxn id="870" idx="1"/>
          </p:cNvCxnSpPr>
          <p:nvPr/>
        </p:nvCxnSpPr>
        <p:spPr>
          <a:xfrm>
            <a:off x="6048375" y="3438525"/>
            <a:ext cx="619125" cy="0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100" name="Straight Arrow Connector 1015"/>
          <p:cNvCxnSpPr>
            <a:stCxn id="870" idx="2"/>
            <a:endCxn id="871" idx="3"/>
          </p:cNvCxnSpPr>
          <p:nvPr/>
        </p:nvCxnSpPr>
        <p:spPr>
          <a:xfrm flipH="1">
            <a:off x="6953250" y="3733800"/>
            <a:ext cx="261938" cy="561975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101" name="Straight Arrow Connector 1016"/>
          <p:cNvCxnSpPr>
            <a:stCxn id="869" idx="2"/>
            <a:endCxn id="871" idx="1"/>
          </p:cNvCxnSpPr>
          <p:nvPr/>
        </p:nvCxnSpPr>
        <p:spPr>
          <a:xfrm>
            <a:off x="5453063" y="3733800"/>
            <a:ext cx="309563" cy="561975"/>
          </a:xfrm>
          <a:prstGeom prst="straightConnector1">
            <a:avLst/>
          </a:prstGeom>
          <a:ln w="17145">
            <a:solidFill>
              <a:srgbClr val="6C766B"/>
            </a:solidFill>
            <a:prstDash val="dash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3521908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88">
            <a:extLst>
              <a:ext uri="{FF2B5EF4-FFF2-40B4-BE49-F238E27FC236}">
                <a16:creationId xmlns:a16="http://schemas.microsoft.com/office/drawing/2014/main" id="{DA2BF864-E1E1-4E62-9286-F6EAC0D7B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0925" y="962565"/>
            <a:ext cx="3123000" cy="2257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7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7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Use case phản ánh đúng quyền sở hữu</a:t>
            </a:r>
            <a:endParaRPr/>
          </a:p>
        </p:txBody>
      </p:sp>
      <p:sp>
        <p:nvSpPr>
          <p:cNvPr id="872" name="Google Shape;872;p88">
            <a:extLst>
              <a:ext uri="{FF2B5EF4-FFF2-40B4-BE49-F238E27FC236}">
                <a16:creationId xmlns:a16="http://schemas.microsoft.com/office/drawing/2014/main" id="{06643029-4620-422E-9AEF-2E21CC8847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0925" y="3400935"/>
            <a:ext cx="3013500" cy="7800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  <a:defRPr sz="97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97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Ba actor dùng chung nền tảng nhưng không chia sẻ quyền quyết định; AI nằm ngoài biên tuyển dụng.</a:t>
            </a:r>
            <a:endParaRPr/>
          </a:p>
        </p:txBody>
      </p:sp>
      <p:sp>
        <p:nvSpPr>
          <p:cNvPr id="873" name="Rectangle: Rounded Corners 872">
            <a:extLst>
              <a:ext uri="{FF2B5EF4-FFF2-40B4-BE49-F238E27FC236}">
                <a16:creationId xmlns:a16="http://schemas.microsoft.com/office/drawing/2014/main" id="{C32DCE42-3FFE-440F-8209-5AE1847508BF}"/>
              </a:ext>
            </a:extLst>
          </p:cNvPr>
          <p:cNvSpPr>
            <a:spLocks noGrp="1"/>
          </p:cNvSpPr>
          <p:nvPr/>
        </p:nvSpPr>
        <p:spPr>
          <a:xfrm>
            <a:off x="2333625" y="2143125"/>
            <a:ext cx="1428750" cy="876300"/>
          </a:xfrm>
          <a:prstGeom prst="roundRect">
            <a:avLst>
              <a:gd name="adj" fmla="val 8696"/>
            </a:avLst>
          </a:prstGeom>
          <a:solidFill>
            <a:srgbClr val="F4F7F1"/>
          </a:solidFill>
          <a:ln w="19050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2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InterV</a:t>
            </a:r>
          </a:p>
          <a:p>
            <a:pPr algn="ctr">
              <a:buNone/>
              <a:defRPr sz="12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application core</a:t>
            </a:r>
          </a:p>
        </p:txBody>
      </p:sp>
      <p:sp>
        <p:nvSpPr>
          <p:cNvPr id="874" name="Rectangle: Rounded Corners 873">
            <a:extLst>
              <a:ext uri="{FF2B5EF4-FFF2-40B4-BE49-F238E27FC236}">
                <a16:creationId xmlns:a16="http://schemas.microsoft.com/office/drawing/2014/main" id="{9BE90825-62B6-4636-912B-2354EFF8620C}"/>
              </a:ext>
            </a:extLst>
          </p:cNvPr>
          <p:cNvSpPr>
            <a:spLocks noGrp="1"/>
          </p:cNvSpPr>
          <p:nvPr/>
        </p:nvSpPr>
        <p:spPr>
          <a:xfrm>
            <a:off x="857250" y="1143000"/>
            <a:ext cx="1143000" cy="571500"/>
          </a:xfrm>
          <a:prstGeom prst="roundRect">
            <a:avLst>
              <a:gd name="adj" fmla="val 13333"/>
            </a:avLst>
          </a:prstGeom>
          <a:solidFill>
            <a:srgbClr val="D7E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Ứng viên</a:t>
            </a:r>
          </a:p>
        </p:txBody>
      </p:sp>
      <p:sp>
        <p:nvSpPr>
          <p:cNvPr id="875" name="Rectangle: Rounded Corners 874">
            <a:extLst>
              <a:ext uri="{FF2B5EF4-FFF2-40B4-BE49-F238E27FC236}">
                <a16:creationId xmlns:a16="http://schemas.microsoft.com/office/drawing/2014/main" id="{37BAD1FF-D9F7-4576-AB3E-9287CA6E44A1}"/>
              </a:ext>
            </a:extLst>
          </p:cNvPr>
          <p:cNvSpPr>
            <a:spLocks noGrp="1"/>
          </p:cNvSpPr>
          <p:nvPr/>
        </p:nvSpPr>
        <p:spPr>
          <a:xfrm>
            <a:off x="857250" y="3333750"/>
            <a:ext cx="1143000" cy="571500"/>
          </a:xfrm>
          <a:prstGeom prst="roundRect">
            <a:avLst>
              <a:gd name="adj" fmla="val 13333"/>
            </a:avLst>
          </a:prstGeom>
          <a:solidFill>
            <a:srgbClr val="F7EDC8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Recruiter</a:t>
            </a:r>
          </a:p>
        </p:txBody>
      </p:sp>
      <p:sp>
        <p:nvSpPr>
          <p:cNvPr id="876" name="Rectangle: Rounded Corners 875">
            <a:extLst>
              <a:ext uri="{FF2B5EF4-FFF2-40B4-BE49-F238E27FC236}">
                <a16:creationId xmlns:a16="http://schemas.microsoft.com/office/drawing/2014/main" id="{FE6DB4C1-1A14-403D-A626-0395C2CB8190}"/>
              </a:ext>
            </a:extLst>
          </p:cNvPr>
          <p:cNvSpPr>
            <a:spLocks noGrp="1"/>
          </p:cNvSpPr>
          <p:nvPr/>
        </p:nvSpPr>
        <p:spPr>
          <a:xfrm>
            <a:off x="4000500" y="1143000"/>
            <a:ext cx="1143000" cy="571500"/>
          </a:xfrm>
          <a:prstGeom prst="roundRect">
            <a:avLst>
              <a:gd name="adj" fmla="val 13333"/>
            </a:avLst>
          </a:prstGeom>
          <a:solidFill>
            <a:srgbClr val="E4D9EE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Admin</a:t>
            </a:r>
          </a:p>
        </p:txBody>
      </p:sp>
      <p:sp>
        <p:nvSpPr>
          <p:cNvPr id="877" name="Rectangle: Rounded Corners 876">
            <a:extLst>
              <a:ext uri="{FF2B5EF4-FFF2-40B4-BE49-F238E27FC236}">
                <a16:creationId xmlns:a16="http://schemas.microsoft.com/office/drawing/2014/main" id="{94B4319F-E462-4EE6-8AE0-96C2392E6A3B}"/>
              </a:ext>
            </a:extLst>
          </p:cNvPr>
          <p:cNvSpPr>
            <a:spLocks noGrp="1"/>
          </p:cNvSpPr>
          <p:nvPr/>
        </p:nvSpPr>
        <p:spPr>
          <a:xfrm>
            <a:off x="4000500" y="3333750"/>
            <a:ext cx="1143000" cy="571500"/>
          </a:xfrm>
          <a:prstGeom prst="roundRect">
            <a:avLst>
              <a:gd name="adj" fmla="val 13333"/>
            </a:avLst>
          </a:prstGeom>
          <a:solidFill>
            <a:srgbClr val="F4D7D3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AI providers</a:t>
            </a:r>
          </a:p>
        </p:txBody>
      </p:sp>
      <p:cxnSp>
        <p:nvCxnSpPr>
          <p:cNvPr id="1057" name="Straight Arrow Connector 990"/>
          <p:cNvCxnSpPr>
            <a:stCxn id="874" idx="3"/>
            <a:endCxn id="873" idx="1"/>
          </p:cNvCxnSpPr>
          <p:nvPr/>
        </p:nvCxnSpPr>
        <p:spPr>
          <a:xfrm>
            <a:off x="2000250" y="1428750"/>
            <a:ext cx="333375" cy="1152525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058" name="Straight Arrow Connector 991"/>
          <p:cNvCxnSpPr>
            <a:stCxn id="875" idx="3"/>
            <a:endCxn id="873" idx="1"/>
          </p:cNvCxnSpPr>
          <p:nvPr/>
        </p:nvCxnSpPr>
        <p:spPr>
          <a:xfrm flipV="1">
            <a:off x="2000250" y="2581275"/>
            <a:ext cx="333375" cy="1038225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059" name="Straight Arrow Connector 992"/>
          <p:cNvCxnSpPr>
            <a:stCxn id="876" idx="1"/>
            <a:endCxn id="873" idx="0"/>
          </p:cNvCxnSpPr>
          <p:nvPr/>
        </p:nvCxnSpPr>
        <p:spPr>
          <a:xfrm flipH="1">
            <a:off x="3048000" y="1428750"/>
            <a:ext cx="952500" cy="714375"/>
          </a:xfrm>
          <a:prstGeom prst="straightConnector1">
            <a:avLst/>
          </a:prstGeom>
          <a:ln w="17145">
            <a:solidFill>
              <a:srgbClr val="6C766B"/>
            </a:solidFill>
            <a:prstDash val="solid"/>
            <a:tailEnd type="triangle" w="sm" len="sm"/>
          </a:ln>
        </p:spPr>
      </p:cxnSp>
      <p:cxnSp>
        <p:nvCxnSpPr>
          <p:cNvPr id="1060" name="Straight Arrow Connector 993"/>
          <p:cNvCxnSpPr>
            <a:stCxn id="873" idx="3"/>
            <a:endCxn id="877" idx="1"/>
          </p:cNvCxnSpPr>
          <p:nvPr/>
        </p:nvCxnSpPr>
        <p:spPr>
          <a:xfrm>
            <a:off x="3762375" y="2581275"/>
            <a:ext cx="238125" cy="1038225"/>
          </a:xfrm>
          <a:prstGeom prst="straightConnector1">
            <a:avLst/>
          </a:prstGeom>
          <a:ln w="17145">
            <a:solidFill>
              <a:srgbClr val="6C766B"/>
            </a:solidFill>
            <a:prstDash val="dash"/>
            <a:tailEnd type="triangle" w="sm" len="sm"/>
          </a:ln>
        </p:spPr>
      </p:cxnSp>
      <p:sp>
        <p:nvSpPr>
          <p:cNvPr id="882" name="Rectangle 881">
            <a:extLst>
              <a:ext uri="{FF2B5EF4-FFF2-40B4-BE49-F238E27FC236}">
                <a16:creationId xmlns:a16="http://schemas.microsoft.com/office/drawing/2014/main" id="{33D1D4E7-EEAB-44AE-87F0-AD47C1872C05}"/>
              </a:ext>
            </a:extLst>
          </p:cNvPr>
          <p:cNvSpPr>
            <a:spLocks noGrp="1"/>
          </p:cNvSpPr>
          <p:nvPr/>
        </p:nvSpPr>
        <p:spPr>
          <a:xfrm>
            <a:off x="819150" y="1857375"/>
            <a:ext cx="1285875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Luyện tập / tham gia</a:t>
            </a:r>
          </a:p>
        </p:txBody>
      </p:sp>
      <p:sp>
        <p:nvSpPr>
          <p:cNvPr id="883" name="Rectangle 882">
            <a:extLst>
              <a:ext uri="{FF2B5EF4-FFF2-40B4-BE49-F238E27FC236}">
                <a16:creationId xmlns:a16="http://schemas.microsoft.com/office/drawing/2014/main" id="{0EFC78D7-CFDA-4E0A-BFA0-C1F21F8EF429}"/>
              </a:ext>
            </a:extLst>
          </p:cNvPr>
          <p:cNvSpPr>
            <a:spLocks noGrp="1"/>
          </p:cNvSpPr>
          <p:nvPr/>
        </p:nvSpPr>
        <p:spPr>
          <a:xfrm>
            <a:off x="590550" y="3000375"/>
            <a:ext cx="1714500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JD / chiến dịch / đánh giá</a:t>
            </a:r>
          </a:p>
        </p:txBody>
      </p:sp>
      <p:sp>
        <p:nvSpPr>
          <p:cNvPr id="884" name="Rectangle 883">
            <a:extLst>
              <a:ext uri="{FF2B5EF4-FFF2-40B4-BE49-F238E27FC236}">
                <a16:creationId xmlns:a16="http://schemas.microsoft.com/office/drawing/2014/main" id="{5E3031C3-CD55-4FEF-9B87-CE1E6082C002}"/>
              </a:ext>
            </a:extLst>
          </p:cNvPr>
          <p:cNvSpPr>
            <a:spLocks noGrp="1"/>
          </p:cNvSpPr>
          <p:nvPr/>
        </p:nvSpPr>
        <p:spPr>
          <a:xfrm>
            <a:off x="3781425" y="3000375"/>
            <a:ext cx="1619250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AI không giữ quyền tuyển dụng</a:t>
            </a:r>
          </a:p>
        </p:txBody>
      </p:sp>
    </p:spTree>
    <p:extLst>
      <p:ext uri="{BB962C8B-B14F-4D97-AF65-F5344CB8AC3E}">
        <p14:creationId xmlns:p14="http://schemas.microsoft.com/office/powerpoint/2010/main" val="20834468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traight Connector 51">
            <a:extLst>
              <a:ext uri="{FF2B5EF4-FFF2-40B4-BE49-F238E27FC236}">
                <a16:creationId xmlns:a16="http://schemas.microsoft.com/office/drawing/2014/main" id="{68F9046A-8FAB-4F15-93DC-566FCB93B73B}"/>
              </a:ext>
            </a:extLst>
          </p:cNvPr>
          <p:cNvSpPr>
            <a:spLocks noGrp="1"/>
          </p:cNvSpPr>
          <p:nvPr/>
        </p:nvSpPr>
        <p:spPr>
          <a:xfrm>
            <a:off x="2000250" y="2362200"/>
            <a:ext cx="809625" cy="0"/>
          </a:xfrm>
          <a:prstGeom prst="line">
            <a:avLst/>
          </a:prstGeom>
          <a:ln w="20003">
            <a:solidFill>
              <a:srgbClr val="4B8D17"/>
            </a:solidFill>
            <a:prstDash val="solid"/>
          </a:ln>
        </p:spPr>
      </p:sp>
      <p:sp>
        <p:nvSpPr>
          <p:cNvPr id="2" name="Arrow: Chevron 1">
            <a:extLst>
              <a:ext uri="{FF2B5EF4-FFF2-40B4-BE49-F238E27FC236}">
                <a16:creationId xmlns:a16="http://schemas.microsoft.com/office/drawing/2014/main" id="{275ABFFC-F738-4FDC-8E44-B8A10609951E}"/>
              </a:ext>
            </a:extLst>
          </p:cNvPr>
          <p:cNvSpPr>
            <a:spLocks noGrp="1"/>
          </p:cNvSpPr>
          <p:nvPr/>
        </p:nvSpPr>
        <p:spPr>
          <a:xfrm>
            <a:off x="2724150" y="2276475"/>
            <a:ext cx="171450" cy="171450"/>
          </a:xfrm>
          <a:prstGeom prst="chevron">
            <a:avLst/>
          </a:prstGeom>
          <a:solidFill>
            <a:srgbClr val="4B8D17"/>
          </a:solidFill>
          <a:ln w="3810">
            <a:solidFill>
              <a:srgbClr val="4B8D17"/>
            </a:solidFill>
            <a:prstDash val="solid"/>
          </a:ln>
        </p:spPr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9AAC859-041C-4B32-A421-CF92CDF301A4}"/>
              </a:ext>
            </a:extLst>
          </p:cNvPr>
          <p:cNvSpPr>
            <a:spLocks noGrp="1"/>
          </p:cNvSpPr>
          <p:nvPr/>
        </p:nvSpPr>
        <p:spPr>
          <a:xfrm>
            <a:off x="3381375" y="2362200"/>
            <a:ext cx="1066800" cy="0"/>
          </a:xfrm>
          <a:prstGeom prst="line">
            <a:avLst/>
          </a:prstGeom>
          <a:ln w="20003">
            <a:solidFill>
              <a:srgbClr val="4B8D17"/>
            </a:solidFill>
            <a:prstDash val="solid"/>
          </a:ln>
        </p:spPr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3DB2DF6F-74C2-4C1A-9B9B-FB53FC2F2DAB}"/>
              </a:ext>
            </a:extLst>
          </p:cNvPr>
          <p:cNvSpPr>
            <a:spLocks noGrp="1"/>
          </p:cNvSpPr>
          <p:nvPr/>
        </p:nvSpPr>
        <p:spPr>
          <a:xfrm>
            <a:off x="4343400" y="2276475"/>
            <a:ext cx="171450" cy="171450"/>
          </a:xfrm>
          <a:prstGeom prst="chevron">
            <a:avLst/>
          </a:prstGeom>
          <a:solidFill>
            <a:srgbClr val="4B8D17"/>
          </a:solidFill>
          <a:ln w="3810">
            <a:solidFill>
              <a:srgbClr val="4B8D17"/>
            </a:solidFill>
            <a:prstDash val="solid"/>
          </a:ln>
        </p:spPr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2EB5F25B-75D4-4A32-8888-6E132C21179A}"/>
              </a:ext>
            </a:extLst>
          </p:cNvPr>
          <p:cNvSpPr>
            <a:spLocks noGrp="1"/>
          </p:cNvSpPr>
          <p:nvPr/>
        </p:nvSpPr>
        <p:spPr>
          <a:xfrm>
            <a:off x="3095625" y="2562225"/>
            <a:ext cx="0" cy="1009650"/>
          </a:xfrm>
          <a:prstGeom prst="line">
            <a:avLst/>
          </a:prstGeom>
          <a:ln w="14288">
            <a:solidFill>
              <a:srgbClr val="4B8D17"/>
            </a:solidFill>
            <a:prstDash val="solid"/>
          </a:ln>
        </p:spPr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AEAAD8C5-D7E9-4DBC-9CF3-EF3F6DC1755E}"/>
              </a:ext>
            </a:extLst>
          </p:cNvPr>
          <p:cNvSpPr>
            <a:spLocks noGrp="1"/>
          </p:cNvSpPr>
          <p:nvPr/>
        </p:nvSpPr>
        <p:spPr>
          <a:xfrm>
            <a:off x="3095625" y="3571875"/>
            <a:ext cx="4286250" cy="0"/>
          </a:xfrm>
          <a:prstGeom prst="line">
            <a:avLst/>
          </a:prstGeom>
          <a:ln w="14288">
            <a:solidFill>
              <a:srgbClr val="4B8D17"/>
            </a:solidFill>
            <a:prstDash val="solid"/>
          </a:ln>
        </p:spPr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66242EB3-B835-4D27-9307-7129DE56B045}"/>
              </a:ext>
            </a:extLst>
          </p:cNvPr>
          <p:cNvSpPr>
            <a:spLocks noGrp="1"/>
          </p:cNvSpPr>
          <p:nvPr/>
        </p:nvSpPr>
        <p:spPr>
          <a:xfrm>
            <a:off x="4000500" y="3505200"/>
            <a:ext cx="142875" cy="142875"/>
          </a:xfrm>
          <a:prstGeom prst="chevron">
            <a:avLst/>
          </a:prstGeom>
          <a:solidFill>
            <a:srgbClr val="4B8D17"/>
          </a:solidFill>
          <a:ln w="3810">
            <a:solidFill>
              <a:srgbClr val="4B8D17"/>
            </a:solidFill>
            <a:prstDash val="solid"/>
          </a:ln>
        </p:spPr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0EE280A0-71A7-428E-8752-EC4E2ED110C9}"/>
              </a:ext>
            </a:extLst>
          </p:cNvPr>
          <p:cNvSpPr>
            <a:spLocks noGrp="1"/>
          </p:cNvSpPr>
          <p:nvPr/>
        </p:nvSpPr>
        <p:spPr>
          <a:xfrm>
            <a:off x="5095875" y="3505200"/>
            <a:ext cx="142875" cy="142875"/>
          </a:xfrm>
          <a:prstGeom prst="chevron">
            <a:avLst/>
          </a:prstGeom>
          <a:solidFill>
            <a:srgbClr val="4B8D17"/>
          </a:solidFill>
          <a:ln w="3810">
            <a:solidFill>
              <a:srgbClr val="4B8D17"/>
            </a:solidFill>
            <a:prstDash val="solid"/>
          </a:ln>
        </p:spPr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E7881349-229D-4E39-AC34-BEB20D923531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142875" cy="142875"/>
          </a:xfrm>
          <a:prstGeom prst="chevron">
            <a:avLst/>
          </a:prstGeom>
          <a:solidFill>
            <a:srgbClr val="4B8D17"/>
          </a:solidFill>
          <a:ln w="3810">
            <a:solidFill>
              <a:srgbClr val="4B8D17"/>
            </a:solidFill>
            <a:prstDash val="solid"/>
          </a:ln>
        </p:spPr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D8F516F6-1B2A-4C9A-89F9-7934B9B48F51}"/>
              </a:ext>
            </a:extLst>
          </p:cNvPr>
          <p:cNvSpPr>
            <a:spLocks noGrp="1"/>
          </p:cNvSpPr>
          <p:nvPr/>
        </p:nvSpPr>
        <p:spPr>
          <a:xfrm>
            <a:off x="7191375" y="3505200"/>
            <a:ext cx="142875" cy="142875"/>
          </a:xfrm>
          <a:prstGeom prst="chevron">
            <a:avLst/>
          </a:prstGeom>
          <a:solidFill>
            <a:srgbClr val="4B8D17"/>
          </a:solidFill>
          <a:ln w="3810">
            <a:solidFill>
              <a:srgbClr val="4B8D17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27C500-3522-40B0-888C-B2FB871D6211}"/>
              </a:ext>
            </a:extLst>
          </p:cNvPr>
          <p:cNvSpPr>
            <a:spLocks noGrp="1"/>
          </p:cNvSpPr>
          <p:nvPr/>
        </p:nvSpPr>
        <p:spPr>
          <a:xfrm>
            <a:off x="714375" y="476250"/>
            <a:ext cx="7000875" cy="4381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l">
              <a:buNone/>
              <a:defRPr sz="2363" b="0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363" b="0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Lookahead thích ứng câu hỏi mà không ngắt phiên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5FD960-4BDB-411E-921B-72CCF6E9B5EC}"/>
              </a:ext>
            </a:extLst>
          </p:cNvPr>
          <p:cNvSpPr>
            <a:spLocks noGrp="1"/>
          </p:cNvSpPr>
          <p:nvPr/>
        </p:nvSpPr>
        <p:spPr>
          <a:xfrm>
            <a:off x="714375" y="981075"/>
            <a:ext cx="7000875" cy="2667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l">
              <a:buNone/>
              <a:defRPr sz="1088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1088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Qᵢ₊₁ được trả ngay; after() sinh Qᵢ₊₂ từ QA vừa commit.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D66F9-F17C-4629-88EA-DDD2C0504EAD}"/>
              </a:ext>
            </a:extLst>
          </p:cNvPr>
          <p:cNvSpPr>
            <a:spLocks noGrp="1"/>
          </p:cNvSpPr>
          <p:nvPr/>
        </p:nvSpPr>
        <p:spPr>
          <a:xfrm>
            <a:off x="7810500" y="476250"/>
            <a:ext cx="666750" cy="4000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r">
              <a:buNone/>
              <a:defRPr sz="21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1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3DEA1D-E657-4FD5-ABBC-C141A0F626C2}"/>
              </a:ext>
            </a:extLst>
          </p:cNvPr>
          <p:cNvSpPr>
            <a:spLocks noGrp="1"/>
          </p:cNvSpPr>
          <p:nvPr/>
        </p:nvSpPr>
        <p:spPr>
          <a:xfrm>
            <a:off x="714375" y="1495425"/>
            <a:ext cx="2000250" cy="2095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l">
              <a:buNone/>
              <a:def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LUỒNG NGƯỜI DÙNG</a:t>
            </a: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BE223C34-32F8-45BD-883F-FE2EB487E353}"/>
              </a:ext>
            </a:extLst>
          </p:cNvPr>
          <p:cNvSpPr>
            <a:spLocks noGrp="1"/>
          </p:cNvSpPr>
          <p:nvPr/>
        </p:nvSpPr>
        <p:spPr>
          <a:xfrm>
            <a:off x="714375" y="1752600"/>
            <a:ext cx="7715250" cy="0"/>
          </a:xfrm>
          <a:prstGeom prst="line">
            <a:avLst/>
          </a:prstGeom>
          <a:ln w="7620">
            <a:solidFill>
              <a:srgbClr val="788476"/>
            </a:solidFill>
            <a:prstDash val="solid"/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3D99067-C856-4C5D-92EB-08B504A7E9B0}"/>
              </a:ext>
            </a:extLst>
          </p:cNvPr>
          <p:cNvSpPr>
            <a:spLocks noGrp="1"/>
          </p:cNvSpPr>
          <p:nvPr/>
        </p:nvSpPr>
        <p:spPr>
          <a:xfrm>
            <a:off x="1143000" y="1933575"/>
            <a:ext cx="857250" cy="857250"/>
          </a:xfrm>
          <a:prstGeom prst="ellipse">
            <a:avLst/>
          </a:prstGeom>
          <a:solidFill>
            <a:srgbClr val="D7E7F1"/>
          </a:solidFill>
          <a:ln w="13335">
            <a:solidFill>
              <a:srgbClr val="788476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0FCC59-CFAB-4043-BE17-4CEBFBB9FF9F}"/>
              </a:ext>
            </a:extLst>
          </p:cNvPr>
          <p:cNvSpPr>
            <a:spLocks noGrp="1"/>
          </p:cNvSpPr>
          <p:nvPr/>
        </p:nvSpPr>
        <p:spPr>
          <a:xfrm>
            <a:off x="1200150" y="2038350"/>
            <a:ext cx="742950" cy="3810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19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9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Qᵢ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936C58C-6F2A-4F49-A9FD-A303A05227E4}"/>
              </a:ext>
            </a:extLst>
          </p:cNvPr>
          <p:cNvSpPr>
            <a:spLocks noGrp="1"/>
          </p:cNvSpPr>
          <p:nvPr/>
        </p:nvSpPr>
        <p:spPr>
          <a:xfrm>
            <a:off x="1000125" y="2400300"/>
            <a:ext cx="1143000" cy="2286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 fontScale="92500" lnSpcReduction="10000"/>
          </a:bodyPr>
          <a:lstStyle/>
          <a:p>
            <a:pPr algn="ctr">
              <a:buNone/>
              <a:defRPr sz="765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765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ghi âm + </a:t>
            </a:r>
          </a:p>
          <a:p>
            <a:pPr algn="ctr">
              <a:buNone/>
              <a:defRPr sz="765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765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transcript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5D1C24-BEE5-43E4-BCC2-C79FDA5B9AB3}"/>
              </a:ext>
            </a:extLst>
          </p:cNvPr>
          <p:cNvSpPr>
            <a:spLocks noGrp="1"/>
          </p:cNvSpPr>
          <p:nvPr/>
        </p:nvSpPr>
        <p:spPr>
          <a:xfrm>
            <a:off x="1028700" y="2819400"/>
            <a:ext cx="1085850" cy="2095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Câu hiện tại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34B85EE-1A44-4B19-A48D-A45088EBE77D}"/>
              </a:ext>
            </a:extLst>
          </p:cNvPr>
          <p:cNvSpPr>
            <a:spLocks noGrp="1"/>
          </p:cNvSpPr>
          <p:nvPr/>
        </p:nvSpPr>
        <p:spPr>
          <a:xfrm>
            <a:off x="2867025" y="2133600"/>
            <a:ext cx="457200" cy="457200"/>
          </a:xfrm>
          <a:prstGeom prst="ellipse">
            <a:avLst/>
          </a:prstGeom>
          <a:solidFill>
            <a:srgbClr val="F7EDC8"/>
          </a:solidFill>
          <a:ln w="13335">
            <a:solidFill>
              <a:srgbClr val="4B8D17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358567F-4F69-4937-B8D4-C6BDE1E59289}"/>
              </a:ext>
            </a:extLst>
          </p:cNvPr>
          <p:cNvSpPr>
            <a:spLocks noGrp="1"/>
          </p:cNvSpPr>
          <p:nvPr/>
        </p:nvSpPr>
        <p:spPr>
          <a:xfrm>
            <a:off x="2838450" y="2152650"/>
            <a:ext cx="514350" cy="4191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13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13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COMMIT</a:t>
            </a:r>
          </a:p>
          <a:p>
            <a:pPr algn="ctr">
              <a:buNone/>
              <a:defRPr sz="713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13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QA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AA1C8B7-440D-41BB-99DD-387AD2457AA7}"/>
              </a:ext>
            </a:extLst>
          </p:cNvPr>
          <p:cNvSpPr>
            <a:spLocks noGrp="1"/>
          </p:cNvSpPr>
          <p:nvPr/>
        </p:nvSpPr>
        <p:spPr>
          <a:xfrm>
            <a:off x="4457700" y="1866900"/>
            <a:ext cx="990600" cy="990600"/>
          </a:xfrm>
          <a:prstGeom prst="ellipse">
            <a:avLst/>
          </a:prstGeom>
          <a:solidFill>
            <a:srgbClr val="DFF0D6"/>
          </a:solidFill>
          <a:ln w="20003">
            <a:solidFill>
              <a:srgbClr val="4B8D17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0281B5-CB6D-4479-A2F5-62F9753629C5}"/>
              </a:ext>
            </a:extLst>
          </p:cNvPr>
          <p:cNvSpPr>
            <a:spLocks noGrp="1"/>
          </p:cNvSpPr>
          <p:nvPr/>
        </p:nvSpPr>
        <p:spPr>
          <a:xfrm>
            <a:off x="4524375" y="2009775"/>
            <a:ext cx="857250" cy="3810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1913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1913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Qᵢ₊₁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CB26A6A-ACDF-4BA1-8FF9-AB6B38A225F6}"/>
              </a:ext>
            </a:extLst>
          </p:cNvPr>
          <p:cNvSpPr>
            <a:spLocks noGrp="1"/>
          </p:cNvSpPr>
          <p:nvPr/>
        </p:nvSpPr>
        <p:spPr>
          <a:xfrm>
            <a:off x="4400550" y="2381250"/>
            <a:ext cx="1104900" cy="3429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65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765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đã có trong</a:t>
            </a:r>
          </a:p>
          <a:p>
            <a:pPr algn="ctr">
              <a:buNone/>
              <a:defRPr sz="765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765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questions[]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B70280-3FE2-43BF-86CC-9662475872FF}"/>
              </a:ext>
            </a:extLst>
          </p:cNvPr>
          <p:cNvSpPr>
            <a:spLocks noGrp="1"/>
          </p:cNvSpPr>
          <p:nvPr/>
        </p:nvSpPr>
        <p:spPr>
          <a:xfrm>
            <a:off x="4171950" y="2838450"/>
            <a:ext cx="1562100" cy="2095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73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73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CÂU KẾ TIẾP · TRẢ NGAY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043FBA-C0F5-4C32-BBD6-8EF7759DE2F1}"/>
              </a:ext>
            </a:extLst>
          </p:cNvPr>
          <p:cNvSpPr>
            <a:spLocks noGrp="1"/>
          </p:cNvSpPr>
          <p:nvPr/>
        </p:nvSpPr>
        <p:spPr>
          <a:xfrm>
            <a:off x="6191250" y="2019300"/>
            <a:ext cx="38100" cy="838200"/>
          </a:xfrm>
          <a:prstGeom prst="rect">
            <a:avLst/>
          </a:prstGeom>
          <a:solidFill>
            <a:srgbClr val="4B8D17"/>
          </a:solidFill>
          <a:ln w="0">
            <a:solidFill>
              <a:srgbClr val="4B8D17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4054A6F-767B-44FF-AC34-4E6E635888DB}"/>
              </a:ext>
            </a:extLst>
          </p:cNvPr>
          <p:cNvSpPr>
            <a:spLocks noGrp="1"/>
          </p:cNvSpPr>
          <p:nvPr/>
        </p:nvSpPr>
        <p:spPr>
          <a:xfrm>
            <a:off x="6381750" y="1981200"/>
            <a:ext cx="1809750" cy="5143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l">
              <a:buNone/>
              <a:defRPr sz="1500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Trả trước,</a:t>
            </a:r>
          </a:p>
          <a:p>
            <a:pPr algn="l">
              <a:buNone/>
              <a:defRPr sz="1500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thích ứng sau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5559D4-CFD0-4DEB-BBF5-A894B6B8B83B}"/>
              </a:ext>
            </a:extLst>
          </p:cNvPr>
          <p:cNvSpPr>
            <a:spLocks noGrp="1"/>
          </p:cNvSpPr>
          <p:nvPr/>
        </p:nvSpPr>
        <p:spPr>
          <a:xfrm>
            <a:off x="6381750" y="2514600"/>
            <a:ext cx="1857375" cy="4000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l">
              <a:buNone/>
              <a:defRPr sz="848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848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Người dùng không phải chờ DeepSeek tạo câu kế tiếp.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E905FE-FC08-492A-96D1-A738ABEF6F84}"/>
              </a:ext>
            </a:extLst>
          </p:cNvPr>
          <p:cNvSpPr>
            <a:spLocks noGrp="1"/>
          </p:cNvSpPr>
          <p:nvPr/>
        </p:nvSpPr>
        <p:spPr>
          <a:xfrm>
            <a:off x="3333750" y="3209925"/>
            <a:ext cx="2095500" cy="2095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l">
              <a:buNone/>
              <a:def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LUỒNG NỀN · LOOKAHEAD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05B5239-8C1E-4D50-B1A8-1504F057C97A}"/>
              </a:ext>
            </a:extLst>
          </p:cNvPr>
          <p:cNvSpPr>
            <a:spLocks noGrp="1"/>
          </p:cNvSpPr>
          <p:nvPr/>
        </p:nvSpPr>
        <p:spPr>
          <a:xfrm>
            <a:off x="2962275" y="3438525"/>
            <a:ext cx="266700" cy="266700"/>
          </a:xfrm>
          <a:prstGeom prst="ellipse">
            <a:avLst/>
          </a:prstGeom>
          <a:solidFill>
            <a:srgbClr val="F7EDC8"/>
          </a:solidFill>
          <a:ln w="11430">
            <a:solidFill>
              <a:srgbClr val="4B8D17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ECF36C8-D389-412A-9F38-140BF8679A6D}"/>
              </a:ext>
            </a:extLst>
          </p:cNvPr>
          <p:cNvSpPr>
            <a:spLocks noGrp="1"/>
          </p:cNvSpPr>
          <p:nvPr/>
        </p:nvSpPr>
        <p:spPr>
          <a:xfrm>
            <a:off x="2981325" y="3457575"/>
            <a:ext cx="228600" cy="2286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479CD5-3553-4FE6-8088-8D636ECB4AA6}"/>
              </a:ext>
            </a:extLst>
          </p:cNvPr>
          <p:cNvSpPr>
            <a:spLocks noGrp="1"/>
          </p:cNvSpPr>
          <p:nvPr/>
        </p:nvSpPr>
        <p:spPr>
          <a:xfrm>
            <a:off x="2562225" y="3790950"/>
            <a:ext cx="1066800" cy="2095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7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7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QA đã lưu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DFFC30-C79C-4DC6-AD16-D10E60D7B037}"/>
              </a:ext>
            </a:extLst>
          </p:cNvPr>
          <p:cNvSpPr>
            <a:spLocks noGrp="1"/>
          </p:cNvSpPr>
          <p:nvPr/>
        </p:nvSpPr>
        <p:spPr>
          <a:xfrm>
            <a:off x="2505075" y="4010025"/>
            <a:ext cx="1181100" cy="257175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682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682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chống ghi lặp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B85150B-65F8-4238-95E6-FDCD485B932E}"/>
              </a:ext>
            </a:extLst>
          </p:cNvPr>
          <p:cNvSpPr>
            <a:spLocks noGrp="1"/>
          </p:cNvSpPr>
          <p:nvPr/>
        </p:nvSpPr>
        <p:spPr>
          <a:xfrm>
            <a:off x="4105275" y="3438525"/>
            <a:ext cx="266700" cy="266700"/>
          </a:xfrm>
          <a:prstGeom prst="ellipse">
            <a:avLst/>
          </a:prstGeom>
          <a:solidFill>
            <a:srgbClr val="D7E7F1"/>
          </a:solidFill>
          <a:ln w="11430">
            <a:solidFill>
              <a:srgbClr val="4B8D17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834899-DC45-4742-A227-EF5C19569572}"/>
              </a:ext>
            </a:extLst>
          </p:cNvPr>
          <p:cNvSpPr>
            <a:spLocks noGrp="1"/>
          </p:cNvSpPr>
          <p:nvPr/>
        </p:nvSpPr>
        <p:spPr>
          <a:xfrm>
            <a:off x="4124325" y="3457575"/>
            <a:ext cx="228600" cy="2286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7DDCEE-6973-4CD9-92A0-69DF76A51DA9}"/>
              </a:ext>
            </a:extLst>
          </p:cNvPr>
          <p:cNvSpPr>
            <a:spLocks noGrp="1"/>
          </p:cNvSpPr>
          <p:nvPr/>
        </p:nvSpPr>
        <p:spPr>
          <a:xfrm>
            <a:off x="3705225" y="3790950"/>
            <a:ext cx="1066800" cy="2095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7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7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SubmitAnswer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F8E055-3F61-4ADA-AAED-1685C020A964}"/>
              </a:ext>
            </a:extLst>
          </p:cNvPr>
          <p:cNvSpPr>
            <a:spLocks noGrp="1"/>
          </p:cNvSpPr>
          <p:nvPr/>
        </p:nvSpPr>
        <p:spPr>
          <a:xfrm>
            <a:off x="3648075" y="4010025"/>
            <a:ext cx="1181100" cy="257175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682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682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current + history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F47A13C-0D86-4CA8-9747-57449F5F4440}"/>
              </a:ext>
            </a:extLst>
          </p:cNvPr>
          <p:cNvSpPr>
            <a:spLocks noGrp="1"/>
          </p:cNvSpPr>
          <p:nvPr/>
        </p:nvSpPr>
        <p:spPr>
          <a:xfrm>
            <a:off x="5248275" y="3438525"/>
            <a:ext cx="266700" cy="266700"/>
          </a:xfrm>
          <a:prstGeom prst="ellipse">
            <a:avLst/>
          </a:prstGeom>
          <a:solidFill>
            <a:srgbClr val="F4D7D3"/>
          </a:solidFill>
          <a:ln w="11430">
            <a:solidFill>
              <a:srgbClr val="4B8D17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3CF74FE-03BF-46C9-860F-3CB8965A0700}"/>
              </a:ext>
            </a:extLst>
          </p:cNvPr>
          <p:cNvSpPr>
            <a:spLocks noGrp="1"/>
          </p:cNvSpPr>
          <p:nvPr/>
        </p:nvSpPr>
        <p:spPr>
          <a:xfrm>
            <a:off x="5267325" y="3457575"/>
            <a:ext cx="228600" cy="2286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658ABB-2026-4F48-B02E-F8BF2B2CA7C5}"/>
              </a:ext>
            </a:extLst>
          </p:cNvPr>
          <p:cNvSpPr>
            <a:spLocks noGrp="1"/>
          </p:cNvSpPr>
          <p:nvPr/>
        </p:nvSpPr>
        <p:spPr>
          <a:xfrm>
            <a:off x="4848225" y="3790950"/>
            <a:ext cx="1066800" cy="2095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7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7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RAG + DeepSeek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016773E-450C-46B9-9503-0D6A9C727B6C}"/>
              </a:ext>
            </a:extLst>
          </p:cNvPr>
          <p:cNvSpPr>
            <a:spLocks noGrp="1"/>
          </p:cNvSpPr>
          <p:nvPr/>
        </p:nvSpPr>
        <p:spPr>
          <a:xfrm>
            <a:off x="4791075" y="4010025"/>
            <a:ext cx="1181100" cy="257175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682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682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probe gap / slot chưa phủ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8E53D87-324D-4176-BA34-540F7B8995CC}"/>
              </a:ext>
            </a:extLst>
          </p:cNvPr>
          <p:cNvSpPr>
            <a:spLocks noGrp="1"/>
          </p:cNvSpPr>
          <p:nvPr/>
        </p:nvSpPr>
        <p:spPr>
          <a:xfrm>
            <a:off x="6391275" y="3438525"/>
            <a:ext cx="266700" cy="266700"/>
          </a:xfrm>
          <a:prstGeom prst="ellipse">
            <a:avLst/>
          </a:prstGeom>
          <a:solidFill>
            <a:srgbClr val="F7FAF5"/>
          </a:solidFill>
          <a:ln w="11430">
            <a:solidFill>
              <a:srgbClr val="4B8D17"/>
            </a:solidFill>
            <a:prstDash val="solid"/>
          </a:ln>
        </p:spPr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4EEEA6-23E1-41B9-930E-2FAC3D9AC7D0}"/>
              </a:ext>
            </a:extLst>
          </p:cNvPr>
          <p:cNvSpPr>
            <a:spLocks noGrp="1"/>
          </p:cNvSpPr>
          <p:nvPr/>
        </p:nvSpPr>
        <p:spPr>
          <a:xfrm>
            <a:off x="6410325" y="3457575"/>
            <a:ext cx="228600" cy="2286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88ECE0-6A62-4078-B13A-4158E1CCFC15}"/>
              </a:ext>
            </a:extLst>
          </p:cNvPr>
          <p:cNvSpPr>
            <a:spLocks noGrp="1"/>
          </p:cNvSpPr>
          <p:nvPr/>
        </p:nvSpPr>
        <p:spPr>
          <a:xfrm>
            <a:off x="5991225" y="3790950"/>
            <a:ext cx="1066800" cy="2095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7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7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Validate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EBF4359-5BC0-4E80-B063-22C105B3DAC1}"/>
              </a:ext>
            </a:extLst>
          </p:cNvPr>
          <p:cNvSpPr>
            <a:spLocks noGrp="1"/>
          </p:cNvSpPr>
          <p:nvPr/>
        </p:nvSpPr>
        <p:spPr>
          <a:xfrm>
            <a:off x="5934075" y="4010025"/>
            <a:ext cx="1181100" cy="257175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682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682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không lặp · ID hợp lệ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EDDBD2A-6909-45C8-8901-98508957082D}"/>
              </a:ext>
            </a:extLst>
          </p:cNvPr>
          <p:cNvSpPr>
            <a:spLocks noGrp="1"/>
          </p:cNvSpPr>
          <p:nvPr/>
        </p:nvSpPr>
        <p:spPr>
          <a:xfrm>
            <a:off x="7333107" y="3114675"/>
            <a:ext cx="914397" cy="895350"/>
          </a:xfrm>
          <a:prstGeom prst="ellipse">
            <a:avLst/>
          </a:prstGeom>
          <a:solidFill>
            <a:srgbClr val="E4D9EE"/>
          </a:solidFill>
          <a:ln w="16193">
            <a:solidFill>
              <a:srgbClr val="4B8D17"/>
            </a:solidFill>
            <a:prstDash val="solid"/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7A6E100-4014-47D9-BDFB-66DA39669398}"/>
              </a:ext>
            </a:extLst>
          </p:cNvPr>
          <p:cNvSpPr>
            <a:spLocks noGrp="1"/>
          </p:cNvSpPr>
          <p:nvPr/>
        </p:nvSpPr>
        <p:spPr>
          <a:xfrm>
            <a:off x="7447406" y="3244375"/>
            <a:ext cx="666750" cy="3238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15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Qᵢ₊₂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2C90C27-AEBA-465F-A53F-C938FE7E44EF}"/>
              </a:ext>
            </a:extLst>
          </p:cNvPr>
          <p:cNvSpPr>
            <a:spLocks noGrp="1"/>
          </p:cNvSpPr>
          <p:nvPr/>
        </p:nvSpPr>
        <p:spPr>
          <a:xfrm>
            <a:off x="7399782" y="3516800"/>
            <a:ext cx="800100" cy="32385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675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675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ghi đè khi</a:t>
            </a:r>
          </a:p>
          <a:p>
            <a:pPr algn="ctr">
              <a:buNone/>
              <a:defRPr sz="675" b="0">
                <a:solidFill>
                  <a:srgbClr val="5C695B"/>
                </a:solidFill>
                <a:latin typeface="Montserrat"/>
                <a:ea typeface="Montserrat"/>
                <a:cs typeface="Montserrat"/>
              </a:defRPr>
            </a:pPr>
            <a:r>
              <a:rPr sz="675" b="0">
                <a:solidFill>
                  <a:srgbClr val="5C695B"/>
                </a:solidFill>
                <a:latin typeface="Montserrat"/>
                <a:ea typeface="Montserrat"/>
                <a:cs typeface="Montserrat"/>
              </a:rPr>
              <a:t>chưa phục vụ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ED01E47-2A57-434B-97D8-7B98B3DB83C9}"/>
              </a:ext>
            </a:extLst>
          </p:cNvPr>
          <p:cNvSpPr>
            <a:spLocks noGrp="1"/>
          </p:cNvSpPr>
          <p:nvPr/>
        </p:nvSpPr>
        <p:spPr>
          <a:xfrm>
            <a:off x="7162800" y="4048125"/>
            <a:ext cx="1200150" cy="1905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ctr">
              <a:buNone/>
              <a:defRPr sz="735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735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DÙNG Ở LƯỢT SAU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0B066A-6B21-46EA-A04B-7DE768F3157F}"/>
              </a:ext>
            </a:extLst>
          </p:cNvPr>
          <p:cNvSpPr>
            <a:spLocks noGrp="1"/>
          </p:cNvSpPr>
          <p:nvPr/>
        </p:nvSpPr>
        <p:spPr>
          <a:xfrm>
            <a:off x="4322777" y="4358300"/>
            <a:ext cx="38100" cy="257175"/>
          </a:xfrm>
          <a:prstGeom prst="rect">
            <a:avLst/>
          </a:prstGeom>
          <a:solidFill>
            <a:srgbClr val="4B8D17"/>
          </a:solidFill>
          <a:ln w="0">
            <a:solidFill>
              <a:srgbClr val="4B8D17"/>
            </a:solidFill>
            <a:prstDash val="solid"/>
          </a:ln>
        </p:spPr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0B59782-BD09-4177-A693-11BA164BAD41}"/>
              </a:ext>
            </a:extLst>
          </p:cNvPr>
          <p:cNvSpPr>
            <a:spLocks noGrp="1"/>
          </p:cNvSpPr>
          <p:nvPr/>
        </p:nvSpPr>
        <p:spPr>
          <a:xfrm>
            <a:off x="4475177" y="4329725"/>
            <a:ext cx="4762500" cy="304800"/>
          </a:xfrm>
          <a:prstGeom prst="rect">
            <a:avLst/>
          </a:prstGeom>
          <a:ln w="0">
            <a:prstDash val="solid"/>
          </a:ln>
        </p:spPr>
        <p:txBody>
          <a:bodyPr lIns="19050" tIns="9525" rIns="19050" bIns="9525" anchor="ctr">
            <a:normAutofit/>
          </a:bodyPr>
          <a:lstStyle/>
          <a:p>
            <a:pPr algn="l">
              <a:buNone/>
              <a:defRPr sz="840" b="1">
                <a:solidFill>
                  <a:srgbClr val="2E6510"/>
                </a:solidFill>
                <a:latin typeface="Montserrat"/>
                <a:ea typeface="Montserrat"/>
                <a:cs typeface="Montserrat"/>
              </a:defRPr>
            </a:pPr>
            <a:r>
              <a:rPr sz="840" b="1">
                <a:solidFill>
                  <a:srgbClr val="2E6510"/>
                </a:solidFill>
                <a:latin typeface="Montserrat"/>
                <a:ea typeface="Montserrat"/>
                <a:cs typeface="Montserrat"/>
              </a:rPr>
              <a:t>Đủ số câu → Finish → SenseVoice → EvaluateInterview → COMPLETED</a:t>
            </a:r>
          </a:p>
        </p:txBody>
      </p:sp>
    </p:spTree>
    <p:extLst>
      <p:ext uri="{BB962C8B-B14F-4D97-AF65-F5344CB8AC3E}">
        <p14:creationId xmlns:p14="http://schemas.microsoft.com/office/powerpoint/2010/main" val="6512232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ECE770C3-B651-4054-B3F6-AC5700894D40}"/>
              </a:ext>
            </a:extLst>
          </p:cNvPr>
          <p:cNvSpPr>
            <a:spLocks noGrp="1"/>
          </p:cNvSpPr>
          <p:nvPr/>
        </p:nvSpPr>
        <p:spPr>
          <a:xfrm>
            <a:off x="714375" y="457200"/>
            <a:ext cx="590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3000" b="0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3000" b="0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Grounded generation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D3B76-B07A-40BE-A845-3A96D287FD5E}"/>
              </a:ext>
            </a:extLst>
          </p:cNvPr>
          <p:cNvSpPr>
            <a:spLocks noGrp="1"/>
          </p:cNvSpPr>
          <p:nvPr/>
        </p:nvSpPr>
        <p:spPr>
          <a:xfrm>
            <a:off x="714375" y="1028700"/>
            <a:ext cx="657225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Chuẩn hóa context → truy hồi evidence → sinh JSON → hậu kiểm schema và citation.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B21C85-E195-449D-BC72-C574D10ED650}"/>
              </a:ext>
            </a:extLst>
          </p:cNvPr>
          <p:cNvSpPr>
            <a:spLocks noGrp="1"/>
          </p:cNvSpPr>
          <p:nvPr/>
        </p:nvSpPr>
        <p:spPr>
          <a:xfrm>
            <a:off x="7524750" y="457200"/>
            <a:ext cx="904875" cy="5143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r">
              <a:buNone/>
              <a:def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91852-343E-4326-B961-82A3DC4A9F4F}"/>
              </a:ext>
            </a:extLst>
          </p:cNvPr>
          <p:cNvSpPr>
            <a:spLocks noGrp="1"/>
          </p:cNvSpPr>
          <p:nvPr/>
        </p:nvSpPr>
        <p:spPr>
          <a:xfrm>
            <a:off x="714375" y="1504950"/>
            <a:ext cx="2190750" cy="2667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CƠ CHẾ KIỂM SOÁT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70BE57A-6D6E-4946-8295-CA3111A00C5E}"/>
              </a:ext>
            </a:extLst>
          </p:cNvPr>
          <p:cNvSpPr>
            <a:spLocks noGrp="1"/>
          </p:cNvSpPr>
          <p:nvPr/>
        </p:nvSpPr>
        <p:spPr>
          <a:xfrm>
            <a:off x="666750" y="1905000"/>
            <a:ext cx="1381125" cy="1619250"/>
          </a:xfrm>
          <a:prstGeom prst="roundRect">
            <a:avLst>
              <a:gd name="adj" fmla="val 5517"/>
            </a:avLst>
          </a:prstGeom>
          <a:solidFill>
            <a:srgbClr val="D7E7F1"/>
          </a:solidFill>
          <a:ln w="11430">
            <a:solidFill>
              <a:srgbClr val="788476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2B75CC-9DD3-4A65-9856-7616A9165BA3}"/>
              </a:ext>
            </a:extLst>
          </p:cNvPr>
          <p:cNvSpPr>
            <a:spLocks noGrp="1"/>
          </p:cNvSpPr>
          <p:nvPr/>
        </p:nvSpPr>
        <p:spPr>
          <a:xfrm>
            <a:off x="800100" y="2038350"/>
            <a:ext cx="4286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9539DA-5496-4E8F-AD02-D7D62A90E717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1114425" cy="5905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Chuẩn hóa</a:t>
            </a:r>
          </a:p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311B2B-F7CE-478C-92AB-14712020D92F}"/>
              </a:ext>
            </a:extLst>
          </p:cNvPr>
          <p:cNvSpPr>
            <a:spLocks noGrp="1"/>
          </p:cNvSpPr>
          <p:nvPr/>
        </p:nvSpPr>
        <p:spPr>
          <a:xfrm>
            <a:off x="781050" y="3067050"/>
            <a:ext cx="11525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Input contract</a:t>
            </a: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54FE3D02-9E56-4940-92BF-5B68BDDA4724}"/>
              </a:ext>
            </a:extLst>
          </p:cNvPr>
          <p:cNvSpPr>
            <a:spLocks noGrp="1"/>
          </p:cNvSpPr>
          <p:nvPr/>
        </p:nvSpPr>
        <p:spPr>
          <a:xfrm>
            <a:off x="2085975" y="2571750"/>
            <a:ext cx="152400" cy="266700"/>
          </a:xfrm>
          <a:prstGeom prst="chevron">
            <a:avLst/>
          </a:prstGeom>
          <a:solidFill>
            <a:srgbClr val="4B8D17"/>
          </a:solidFill>
          <a:ln w="4763">
            <a:solidFill>
              <a:srgbClr val="4B8D17"/>
            </a:solidFill>
            <a:prstDash val="solid"/>
          </a:ln>
        </p:spPr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5F0798-9327-4D81-AD5A-DF04CC600CA5}"/>
              </a:ext>
            </a:extLst>
          </p:cNvPr>
          <p:cNvSpPr>
            <a:spLocks noGrp="1"/>
          </p:cNvSpPr>
          <p:nvPr/>
        </p:nvSpPr>
        <p:spPr>
          <a:xfrm>
            <a:off x="2276475" y="1905000"/>
            <a:ext cx="1381125" cy="1619250"/>
          </a:xfrm>
          <a:prstGeom prst="roundRect">
            <a:avLst>
              <a:gd name="adj" fmla="val 5517"/>
            </a:avLst>
          </a:prstGeom>
          <a:solidFill>
            <a:srgbClr val="E4D9EE"/>
          </a:solidFill>
          <a:ln w="11430">
            <a:solidFill>
              <a:srgbClr val="788476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B4E424-6C05-4E89-A2FC-5F21F5DC7B5A}"/>
              </a:ext>
            </a:extLst>
          </p:cNvPr>
          <p:cNvSpPr>
            <a:spLocks noGrp="1"/>
          </p:cNvSpPr>
          <p:nvPr/>
        </p:nvSpPr>
        <p:spPr>
          <a:xfrm>
            <a:off x="2409825" y="2038350"/>
            <a:ext cx="4286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C7D50D-A98F-421C-A191-87AAC10F3874}"/>
              </a:ext>
            </a:extLst>
          </p:cNvPr>
          <p:cNvSpPr>
            <a:spLocks noGrp="1"/>
          </p:cNvSpPr>
          <p:nvPr/>
        </p:nvSpPr>
        <p:spPr>
          <a:xfrm>
            <a:off x="2409825" y="2381250"/>
            <a:ext cx="1114425" cy="5905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Hybrid</a:t>
            </a:r>
          </a:p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retrieval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EB288-8ACC-4D85-A2C3-9C03B838DDA7}"/>
              </a:ext>
            </a:extLst>
          </p:cNvPr>
          <p:cNvSpPr>
            <a:spLocks noGrp="1"/>
          </p:cNvSpPr>
          <p:nvPr/>
        </p:nvSpPr>
        <p:spPr>
          <a:xfrm>
            <a:off x="2390775" y="3067050"/>
            <a:ext cx="11525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Evidence IDs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79E3F7B4-E41B-4F62-8AF3-5193A64A8400}"/>
              </a:ext>
            </a:extLst>
          </p:cNvPr>
          <p:cNvSpPr>
            <a:spLocks noGrp="1"/>
          </p:cNvSpPr>
          <p:nvPr/>
        </p:nvSpPr>
        <p:spPr>
          <a:xfrm>
            <a:off x="3695700" y="2571750"/>
            <a:ext cx="152400" cy="266700"/>
          </a:xfrm>
          <a:prstGeom prst="chevron">
            <a:avLst/>
          </a:prstGeom>
          <a:solidFill>
            <a:srgbClr val="4B8D17"/>
          </a:solidFill>
          <a:ln w="4763">
            <a:solidFill>
              <a:srgbClr val="4B8D17"/>
            </a:solidFill>
            <a:prstDash val="solid"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F611708-990B-4988-9C0E-4EE1EA305678}"/>
              </a:ext>
            </a:extLst>
          </p:cNvPr>
          <p:cNvSpPr>
            <a:spLocks noGrp="1"/>
          </p:cNvSpPr>
          <p:nvPr/>
        </p:nvSpPr>
        <p:spPr>
          <a:xfrm>
            <a:off x="3886200" y="1905000"/>
            <a:ext cx="1381125" cy="1619250"/>
          </a:xfrm>
          <a:prstGeom prst="roundRect">
            <a:avLst>
              <a:gd name="adj" fmla="val 5517"/>
            </a:avLst>
          </a:prstGeom>
          <a:solidFill>
            <a:srgbClr val="F7EDC8"/>
          </a:solidFill>
          <a:ln w="11430">
            <a:solidFill>
              <a:srgbClr val="78847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28FDE7-4E8D-4F19-BBCE-D60C4B189650}"/>
              </a:ext>
            </a:extLst>
          </p:cNvPr>
          <p:cNvSpPr>
            <a:spLocks noGrp="1"/>
          </p:cNvSpPr>
          <p:nvPr/>
        </p:nvSpPr>
        <p:spPr>
          <a:xfrm>
            <a:off x="4019550" y="2038350"/>
            <a:ext cx="4286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84E695-28EE-4219-B969-C1B068B0FB7B}"/>
              </a:ext>
            </a:extLst>
          </p:cNvPr>
          <p:cNvSpPr>
            <a:spLocks noGrp="1"/>
          </p:cNvSpPr>
          <p:nvPr/>
        </p:nvSpPr>
        <p:spPr>
          <a:xfrm>
            <a:off x="4019550" y="2381250"/>
            <a:ext cx="1114425" cy="5905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DeepSeek</a:t>
            </a:r>
          </a:p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JSON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E9838-48DD-4E9D-AEEA-234B23ED75E9}"/>
              </a:ext>
            </a:extLst>
          </p:cNvPr>
          <p:cNvSpPr>
            <a:spLocks noGrp="1"/>
          </p:cNvSpPr>
          <p:nvPr/>
        </p:nvSpPr>
        <p:spPr>
          <a:xfrm>
            <a:off x="4000500" y="3067050"/>
            <a:ext cx="11525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Structured output</a:t>
            </a:r>
          </a:p>
        </p:txBody>
      </p:sp>
      <p:sp>
        <p:nvSpPr>
          <p:cNvPr id="19" name="Arrow: Chevron 18">
            <a:extLst>
              <a:ext uri="{FF2B5EF4-FFF2-40B4-BE49-F238E27FC236}">
                <a16:creationId xmlns:a16="http://schemas.microsoft.com/office/drawing/2014/main" id="{68418B07-DCEE-4C20-8F2A-4CBA71602BA8}"/>
              </a:ext>
            </a:extLst>
          </p:cNvPr>
          <p:cNvSpPr>
            <a:spLocks noGrp="1"/>
          </p:cNvSpPr>
          <p:nvPr/>
        </p:nvSpPr>
        <p:spPr>
          <a:xfrm>
            <a:off x="5305425" y="2571750"/>
            <a:ext cx="152400" cy="266700"/>
          </a:xfrm>
          <a:prstGeom prst="chevron">
            <a:avLst/>
          </a:prstGeom>
          <a:solidFill>
            <a:srgbClr val="4B8D17"/>
          </a:solidFill>
          <a:ln w="4763">
            <a:solidFill>
              <a:srgbClr val="4B8D17"/>
            </a:solidFill>
            <a:prstDash val="solid"/>
          </a:ln>
        </p:spPr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DDFC8F4-6FE3-45AE-BD51-5F9ED9549C83}"/>
              </a:ext>
            </a:extLst>
          </p:cNvPr>
          <p:cNvSpPr>
            <a:spLocks noGrp="1"/>
          </p:cNvSpPr>
          <p:nvPr/>
        </p:nvSpPr>
        <p:spPr>
          <a:xfrm>
            <a:off x="5495925" y="1905000"/>
            <a:ext cx="1381125" cy="1619250"/>
          </a:xfrm>
          <a:prstGeom prst="roundRect">
            <a:avLst>
              <a:gd name="adj" fmla="val 5517"/>
            </a:avLst>
          </a:prstGeom>
          <a:solidFill>
            <a:srgbClr val="F4F7F1"/>
          </a:solidFill>
          <a:ln w="11430">
            <a:solidFill>
              <a:srgbClr val="788476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141947-11DB-4BBE-9F17-E7B71434EF98}"/>
              </a:ext>
            </a:extLst>
          </p:cNvPr>
          <p:cNvSpPr>
            <a:spLocks noGrp="1"/>
          </p:cNvSpPr>
          <p:nvPr/>
        </p:nvSpPr>
        <p:spPr>
          <a:xfrm>
            <a:off x="5629275" y="2038350"/>
            <a:ext cx="4286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BD3ECF-1816-49DF-BD03-6BC49CBC087F}"/>
              </a:ext>
            </a:extLst>
          </p:cNvPr>
          <p:cNvSpPr>
            <a:spLocks noGrp="1"/>
          </p:cNvSpPr>
          <p:nvPr/>
        </p:nvSpPr>
        <p:spPr>
          <a:xfrm>
            <a:off x="5629275" y="2381250"/>
            <a:ext cx="1114425" cy="5905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Schema</a:t>
            </a:r>
          </a:p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validation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FBE2E8-BA8B-424D-B4B7-1A117B849DCE}"/>
              </a:ext>
            </a:extLst>
          </p:cNvPr>
          <p:cNvSpPr>
            <a:spLocks noGrp="1"/>
          </p:cNvSpPr>
          <p:nvPr/>
        </p:nvSpPr>
        <p:spPr>
          <a:xfrm>
            <a:off x="5610225" y="3067050"/>
            <a:ext cx="11525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Validation gate</a:t>
            </a:r>
          </a:p>
        </p:txBody>
      </p:sp>
      <p:sp>
        <p:nvSpPr>
          <p:cNvPr id="24" name="Arrow: Chevron 23">
            <a:extLst>
              <a:ext uri="{FF2B5EF4-FFF2-40B4-BE49-F238E27FC236}">
                <a16:creationId xmlns:a16="http://schemas.microsoft.com/office/drawing/2014/main" id="{998A3D7D-FDA7-4691-8BB8-82CEAA420397}"/>
              </a:ext>
            </a:extLst>
          </p:cNvPr>
          <p:cNvSpPr>
            <a:spLocks noGrp="1"/>
          </p:cNvSpPr>
          <p:nvPr/>
        </p:nvSpPr>
        <p:spPr>
          <a:xfrm>
            <a:off x="6915150" y="2571750"/>
            <a:ext cx="152400" cy="266700"/>
          </a:xfrm>
          <a:prstGeom prst="chevron">
            <a:avLst/>
          </a:prstGeom>
          <a:solidFill>
            <a:srgbClr val="4B8D17"/>
          </a:solidFill>
          <a:ln w="4763">
            <a:solidFill>
              <a:srgbClr val="4B8D17"/>
            </a:solidFill>
            <a:prstDash val="solid"/>
          </a:ln>
        </p:spPr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C80DCD2-329B-4EC8-81AF-825287D14678}"/>
              </a:ext>
            </a:extLst>
          </p:cNvPr>
          <p:cNvSpPr>
            <a:spLocks noGrp="1"/>
          </p:cNvSpPr>
          <p:nvPr/>
        </p:nvSpPr>
        <p:spPr>
          <a:xfrm>
            <a:off x="7105650" y="1905000"/>
            <a:ext cx="1381125" cy="1619250"/>
          </a:xfrm>
          <a:prstGeom prst="roundRect">
            <a:avLst>
              <a:gd name="adj" fmla="val 5517"/>
            </a:avLst>
          </a:prstGeom>
          <a:solidFill>
            <a:srgbClr val="F4D7D3"/>
          </a:solidFill>
          <a:ln w="17145">
            <a:solidFill>
              <a:srgbClr val="4B8D17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33AE50A-F3D6-49A5-9A3F-2C00EDC6040E}"/>
              </a:ext>
            </a:extLst>
          </p:cNvPr>
          <p:cNvSpPr>
            <a:spLocks noGrp="1"/>
          </p:cNvSpPr>
          <p:nvPr/>
        </p:nvSpPr>
        <p:spPr>
          <a:xfrm>
            <a:off x="7239000" y="2038350"/>
            <a:ext cx="4286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5155367-1A45-4D36-97F8-DA2957223989}"/>
              </a:ext>
            </a:extLst>
          </p:cNvPr>
          <p:cNvSpPr>
            <a:spLocks noGrp="1"/>
          </p:cNvSpPr>
          <p:nvPr/>
        </p:nvSpPr>
        <p:spPr>
          <a:xfrm>
            <a:off x="7239000" y="2381250"/>
            <a:ext cx="1114425" cy="5905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Grounding</a:t>
            </a:r>
          </a:p>
          <a:p>
            <a:pPr algn="ctr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allow-list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637EC-A50E-4A2A-B20F-C78FF835DD9B}"/>
              </a:ext>
            </a:extLst>
          </p:cNvPr>
          <p:cNvSpPr>
            <a:spLocks noGrp="1"/>
          </p:cNvSpPr>
          <p:nvPr/>
        </p:nvSpPr>
        <p:spPr>
          <a:xfrm>
            <a:off x="7219950" y="3067050"/>
            <a:ext cx="1152525" cy="2476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6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Citation gate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8F1239F-ACBB-40DF-95F2-16FD3C8CDD75}"/>
              </a:ext>
            </a:extLst>
          </p:cNvPr>
          <p:cNvSpPr>
            <a:spLocks noGrp="1"/>
          </p:cNvSpPr>
          <p:nvPr/>
        </p:nvSpPr>
        <p:spPr>
          <a:xfrm>
            <a:off x="1428750" y="3771900"/>
            <a:ext cx="6286500" cy="438150"/>
          </a:xfrm>
          <a:prstGeom prst="roundRect">
            <a:avLst>
              <a:gd name="adj" fmla="val 50000"/>
            </a:avLst>
          </a:prstGeom>
          <a:solidFill>
            <a:srgbClr val="F4F7F1"/>
          </a:solidFill>
          <a:ln w="13335">
            <a:solidFill>
              <a:srgbClr val="4B8D17"/>
            </a:solidFill>
            <a:prstDash val="solid"/>
          </a:ln>
        </p:spPr>
        <p:txBody>
          <a:bodyPr lIns="133350" tIns="66675" rIns="133350" bIns="66675" anchor="ctr">
            <a:normAutofit/>
          </a:bodyPr>
          <a:lstStyle/>
          <a:p>
            <a:pPr algn="ctr">
              <a:buNone/>
              <a:def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Evidence IDs   →   JSON có cấu trúc   →   Output hợp lệ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8EB25FF-B39D-49C4-BB33-9029E4B7598D}"/>
              </a:ext>
            </a:extLst>
          </p:cNvPr>
          <p:cNvSpPr>
            <a:spLocks noGrp="1"/>
          </p:cNvSpPr>
          <p:nvPr/>
        </p:nvSpPr>
        <p:spPr>
          <a:xfrm>
            <a:off x="1571625" y="4273074"/>
            <a:ext cx="6000750" cy="4381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4288">
            <a:solidFill>
              <a:srgbClr val="4B8D17"/>
            </a:solidFill>
            <a:prstDash val="solid"/>
          </a:ln>
        </p:spPr>
        <p:txBody>
          <a:bodyPr lIns="133350" tIns="66675" rIns="133350" bIns="66675" anchor="ctr">
            <a:normAutofit/>
          </a:bodyPr>
          <a:lstStyle/>
          <a:p>
            <a:pPr algn="ctr">
              <a:buNone/>
              <a:def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Bất biến: citation chỉ hợp lệ khi thuộc evidence đã được truy hồi.</a:t>
            </a:r>
          </a:p>
        </p:txBody>
      </p:sp>
    </p:spTree>
    <p:extLst>
      <p:ext uri="{BB962C8B-B14F-4D97-AF65-F5344CB8AC3E}">
        <p14:creationId xmlns:p14="http://schemas.microsoft.com/office/powerpoint/2010/main" val="2431625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71">
            <a:extLst>
              <a:ext uri="{FF2B5EF4-FFF2-40B4-BE49-F238E27FC236}">
                <a16:creationId xmlns:a16="http://schemas.microsoft.com/office/drawing/2014/main" id="{55D47535-4A8E-4B64-8923-E0001FA4C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50" y="590550"/>
            <a:ext cx="7620000" cy="495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02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Vòng đời tài liệu RAG có provenance</a:t>
            </a:r>
            <a:endParaRPr/>
          </a:p>
        </p:txBody>
      </p:sp>
      <p:sp>
        <p:nvSpPr>
          <p:cNvPr id="588" name="Rectangle 587">
            <a:extLst>
              <a:ext uri="{FF2B5EF4-FFF2-40B4-BE49-F238E27FC236}">
                <a16:creationId xmlns:a16="http://schemas.microsoft.com/office/drawing/2014/main" id="{57EA324F-B09C-4B0D-875F-349A0096F50D}"/>
              </a:ext>
            </a:extLst>
          </p:cNvPr>
          <p:cNvSpPr>
            <a:spLocks noGrp="1"/>
          </p:cNvSpPr>
          <p:nvPr/>
        </p:nvSpPr>
        <p:spPr>
          <a:xfrm>
            <a:off x="800100" y="1152525"/>
            <a:ext cx="7524750" cy="3238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97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97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Mỗi evidence ID truy ngược được về nguồn, phiên bản và trạng thái lưu giữ.</a:t>
            </a: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78E412B8-5D8E-4B59-BC0C-C5851968F2AB}"/>
              </a:ext>
            </a:extLst>
          </p:cNvPr>
          <p:cNvSpPr>
            <a:spLocks noGrp="1"/>
          </p:cNvSpPr>
          <p:nvPr/>
        </p:nvSpPr>
        <p:spPr>
          <a:xfrm>
            <a:off x="838200" y="1685925"/>
            <a:ext cx="3333750" cy="238125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INGEST</a:t>
            </a: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3B870F4A-4355-417F-A535-2F12969EC658}"/>
              </a:ext>
            </a:extLst>
          </p:cNvPr>
          <p:cNvSpPr>
            <a:spLocks noGrp="1"/>
          </p:cNvSpPr>
          <p:nvPr/>
        </p:nvSpPr>
        <p:spPr>
          <a:xfrm>
            <a:off x="4476750" y="1685925"/>
            <a:ext cx="1285875" cy="238125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RETRIEVE</a:t>
            </a:r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F3983A94-6233-407F-91CC-998CA60AECD9}"/>
              </a:ext>
            </a:extLst>
          </p:cNvPr>
          <p:cNvSpPr>
            <a:spLocks noGrp="1"/>
          </p:cNvSpPr>
          <p:nvPr/>
        </p:nvSpPr>
        <p:spPr>
          <a:xfrm>
            <a:off x="5972175" y="1685925"/>
            <a:ext cx="2333625" cy="238125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GROUND + VERIFY</a:t>
            </a:r>
          </a:p>
        </p:txBody>
      </p:sp>
      <p:sp>
        <p:nvSpPr>
          <p:cNvPr id="592" name="Rectangle: Rounded Corners 591">
            <a:extLst>
              <a:ext uri="{FF2B5EF4-FFF2-40B4-BE49-F238E27FC236}">
                <a16:creationId xmlns:a16="http://schemas.microsoft.com/office/drawing/2014/main" id="{8CD88E10-E349-45EF-B80B-8D12AA462787}"/>
              </a:ext>
            </a:extLst>
          </p:cNvPr>
          <p:cNvSpPr>
            <a:spLocks noGrp="1"/>
          </p:cNvSpPr>
          <p:nvPr/>
        </p:nvSpPr>
        <p:spPr>
          <a:xfrm>
            <a:off x="800100" y="2076450"/>
            <a:ext cx="1162050" cy="990600"/>
          </a:xfrm>
          <a:prstGeom prst="roundRect">
            <a:avLst>
              <a:gd name="adj" fmla="val 7692"/>
            </a:avLst>
          </a:prstGeom>
          <a:solidFill>
            <a:srgbClr val="D7E7F1"/>
          </a:solidFill>
          <a:ln w="12383">
            <a:solidFill>
              <a:srgbClr val="6C766B"/>
            </a:solidFill>
            <a:prstDash val="solid"/>
          </a:ln>
        </p:spPr>
        <p:txBody>
          <a:bodyPr lIns="76200" tIns="95250" rIns="76200" bIns="76200" anchor="ctr">
            <a:normAutofit/>
          </a:bodyPr>
          <a:lstStyle/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Nguồn + metadata</a:t>
            </a:r>
          </a:p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Ngành • profile</a:t>
            </a:r>
          </a:p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provenance</a:t>
            </a:r>
          </a:p>
        </p:txBody>
      </p:sp>
      <p:sp>
        <p:nvSpPr>
          <p:cNvPr id="593" name="Rectangle: Rounded Corners 592">
            <a:extLst>
              <a:ext uri="{FF2B5EF4-FFF2-40B4-BE49-F238E27FC236}">
                <a16:creationId xmlns:a16="http://schemas.microsoft.com/office/drawing/2014/main" id="{8A922807-53AF-410B-A45E-2ADC08687956}"/>
              </a:ext>
            </a:extLst>
          </p:cNvPr>
          <p:cNvSpPr>
            <a:spLocks noGrp="1"/>
          </p:cNvSpPr>
          <p:nvPr/>
        </p:nvSpPr>
        <p:spPr>
          <a:xfrm>
            <a:off x="2076450" y="2076450"/>
            <a:ext cx="1162050" cy="990600"/>
          </a:xfrm>
          <a:prstGeom prst="roundRect">
            <a:avLst>
              <a:gd name="adj" fmla="val 7692"/>
            </a:avLst>
          </a:prstGeom>
          <a:solidFill>
            <a:srgbClr val="F4F7F1"/>
          </a:solidFill>
          <a:ln w="12383">
            <a:solidFill>
              <a:srgbClr val="6C766B"/>
            </a:solidFill>
            <a:prstDash val="solid"/>
          </a:ln>
        </p:spPr>
        <p:txBody>
          <a:bodyPr lIns="76200" tIns="95250" rIns="76200" bIns="76200" anchor="ctr">
            <a:normAutofit/>
          </a:bodyPr>
          <a:lstStyle/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Chunk + hash</a:t>
            </a:r>
          </a:p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Định danh nội dung</a:t>
            </a:r>
          </a:p>
        </p:txBody>
      </p:sp>
      <p:sp>
        <p:nvSpPr>
          <p:cNvPr id="594" name="Rectangle: Rounded Corners 593">
            <a:extLst>
              <a:ext uri="{FF2B5EF4-FFF2-40B4-BE49-F238E27FC236}">
                <a16:creationId xmlns:a16="http://schemas.microsoft.com/office/drawing/2014/main" id="{3F2135A5-A6D6-428D-BD07-84867FBFFFBF}"/>
              </a:ext>
            </a:extLst>
          </p:cNvPr>
          <p:cNvSpPr>
            <a:spLocks noGrp="1"/>
          </p:cNvSpPr>
          <p:nvPr/>
        </p:nvSpPr>
        <p:spPr>
          <a:xfrm>
            <a:off x="3352800" y="2076450"/>
            <a:ext cx="1162050" cy="990600"/>
          </a:xfrm>
          <a:prstGeom prst="roundRect">
            <a:avLst>
              <a:gd name="adj" fmla="val 7692"/>
            </a:avLst>
          </a:prstGeom>
          <a:solidFill>
            <a:srgbClr val="E4D9EE"/>
          </a:solidFill>
          <a:ln w="12383">
            <a:solidFill>
              <a:srgbClr val="6C766B"/>
            </a:solidFill>
            <a:prstDash val="solid"/>
          </a:ln>
        </p:spPr>
        <p:txBody>
          <a:bodyPr lIns="76200" tIns="95250" rIns="76200" bIns="76200" anchor="ctr">
            <a:normAutofit/>
          </a:bodyPr>
          <a:lstStyle/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Qdrant index</a:t>
            </a:r>
          </a:p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Dense + sparse</a:t>
            </a:r>
          </a:p>
        </p:txBody>
      </p:sp>
      <p:sp>
        <p:nvSpPr>
          <p:cNvPr id="595" name="Rectangle: Rounded Corners 594">
            <a:extLst>
              <a:ext uri="{FF2B5EF4-FFF2-40B4-BE49-F238E27FC236}">
                <a16:creationId xmlns:a16="http://schemas.microsoft.com/office/drawing/2014/main" id="{8178608F-20BE-4E59-8AB5-BE95F7BF1F50}"/>
              </a:ext>
            </a:extLst>
          </p:cNvPr>
          <p:cNvSpPr>
            <a:spLocks noGrp="1"/>
          </p:cNvSpPr>
          <p:nvPr/>
        </p:nvSpPr>
        <p:spPr>
          <a:xfrm>
            <a:off x="4629150" y="2076450"/>
            <a:ext cx="1162050" cy="990600"/>
          </a:xfrm>
          <a:prstGeom prst="roundRect">
            <a:avLst>
              <a:gd name="adj" fmla="val 7692"/>
            </a:avLst>
          </a:prstGeom>
          <a:solidFill>
            <a:srgbClr val="F7EDC8"/>
          </a:solidFill>
          <a:ln w="12383">
            <a:solidFill>
              <a:srgbClr val="6C766B"/>
            </a:solidFill>
            <a:prstDash val="solid"/>
          </a:ln>
        </p:spPr>
        <p:txBody>
          <a:bodyPr lIns="76200" tIns="95250" rIns="76200" bIns="76200" anchor="ctr">
            <a:normAutofit/>
          </a:bodyPr>
          <a:lstStyle/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Hybrid retrieval</a:t>
            </a:r>
          </a:p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BM25 + dense → RRF</a:t>
            </a:r>
          </a:p>
        </p:txBody>
      </p: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27CC46E4-6BA4-44B9-8B6C-AAE96144DA75}"/>
              </a:ext>
            </a:extLst>
          </p:cNvPr>
          <p:cNvSpPr>
            <a:spLocks noGrp="1"/>
          </p:cNvSpPr>
          <p:nvPr/>
        </p:nvSpPr>
        <p:spPr>
          <a:xfrm>
            <a:off x="5905500" y="2076450"/>
            <a:ext cx="1162050" cy="990600"/>
          </a:xfrm>
          <a:prstGeom prst="roundRect">
            <a:avLst>
              <a:gd name="adj" fmla="val 7692"/>
            </a:avLst>
          </a:prstGeom>
          <a:solidFill>
            <a:srgbClr val="D7E7F1"/>
          </a:solidFill>
          <a:ln w="15240">
            <a:solidFill>
              <a:srgbClr val="4B8D17"/>
            </a:solidFill>
            <a:prstDash val="solid"/>
          </a:ln>
        </p:spPr>
        <p:txBody>
          <a:bodyPr lIns="76200" tIns="95250" rIns="76200" bIns="76200" anchor="ctr">
            <a:normAutofit/>
          </a:bodyPr>
          <a:lstStyle/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Grounded context</a:t>
            </a:r>
          </a:p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Evidence allow-list</a:t>
            </a:r>
          </a:p>
        </p:txBody>
      </p:sp>
      <p:sp>
        <p:nvSpPr>
          <p:cNvPr id="597" name="Rectangle: Rounded Corners 596">
            <a:extLst>
              <a:ext uri="{FF2B5EF4-FFF2-40B4-BE49-F238E27FC236}">
                <a16:creationId xmlns:a16="http://schemas.microsoft.com/office/drawing/2014/main" id="{2F54EF08-94F3-444A-BFA8-4C6184968518}"/>
              </a:ext>
            </a:extLst>
          </p:cNvPr>
          <p:cNvSpPr>
            <a:spLocks noGrp="1"/>
          </p:cNvSpPr>
          <p:nvPr/>
        </p:nvSpPr>
        <p:spPr>
          <a:xfrm>
            <a:off x="7181850" y="2076450"/>
            <a:ext cx="1162050" cy="990600"/>
          </a:xfrm>
          <a:prstGeom prst="roundRect">
            <a:avLst>
              <a:gd name="adj" fmla="val 7692"/>
            </a:avLst>
          </a:prstGeom>
          <a:solidFill>
            <a:srgbClr val="F4D7D3"/>
          </a:solidFill>
          <a:ln w="15240">
            <a:solidFill>
              <a:srgbClr val="4B8D17"/>
            </a:solidFill>
            <a:prstDash val="solid"/>
          </a:ln>
        </p:spPr>
        <p:txBody>
          <a:bodyPr lIns="76200" tIns="95250" rIns="76200" bIns="76200" anchor="ctr">
            <a:normAutofit/>
          </a:bodyPr>
          <a:lstStyle/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Validate output</a:t>
            </a:r>
          </a:p>
          <a:p>
            <a:pPr algn="ctr">
              <a:buNone/>
              <a:def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Schema + citation</a:t>
            </a:r>
          </a:p>
        </p:txBody>
      </p:sp>
      <p:cxnSp>
        <p:nvCxnSpPr>
          <p:cNvPr id="692" name="Straight Arrow Connector 627"/>
          <p:cNvCxnSpPr>
            <a:stCxn id="592" idx="3"/>
            <a:endCxn id="593" idx="1"/>
          </p:cNvCxnSpPr>
          <p:nvPr/>
        </p:nvCxnSpPr>
        <p:spPr>
          <a:xfrm>
            <a:off x="1962150" y="2571750"/>
            <a:ext cx="114300" cy="0"/>
          </a:xfrm>
          <a:prstGeom prst="straightConnector1">
            <a:avLst/>
          </a:prstGeom>
          <a:ln w="17145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93" name="Straight Arrow Connector 628"/>
          <p:cNvCxnSpPr>
            <a:stCxn id="593" idx="3"/>
            <a:endCxn id="594" idx="1"/>
          </p:cNvCxnSpPr>
          <p:nvPr/>
        </p:nvCxnSpPr>
        <p:spPr>
          <a:xfrm>
            <a:off x="3238500" y="2571750"/>
            <a:ext cx="114300" cy="0"/>
          </a:xfrm>
          <a:prstGeom prst="straightConnector1">
            <a:avLst/>
          </a:prstGeom>
          <a:ln w="17145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94" name="Straight Arrow Connector 629"/>
          <p:cNvCxnSpPr>
            <a:stCxn id="594" idx="3"/>
            <a:endCxn id="595" idx="1"/>
          </p:cNvCxnSpPr>
          <p:nvPr/>
        </p:nvCxnSpPr>
        <p:spPr>
          <a:xfrm>
            <a:off x="4514850" y="2571750"/>
            <a:ext cx="114300" cy="0"/>
          </a:xfrm>
          <a:prstGeom prst="straightConnector1">
            <a:avLst/>
          </a:prstGeom>
          <a:ln w="17145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95" name="Straight Arrow Connector 630"/>
          <p:cNvCxnSpPr>
            <a:stCxn id="595" idx="3"/>
            <a:endCxn id="596" idx="1"/>
          </p:cNvCxnSpPr>
          <p:nvPr/>
        </p:nvCxnSpPr>
        <p:spPr>
          <a:xfrm>
            <a:off x="5791200" y="2571750"/>
            <a:ext cx="114300" cy="0"/>
          </a:xfrm>
          <a:prstGeom prst="straightConnector1">
            <a:avLst/>
          </a:prstGeom>
          <a:ln w="17145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96" name="Straight Arrow Connector 631"/>
          <p:cNvCxnSpPr>
            <a:stCxn id="596" idx="3"/>
            <a:endCxn id="597" idx="1"/>
          </p:cNvCxnSpPr>
          <p:nvPr/>
        </p:nvCxnSpPr>
        <p:spPr>
          <a:xfrm>
            <a:off x="7067550" y="2571750"/>
            <a:ext cx="114300" cy="0"/>
          </a:xfrm>
          <a:prstGeom prst="straightConnector1">
            <a:avLst/>
          </a:prstGeom>
          <a:ln w="17145">
            <a:solidFill>
              <a:srgbClr val="4B8D17"/>
            </a:solidFill>
            <a:prstDash val="solid"/>
            <a:tailEnd type="triangle" w="sm" len="sm"/>
          </a:ln>
        </p:spPr>
      </p:cxnSp>
      <p:sp>
        <p:nvSpPr>
          <p:cNvPr id="603" name="Rectangle 602">
            <a:extLst>
              <a:ext uri="{FF2B5EF4-FFF2-40B4-BE49-F238E27FC236}">
                <a16:creationId xmlns:a16="http://schemas.microsoft.com/office/drawing/2014/main" id="{DD6FFFB0-9499-40FF-847C-53B102061A0D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285750" cy="2095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125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125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01</a:t>
            </a:r>
          </a:p>
        </p:txBody>
      </p:sp>
      <p:sp>
        <p:nvSpPr>
          <p:cNvPr id="604" name="Rectangle 603">
            <a:extLst>
              <a:ext uri="{FF2B5EF4-FFF2-40B4-BE49-F238E27FC236}">
                <a16:creationId xmlns:a16="http://schemas.microsoft.com/office/drawing/2014/main" id="{DB8BB847-B2A5-40CE-9E09-672A10F58C6B}"/>
              </a:ext>
            </a:extLst>
          </p:cNvPr>
          <p:cNvSpPr>
            <a:spLocks noGrp="1"/>
          </p:cNvSpPr>
          <p:nvPr/>
        </p:nvSpPr>
        <p:spPr>
          <a:xfrm>
            <a:off x="2152650" y="2133600"/>
            <a:ext cx="285750" cy="2095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125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125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605" name="Rectangle 604">
            <a:extLst>
              <a:ext uri="{FF2B5EF4-FFF2-40B4-BE49-F238E27FC236}">
                <a16:creationId xmlns:a16="http://schemas.microsoft.com/office/drawing/2014/main" id="{2D4D6AC0-24F8-40F8-8600-7B79636FE83D}"/>
              </a:ext>
            </a:extLst>
          </p:cNvPr>
          <p:cNvSpPr>
            <a:spLocks noGrp="1"/>
          </p:cNvSpPr>
          <p:nvPr/>
        </p:nvSpPr>
        <p:spPr>
          <a:xfrm>
            <a:off x="3429000" y="2133600"/>
            <a:ext cx="285750" cy="2095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125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125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606" name="Rectangle 605">
            <a:extLst>
              <a:ext uri="{FF2B5EF4-FFF2-40B4-BE49-F238E27FC236}">
                <a16:creationId xmlns:a16="http://schemas.microsoft.com/office/drawing/2014/main" id="{14ABDA36-AD50-4A34-882D-C49B6B5E8684}"/>
              </a:ext>
            </a:extLst>
          </p:cNvPr>
          <p:cNvSpPr>
            <a:spLocks noGrp="1"/>
          </p:cNvSpPr>
          <p:nvPr/>
        </p:nvSpPr>
        <p:spPr>
          <a:xfrm>
            <a:off x="4705350" y="2133600"/>
            <a:ext cx="285750" cy="2095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125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125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sp>
        <p:nvSpPr>
          <p:cNvPr id="607" name="Rectangle 606">
            <a:extLst>
              <a:ext uri="{FF2B5EF4-FFF2-40B4-BE49-F238E27FC236}">
                <a16:creationId xmlns:a16="http://schemas.microsoft.com/office/drawing/2014/main" id="{382F6E31-C079-4968-947D-6F1935FD7049}"/>
              </a:ext>
            </a:extLst>
          </p:cNvPr>
          <p:cNvSpPr>
            <a:spLocks noGrp="1"/>
          </p:cNvSpPr>
          <p:nvPr/>
        </p:nvSpPr>
        <p:spPr>
          <a:xfrm>
            <a:off x="5981700" y="2133600"/>
            <a:ext cx="285750" cy="2095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125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125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3D1F8D07-4D43-4BA5-BBE8-699068C5D45B}"/>
              </a:ext>
            </a:extLst>
          </p:cNvPr>
          <p:cNvSpPr>
            <a:spLocks noGrp="1"/>
          </p:cNvSpPr>
          <p:nvPr/>
        </p:nvSpPr>
        <p:spPr>
          <a:xfrm>
            <a:off x="7258050" y="2133600"/>
            <a:ext cx="285750" cy="2095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125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125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sp>
        <p:nvSpPr>
          <p:cNvPr id="609" name="Rectangle: Rounded Corners 608">
            <a:extLst>
              <a:ext uri="{FF2B5EF4-FFF2-40B4-BE49-F238E27FC236}">
                <a16:creationId xmlns:a16="http://schemas.microsoft.com/office/drawing/2014/main" id="{7FECA078-56D2-417A-8B8C-CB4A9AE449A2}"/>
              </a:ext>
            </a:extLst>
          </p:cNvPr>
          <p:cNvSpPr>
            <a:spLocks noGrp="1"/>
          </p:cNvSpPr>
          <p:nvPr/>
        </p:nvSpPr>
        <p:spPr>
          <a:xfrm>
            <a:off x="800100" y="3476625"/>
            <a:ext cx="7543800" cy="1066800"/>
          </a:xfrm>
          <a:prstGeom prst="roundRect">
            <a:avLst>
              <a:gd name="adj" fmla="val 10714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A98F54E8-6F7B-4CF5-B3C0-8C3BE6216384}"/>
              </a:ext>
            </a:extLst>
          </p:cNvPr>
          <p:cNvSpPr>
            <a:spLocks noGrp="1"/>
          </p:cNvSpPr>
          <p:nvPr/>
        </p:nvSpPr>
        <p:spPr>
          <a:xfrm>
            <a:off x="1009650" y="3581400"/>
            <a:ext cx="2190750" cy="2286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PROVENANCE XUYÊN SUỐT</a:t>
            </a: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05411F61-6E06-4A25-BA70-269B3D7F08C8}"/>
              </a:ext>
            </a:extLst>
          </p:cNvPr>
          <p:cNvSpPr>
            <a:spLocks noGrp="1"/>
          </p:cNvSpPr>
          <p:nvPr/>
        </p:nvSpPr>
        <p:spPr>
          <a:xfrm>
            <a:off x="1009650" y="3876675"/>
            <a:ext cx="1952625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9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Quản trị phiên bản</a:t>
            </a: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1960902B-08D5-4588-AE68-CE8F28859C63}"/>
              </a:ext>
            </a:extLst>
          </p:cNvPr>
          <p:cNvSpPr>
            <a:spLocks noGrp="1"/>
          </p:cNvSpPr>
          <p:nvPr/>
        </p:nvSpPr>
        <p:spPr>
          <a:xfrm>
            <a:off x="1009650" y="4143375"/>
            <a:ext cx="2095500" cy="238125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manifest • corpus hash • rollback</a:t>
            </a:r>
          </a:p>
        </p:txBody>
      </p:sp>
      <p:sp>
        <p:nvSpPr>
          <p:cNvPr id="613" name="Rectangle 612">
            <a:extLst>
              <a:ext uri="{FF2B5EF4-FFF2-40B4-BE49-F238E27FC236}">
                <a16:creationId xmlns:a16="http://schemas.microsoft.com/office/drawing/2014/main" id="{78DBE42B-4D5D-4BD1-B46E-1D946BF4648C}"/>
              </a:ext>
            </a:extLst>
          </p:cNvPr>
          <p:cNvSpPr>
            <a:spLocks noGrp="1"/>
          </p:cNvSpPr>
          <p:nvPr/>
        </p:nvSpPr>
        <p:spPr>
          <a:xfrm>
            <a:off x="3581400" y="3876675"/>
            <a:ext cx="1619250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9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Evidence IDs</a:t>
            </a:r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98392610-0430-4414-AC2A-D2BC5B833B32}"/>
              </a:ext>
            </a:extLst>
          </p:cNvPr>
          <p:cNvSpPr>
            <a:spLocks noGrp="1"/>
          </p:cNvSpPr>
          <p:nvPr/>
        </p:nvSpPr>
        <p:spPr>
          <a:xfrm>
            <a:off x="3581400" y="4143375"/>
            <a:ext cx="1809750" cy="238125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nguồn • ngành • profile</a:t>
            </a:r>
          </a:p>
        </p:txBody>
      </p:sp>
      <p:sp>
        <p:nvSpPr>
          <p:cNvPr id="615" name="Rectangle 614">
            <a:extLst>
              <a:ext uri="{FF2B5EF4-FFF2-40B4-BE49-F238E27FC236}">
                <a16:creationId xmlns:a16="http://schemas.microsoft.com/office/drawing/2014/main" id="{71036545-7F49-493C-9910-1743A76A0F71}"/>
              </a:ext>
            </a:extLst>
          </p:cNvPr>
          <p:cNvSpPr>
            <a:spLocks noGrp="1"/>
          </p:cNvSpPr>
          <p:nvPr/>
        </p:nvSpPr>
        <p:spPr>
          <a:xfrm>
            <a:off x="6076950" y="3876675"/>
            <a:ext cx="1809750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9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Retention &amp; audit</a:t>
            </a:r>
          </a:p>
        </p:txBody>
      </p:sp>
      <p:sp>
        <p:nvSpPr>
          <p:cNvPr id="616" name="Rectangle 615">
            <a:extLst>
              <a:ext uri="{FF2B5EF4-FFF2-40B4-BE49-F238E27FC236}">
                <a16:creationId xmlns:a16="http://schemas.microsoft.com/office/drawing/2014/main" id="{C01F6BF9-DA5D-4EBE-B0A4-6DEC1CD9C387}"/>
              </a:ext>
            </a:extLst>
          </p:cNvPr>
          <p:cNvSpPr>
            <a:spLocks noGrp="1"/>
          </p:cNvSpPr>
          <p:nvPr/>
        </p:nvSpPr>
        <p:spPr>
          <a:xfrm>
            <a:off x="6076950" y="4143375"/>
            <a:ext cx="1905000" cy="238125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xóa khi quá hạn • ghi vết</a:t>
            </a:r>
          </a:p>
        </p:txBody>
      </p:sp>
    </p:spTree>
    <p:extLst>
      <p:ext uri="{BB962C8B-B14F-4D97-AF65-F5344CB8AC3E}">
        <p14:creationId xmlns:p14="http://schemas.microsoft.com/office/powerpoint/2010/main" val="16567736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70">
            <a:extLst>
              <a:ext uri="{FF2B5EF4-FFF2-40B4-BE49-F238E27FC236}">
                <a16:creationId xmlns:a16="http://schemas.microsoft.com/office/drawing/2014/main" id="{FCFC893B-D6A3-4D9A-B56D-6C228636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50" y="781050"/>
            <a:ext cx="6381750" cy="5715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25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25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Pipeline tiếng nói nhiều tầng</a:t>
            </a:r>
            <a:endParaRPr/>
          </a:p>
        </p:txBody>
      </p:sp>
      <p:sp>
        <p:nvSpPr>
          <p:cNvPr id="580" name="Google Shape;580;p70">
            <a:extLst>
              <a:ext uri="{FF2B5EF4-FFF2-40B4-BE49-F238E27FC236}">
                <a16:creationId xmlns:a16="http://schemas.microsoft.com/office/drawing/2014/main" id="{40612DE4-5621-43EA-A828-F6C478424024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7524750" y="819150"/>
            <a:ext cx="781050" cy="4381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2025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03</a:t>
            </a:r>
            <a:endParaRPr/>
          </a:p>
        </p:txBody>
      </p:sp>
      <p:sp>
        <p:nvSpPr>
          <p:cNvPr id="581" name="Google Shape;581;p70">
            <a:extLst>
              <a:ext uri="{FF2B5EF4-FFF2-40B4-BE49-F238E27FC236}">
                <a16:creationId xmlns:a16="http://schemas.microsoft.com/office/drawing/2014/main" id="{E04B37CC-7D0D-463A-9DAD-6038675C5A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022" y="1278139"/>
            <a:ext cx="7429500" cy="3429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97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97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AssemblyAI streaming • Faster-Whisper fallback • SenseVoice LID/SER/AED</a:t>
            </a:r>
            <a:endParaRPr/>
          </a:p>
        </p:txBody>
      </p:sp>
      <p:sp>
        <p:nvSpPr>
          <p:cNvPr id="582" name="Rectangle 581">
            <a:extLst>
              <a:ext uri="{FF2B5EF4-FFF2-40B4-BE49-F238E27FC236}">
                <a16:creationId xmlns:a16="http://schemas.microsoft.com/office/drawing/2014/main" id="{C3543A95-2796-4873-B09A-6B3DA8B24DF2}"/>
              </a:ext>
            </a:extLst>
          </p:cNvPr>
          <p:cNvSpPr>
            <a:spLocks noGrp="1"/>
          </p:cNvSpPr>
          <p:nvPr/>
        </p:nvSpPr>
        <p:spPr>
          <a:xfrm>
            <a:off x="1000125" y="1828873"/>
            <a:ext cx="2000250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82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LUỒNG PHIÊN ÂM</a:t>
            </a:r>
          </a:p>
        </p:txBody>
      </p:sp>
      <p:sp>
        <p:nvSpPr>
          <p:cNvPr id="583" name="Rectangle 582">
            <a:extLst>
              <a:ext uri="{FF2B5EF4-FFF2-40B4-BE49-F238E27FC236}">
                <a16:creationId xmlns:a16="http://schemas.microsoft.com/office/drawing/2014/main" id="{6873FF1D-43D7-4653-B19F-36826EAF83A0}"/>
              </a:ext>
            </a:extLst>
          </p:cNvPr>
          <p:cNvSpPr>
            <a:spLocks noGrp="1"/>
          </p:cNvSpPr>
          <p:nvPr/>
        </p:nvSpPr>
        <p:spPr>
          <a:xfrm>
            <a:off x="3381375" y="3352873"/>
            <a:ext cx="2524125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FALLBACK KHI STREAMING LỖI</a:t>
            </a:r>
          </a:p>
        </p:txBody>
      </p:sp>
      <p:sp>
        <p:nvSpPr>
          <p:cNvPr id="584" name="Rectangle 583">
            <a:extLst>
              <a:ext uri="{FF2B5EF4-FFF2-40B4-BE49-F238E27FC236}">
                <a16:creationId xmlns:a16="http://schemas.microsoft.com/office/drawing/2014/main" id="{3861B306-2BA3-4EFC-B88E-AE99138BFF56}"/>
              </a:ext>
            </a:extLst>
          </p:cNvPr>
          <p:cNvSpPr>
            <a:spLocks noGrp="1"/>
          </p:cNvSpPr>
          <p:nvPr/>
        </p:nvSpPr>
        <p:spPr>
          <a:xfrm>
            <a:off x="1000125" y="3352873"/>
            <a:ext cx="2000250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LUỒNG QUAN SÁT</a:t>
            </a:r>
          </a:p>
        </p:txBody>
      </p:sp>
      <p:sp>
        <p:nvSpPr>
          <p:cNvPr id="585" name="Rectangle: Rounded Corners 584">
            <a:extLst>
              <a:ext uri="{FF2B5EF4-FFF2-40B4-BE49-F238E27FC236}">
                <a16:creationId xmlns:a16="http://schemas.microsoft.com/office/drawing/2014/main" id="{A7590320-C821-4252-B98C-D18F6B0B9AAE}"/>
              </a:ext>
            </a:extLst>
          </p:cNvPr>
          <p:cNvSpPr>
            <a:spLocks noGrp="1"/>
          </p:cNvSpPr>
          <p:nvPr/>
        </p:nvSpPr>
        <p:spPr>
          <a:xfrm>
            <a:off x="1000125" y="2209873"/>
            <a:ext cx="1809750" cy="857250"/>
          </a:xfrm>
          <a:prstGeom prst="roundRect">
            <a:avLst>
              <a:gd name="adj" fmla="val 8889"/>
            </a:avLst>
          </a:prstGeom>
          <a:solidFill>
            <a:srgbClr val="D7E7F1"/>
          </a:solidFill>
          <a:ln w="13335">
            <a:solidFill>
              <a:srgbClr val="6C766B"/>
            </a:solidFill>
            <a:prstDash val="solid"/>
          </a:ln>
        </p:spPr>
        <p:txBody>
          <a:bodyPr lIns="85725" tIns="76200" rIns="85725" bIns="76200" anchor="ctr">
            <a:normAutofit/>
          </a:bodyPr>
          <a:lstStyle/>
          <a:p>
            <a:pPr algn="ctr">
              <a:buNone/>
              <a:def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Microphone</a:t>
            </a:r>
          </a:p>
          <a:p>
            <a:pPr algn="ctr">
              <a:buNone/>
              <a:def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Audio đầu vào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7D37841A-4F23-4ADD-B7E4-BF851B49E3D3}"/>
              </a:ext>
            </a:extLst>
          </p:cNvPr>
          <p:cNvSpPr>
            <a:spLocks noGrp="1"/>
          </p:cNvSpPr>
          <p:nvPr/>
        </p:nvSpPr>
        <p:spPr>
          <a:xfrm>
            <a:off x="3667125" y="2209873"/>
            <a:ext cx="1952625" cy="857250"/>
          </a:xfrm>
          <a:prstGeom prst="roundRect">
            <a:avLst>
              <a:gd name="adj" fmla="val 8889"/>
            </a:avLst>
          </a:prstGeom>
          <a:solidFill>
            <a:srgbClr val="F4F7F1"/>
          </a:solidFill>
          <a:ln w="13335">
            <a:solidFill>
              <a:srgbClr val="6C766B"/>
            </a:solidFill>
            <a:prstDash val="solid"/>
          </a:ln>
        </p:spPr>
        <p:txBody>
          <a:bodyPr lIns="85725" tIns="76200" rIns="85725" bIns="76200" anchor="ctr">
            <a:normAutofit/>
          </a:bodyPr>
          <a:lstStyle/>
          <a:p>
            <a:pPr algn="ctr">
              <a:buNone/>
              <a:def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AssemblyAI</a:t>
            </a:r>
          </a:p>
          <a:p>
            <a:pPr algn="ctr">
              <a:buNone/>
              <a:def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Streaming transcript</a:t>
            </a:r>
          </a:p>
        </p:txBody>
      </p:sp>
      <p:sp>
        <p:nvSpPr>
          <p:cNvPr id="587" name="Rectangle: Rounded Corners 586">
            <a:extLst>
              <a:ext uri="{FF2B5EF4-FFF2-40B4-BE49-F238E27FC236}">
                <a16:creationId xmlns:a16="http://schemas.microsoft.com/office/drawing/2014/main" id="{E9149E49-F2CD-46AC-8C10-FDD0FCC39493}"/>
              </a:ext>
            </a:extLst>
          </p:cNvPr>
          <p:cNvSpPr>
            <a:spLocks noGrp="1"/>
          </p:cNvSpPr>
          <p:nvPr/>
        </p:nvSpPr>
        <p:spPr>
          <a:xfrm>
            <a:off x="6477000" y="2209873"/>
            <a:ext cx="1809750" cy="857250"/>
          </a:xfrm>
          <a:prstGeom prst="roundRect">
            <a:avLst>
              <a:gd name="adj" fmla="val 8889"/>
            </a:avLst>
          </a:prstGeom>
          <a:solidFill>
            <a:srgbClr val="DFF0D6"/>
          </a:solidFill>
          <a:ln w="17145">
            <a:solidFill>
              <a:srgbClr val="4B8D17"/>
            </a:solidFill>
            <a:prstDash val="solid"/>
          </a:ln>
        </p:spPr>
        <p:txBody>
          <a:bodyPr lIns="85725" tIns="76200" rIns="85725" bIns="76200" anchor="ctr">
            <a:normAutofit/>
          </a:bodyPr>
          <a:lstStyle/>
          <a:p>
            <a:pPr algn="ctr">
              <a:buNone/>
              <a:def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Transcript</a:t>
            </a:r>
          </a:p>
          <a:p>
            <a:pPr algn="ctr">
              <a:buNone/>
              <a:def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Theo thời gian thực</a:t>
            </a:r>
          </a:p>
        </p:txBody>
      </p:sp>
      <p:sp>
        <p:nvSpPr>
          <p:cNvPr id="588" name="Rectangle: Rounded Corners 587">
            <a:extLst>
              <a:ext uri="{FF2B5EF4-FFF2-40B4-BE49-F238E27FC236}">
                <a16:creationId xmlns:a16="http://schemas.microsoft.com/office/drawing/2014/main" id="{2DF845C1-F9C4-43EC-AC49-9044D5364963}"/>
              </a:ext>
            </a:extLst>
          </p:cNvPr>
          <p:cNvSpPr>
            <a:spLocks noGrp="1"/>
          </p:cNvSpPr>
          <p:nvPr/>
        </p:nvSpPr>
        <p:spPr>
          <a:xfrm>
            <a:off x="1000125" y="3733873"/>
            <a:ext cx="1809750" cy="819150"/>
          </a:xfrm>
          <a:prstGeom prst="roundRect">
            <a:avLst>
              <a:gd name="adj" fmla="val 9302"/>
            </a:avLst>
          </a:prstGeom>
          <a:solidFill>
            <a:srgbClr val="E4D9EE"/>
          </a:solidFill>
          <a:ln w="13335">
            <a:solidFill>
              <a:srgbClr val="6C766B"/>
            </a:solidFill>
            <a:prstDash val="solid"/>
          </a:ln>
        </p:spPr>
        <p:txBody>
          <a:bodyPr lIns="85725" tIns="76200" rIns="85725" bIns="76200" anchor="ctr">
            <a:normAutofit/>
          </a:bodyPr>
          <a:lstStyle/>
          <a:p>
            <a:pPr algn="ctr">
              <a:buNone/>
              <a:def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SenseVoice</a:t>
            </a:r>
          </a:p>
          <a:p>
            <a:pPr algn="ctr">
              <a:buNone/>
              <a:def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LID / SER / AED</a:t>
            </a:r>
          </a:p>
          <a:p>
            <a:pPr algn="ctr">
              <a:buNone/>
              <a:def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Observation only</a:t>
            </a:r>
          </a:p>
        </p:txBody>
      </p:sp>
      <p:sp>
        <p:nvSpPr>
          <p:cNvPr id="589" name="Rectangle: Rounded Corners 588">
            <a:extLst>
              <a:ext uri="{FF2B5EF4-FFF2-40B4-BE49-F238E27FC236}">
                <a16:creationId xmlns:a16="http://schemas.microsoft.com/office/drawing/2014/main" id="{F6C1B201-8594-4D2B-9477-1BC5433E99A5}"/>
              </a:ext>
            </a:extLst>
          </p:cNvPr>
          <p:cNvSpPr>
            <a:spLocks noGrp="1"/>
          </p:cNvSpPr>
          <p:nvPr/>
        </p:nvSpPr>
        <p:spPr>
          <a:xfrm>
            <a:off x="3667125" y="3733873"/>
            <a:ext cx="1952625" cy="819150"/>
          </a:xfrm>
          <a:prstGeom prst="roundRect">
            <a:avLst>
              <a:gd name="adj" fmla="val 9302"/>
            </a:avLst>
          </a:prstGeom>
          <a:solidFill>
            <a:srgbClr val="F7EDC8"/>
          </a:solidFill>
          <a:ln w="13335">
            <a:solidFill>
              <a:srgbClr val="6C766B"/>
            </a:solidFill>
            <a:prstDash val="solid"/>
          </a:ln>
        </p:spPr>
        <p:txBody>
          <a:bodyPr lIns="85725" tIns="76200" rIns="85725" bIns="76200" anchor="ctr">
            <a:normAutofit/>
          </a:bodyPr>
          <a:lstStyle/>
          <a:p>
            <a:pPr algn="ctr">
              <a:buNone/>
              <a:def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Faster-Whisper</a:t>
            </a:r>
          </a:p>
          <a:p>
            <a:pPr algn="ctr">
              <a:buNone/>
              <a:def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Fallback cục bộ</a:t>
            </a:r>
          </a:p>
        </p:txBody>
      </p:sp>
      <p:sp>
        <p:nvSpPr>
          <p:cNvPr id="590" name="Rectangle: Rounded Corners 589">
            <a:extLst>
              <a:ext uri="{FF2B5EF4-FFF2-40B4-BE49-F238E27FC236}">
                <a16:creationId xmlns:a16="http://schemas.microsoft.com/office/drawing/2014/main" id="{571EC328-8BEE-44C7-9B79-28262EED6B7D}"/>
              </a:ext>
            </a:extLst>
          </p:cNvPr>
          <p:cNvSpPr>
            <a:spLocks noGrp="1"/>
          </p:cNvSpPr>
          <p:nvPr/>
        </p:nvSpPr>
        <p:spPr>
          <a:xfrm>
            <a:off x="6477000" y="3733873"/>
            <a:ext cx="1809750" cy="819150"/>
          </a:xfrm>
          <a:prstGeom prst="roundRect">
            <a:avLst>
              <a:gd name="adj" fmla="val 9302"/>
            </a:avLst>
          </a:prstGeom>
          <a:solidFill>
            <a:srgbClr val="F4F7F1"/>
          </a:solidFill>
          <a:ln w="13335">
            <a:solidFill>
              <a:srgbClr val="4B8D17"/>
            </a:solidFill>
            <a:prstDash val="solid"/>
          </a:ln>
        </p:spPr>
        <p:txBody>
          <a:bodyPr lIns="85725" tIns="76200" rIns="85725" bIns="76200" anchor="ctr">
            <a:normAutofit/>
          </a:bodyPr>
          <a:lstStyle/>
          <a:p>
            <a:pPr algn="ctr">
              <a:buNone/>
              <a:defRPr sz="9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Transcript fallback</a:t>
            </a:r>
          </a:p>
          <a:p>
            <a:pPr algn="ctr">
              <a:buNone/>
              <a:defRPr sz="9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Tiếp tục phiên</a:t>
            </a:r>
          </a:p>
        </p:txBody>
      </p:sp>
      <p:cxnSp>
        <p:nvCxnSpPr>
          <p:cNvPr id="693" name="Straight Arrow Connector 624"/>
          <p:cNvCxnSpPr>
            <a:stCxn id="585" idx="3"/>
            <a:endCxn id="586" idx="1"/>
          </p:cNvCxnSpPr>
          <p:nvPr/>
        </p:nvCxnSpPr>
        <p:spPr>
          <a:xfrm>
            <a:off x="2809875" y="2638498"/>
            <a:ext cx="857250" cy="0"/>
          </a:xfrm>
          <a:prstGeom prst="straightConnector1">
            <a:avLst/>
          </a:prstGeom>
          <a:ln w="1905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94" name="Straight Arrow Connector 625"/>
          <p:cNvCxnSpPr>
            <a:stCxn id="586" idx="3"/>
            <a:endCxn id="587" idx="1"/>
          </p:cNvCxnSpPr>
          <p:nvPr/>
        </p:nvCxnSpPr>
        <p:spPr>
          <a:xfrm>
            <a:off x="5619750" y="2638498"/>
            <a:ext cx="857250" cy="0"/>
          </a:xfrm>
          <a:prstGeom prst="straightConnector1">
            <a:avLst/>
          </a:prstGeom>
          <a:ln w="1905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95" name="Straight Arrow Connector 626"/>
          <p:cNvCxnSpPr>
            <a:stCxn id="585" idx="2"/>
            <a:endCxn id="588" idx="0"/>
          </p:cNvCxnSpPr>
          <p:nvPr/>
        </p:nvCxnSpPr>
        <p:spPr>
          <a:xfrm>
            <a:off x="1905000" y="3067123"/>
            <a:ext cx="0" cy="666750"/>
          </a:xfrm>
          <a:prstGeom prst="straightConnector1">
            <a:avLst/>
          </a:prstGeom>
          <a:ln w="16193">
            <a:solidFill>
              <a:srgbClr val="4B8D17"/>
            </a:solidFill>
            <a:prstDash val="dash"/>
            <a:tailEnd type="triangle" w="sm" len="sm"/>
          </a:ln>
        </p:spPr>
      </p:cxnSp>
      <p:cxnSp>
        <p:nvCxnSpPr>
          <p:cNvPr id="696" name="Straight Arrow Connector 627"/>
          <p:cNvCxnSpPr>
            <a:stCxn id="586" idx="2"/>
            <a:endCxn id="589" idx="0"/>
          </p:cNvCxnSpPr>
          <p:nvPr/>
        </p:nvCxnSpPr>
        <p:spPr>
          <a:xfrm>
            <a:off x="4643438" y="3067123"/>
            <a:ext cx="0" cy="666750"/>
          </a:xfrm>
          <a:prstGeom prst="straightConnector1">
            <a:avLst/>
          </a:prstGeom>
          <a:ln w="16193">
            <a:solidFill>
              <a:srgbClr val="4B8D17"/>
            </a:solidFill>
            <a:prstDash val="dash"/>
            <a:tailEnd type="triangle" w="sm" len="sm"/>
          </a:ln>
        </p:spPr>
      </p:cxnSp>
      <p:cxnSp>
        <p:nvCxnSpPr>
          <p:cNvPr id="697" name="Straight Arrow Connector 628"/>
          <p:cNvCxnSpPr>
            <a:stCxn id="589" idx="3"/>
            <a:endCxn id="590" idx="1"/>
          </p:cNvCxnSpPr>
          <p:nvPr/>
        </p:nvCxnSpPr>
        <p:spPr>
          <a:xfrm>
            <a:off x="5619750" y="4143448"/>
            <a:ext cx="857250" cy="0"/>
          </a:xfrm>
          <a:prstGeom prst="straightConnector1">
            <a:avLst/>
          </a:prstGeom>
          <a:ln w="16193">
            <a:solidFill>
              <a:srgbClr val="4B8D17"/>
            </a:solidFill>
            <a:prstDash val="dash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3988273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68">
            <a:extLst>
              <a:ext uri="{FF2B5EF4-FFF2-40B4-BE49-F238E27FC236}">
                <a16:creationId xmlns:a16="http://schemas.microsoft.com/office/drawing/2014/main" id="{D6AECE86-407B-4B35-BF6B-E9F557DF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2850" y="1721761"/>
            <a:ext cx="4545000" cy="12912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An toàn, quan sát và khả năng phục hồi</a:t>
            </a:r>
            <a:endParaRPr/>
          </a:p>
        </p:txBody>
      </p:sp>
      <p:sp>
        <p:nvSpPr>
          <p:cNvPr id="566" name="Google Shape;566;p68">
            <a:extLst>
              <a:ext uri="{FF2B5EF4-FFF2-40B4-BE49-F238E27FC236}">
                <a16:creationId xmlns:a16="http://schemas.microsoft.com/office/drawing/2014/main" id="{2D4FB31B-B496-43C9-AACA-9464B940E4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42850" y="2310449"/>
            <a:ext cx="4545000" cy="554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Auth/RBAC • schema • timeout/retry • audit/usage • health • graceful fallback</a:t>
            </a:r>
            <a:endParaRPr/>
          </a:p>
        </p:txBody>
      </p:sp>
      <p:sp>
        <p:nvSpPr>
          <p:cNvPr id="567" name="Rectangle: Rounded Corners 566">
            <a:extLst>
              <a:ext uri="{FF2B5EF4-FFF2-40B4-BE49-F238E27FC236}">
                <a16:creationId xmlns:a16="http://schemas.microsoft.com/office/drawing/2014/main" id="{18825A89-FF22-461F-BFE2-2B6570316CD2}"/>
              </a:ext>
            </a:extLst>
          </p:cNvPr>
          <p:cNvSpPr>
            <a:spLocks noGrp="1"/>
          </p:cNvSpPr>
          <p:nvPr/>
        </p:nvSpPr>
        <p:spPr>
          <a:xfrm>
            <a:off x="857250" y="1154244"/>
            <a:ext cx="2381250" cy="457200"/>
          </a:xfrm>
          <a:prstGeom prst="roundRect">
            <a:avLst>
              <a:gd name="adj" fmla="val 16667"/>
            </a:avLst>
          </a:prstGeom>
          <a:solidFill>
            <a:srgbClr val="D7E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Auth + RBAC</a:t>
            </a:r>
          </a:p>
        </p:txBody>
      </p:sp>
      <p:sp>
        <p:nvSpPr>
          <p:cNvPr id="568" name="Rectangle: Rounded Corners 567">
            <a:extLst>
              <a:ext uri="{FF2B5EF4-FFF2-40B4-BE49-F238E27FC236}">
                <a16:creationId xmlns:a16="http://schemas.microsoft.com/office/drawing/2014/main" id="{B69E1354-6746-4623-8497-A564C0AD0FE4}"/>
              </a:ext>
            </a:extLst>
          </p:cNvPr>
          <p:cNvSpPr>
            <a:spLocks noGrp="1"/>
          </p:cNvSpPr>
          <p:nvPr/>
        </p:nvSpPr>
        <p:spPr>
          <a:xfrm>
            <a:off x="1000125" y="1773369"/>
            <a:ext cx="2095500" cy="457200"/>
          </a:xfrm>
          <a:prstGeom prst="roundRect">
            <a:avLst>
              <a:gd name="adj" fmla="val 16667"/>
            </a:avLst>
          </a:prstGeom>
          <a:solidFill>
            <a:srgbClr val="F4F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Schema validation</a:t>
            </a:r>
          </a:p>
        </p:txBody>
      </p:sp>
      <p:sp>
        <p:nvSpPr>
          <p:cNvPr id="569" name="Rectangle: Rounded Corners 568">
            <a:extLst>
              <a:ext uri="{FF2B5EF4-FFF2-40B4-BE49-F238E27FC236}">
                <a16:creationId xmlns:a16="http://schemas.microsoft.com/office/drawing/2014/main" id="{983D33B3-280A-4E85-8A10-CFFFF4952FCC}"/>
              </a:ext>
            </a:extLst>
          </p:cNvPr>
          <p:cNvSpPr>
            <a:spLocks noGrp="1"/>
          </p:cNvSpPr>
          <p:nvPr/>
        </p:nvSpPr>
        <p:spPr>
          <a:xfrm>
            <a:off x="1143000" y="2392494"/>
            <a:ext cx="1809750" cy="457200"/>
          </a:xfrm>
          <a:prstGeom prst="roundRect">
            <a:avLst>
              <a:gd name="adj" fmla="val 16667"/>
            </a:avLst>
          </a:prstGeom>
          <a:solidFill>
            <a:srgbClr val="F7EDC8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Timeout • retry • circuit breaker</a:t>
            </a:r>
          </a:p>
        </p:txBody>
      </p:sp>
      <p:sp>
        <p:nvSpPr>
          <p:cNvPr id="570" name="Rectangle: Rounded Corners 569">
            <a:extLst>
              <a:ext uri="{FF2B5EF4-FFF2-40B4-BE49-F238E27FC236}">
                <a16:creationId xmlns:a16="http://schemas.microsoft.com/office/drawing/2014/main" id="{AE0DBA71-4664-4DD3-B892-BA9D7467A138}"/>
              </a:ext>
            </a:extLst>
          </p:cNvPr>
          <p:cNvSpPr>
            <a:spLocks noGrp="1"/>
          </p:cNvSpPr>
          <p:nvPr/>
        </p:nvSpPr>
        <p:spPr>
          <a:xfrm>
            <a:off x="1285875" y="3011619"/>
            <a:ext cx="1524000" cy="457200"/>
          </a:xfrm>
          <a:prstGeom prst="roundRect">
            <a:avLst>
              <a:gd name="adj" fmla="val 16667"/>
            </a:avLst>
          </a:prstGeom>
          <a:solidFill>
            <a:srgbClr val="E4D9EE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Audit • usage • health</a:t>
            </a:r>
          </a:p>
        </p:txBody>
      </p:sp>
      <p:sp>
        <p:nvSpPr>
          <p:cNvPr id="571" name="Rectangle: Rounded Corners 570">
            <a:extLst>
              <a:ext uri="{FF2B5EF4-FFF2-40B4-BE49-F238E27FC236}">
                <a16:creationId xmlns:a16="http://schemas.microsoft.com/office/drawing/2014/main" id="{99733D80-0520-4521-A31E-78FA94DA9060}"/>
              </a:ext>
            </a:extLst>
          </p:cNvPr>
          <p:cNvSpPr>
            <a:spLocks noGrp="1"/>
          </p:cNvSpPr>
          <p:nvPr/>
        </p:nvSpPr>
        <p:spPr>
          <a:xfrm>
            <a:off x="1428750" y="3630744"/>
            <a:ext cx="1238250" cy="457200"/>
          </a:xfrm>
          <a:prstGeom prst="roundRect">
            <a:avLst>
              <a:gd name="adj" fmla="val 16667"/>
            </a:avLst>
          </a:prstGeom>
          <a:solidFill>
            <a:srgbClr val="F4D7D3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Graceful fallback</a:t>
            </a:r>
          </a:p>
        </p:txBody>
      </p:sp>
      <p:cxnSp>
        <p:nvCxnSpPr>
          <p:cNvPr id="751" name="Straight Arrow Connector 684"/>
          <p:cNvCxnSpPr>
            <a:stCxn id="567" idx="2"/>
            <a:endCxn id="568" idx="0"/>
          </p:cNvCxnSpPr>
          <p:nvPr/>
        </p:nvCxnSpPr>
        <p:spPr>
          <a:xfrm>
            <a:off x="2047875" y="1611444"/>
            <a:ext cx="0" cy="161925"/>
          </a:xfrm>
          <a:prstGeom prst="straightConnector1">
            <a:avLst/>
          </a:prstGeom>
          <a:ln w="17145">
            <a:solidFill>
              <a:srgbClr val="6C766B"/>
            </a:solidFill>
            <a:prstDash val="dash"/>
            <a:tailEnd type="triangle" w="sm" len="sm"/>
          </a:ln>
        </p:spPr>
      </p:cxnSp>
      <p:cxnSp>
        <p:nvCxnSpPr>
          <p:cNvPr id="752" name="Straight Arrow Connector 685"/>
          <p:cNvCxnSpPr>
            <a:stCxn id="568" idx="2"/>
            <a:endCxn id="569" idx="0"/>
          </p:cNvCxnSpPr>
          <p:nvPr/>
        </p:nvCxnSpPr>
        <p:spPr>
          <a:xfrm>
            <a:off x="2047875" y="2230569"/>
            <a:ext cx="0" cy="161925"/>
          </a:xfrm>
          <a:prstGeom prst="straightConnector1">
            <a:avLst/>
          </a:prstGeom>
          <a:ln w="17145">
            <a:solidFill>
              <a:srgbClr val="6C766B"/>
            </a:solidFill>
            <a:prstDash val="dash"/>
            <a:tailEnd type="triangle" w="sm" len="sm"/>
          </a:ln>
        </p:spPr>
      </p:cxnSp>
      <p:cxnSp>
        <p:nvCxnSpPr>
          <p:cNvPr id="753" name="Straight Arrow Connector 686"/>
          <p:cNvCxnSpPr>
            <a:stCxn id="569" idx="2"/>
            <a:endCxn id="570" idx="0"/>
          </p:cNvCxnSpPr>
          <p:nvPr/>
        </p:nvCxnSpPr>
        <p:spPr>
          <a:xfrm>
            <a:off x="2047875" y="2849694"/>
            <a:ext cx="0" cy="161925"/>
          </a:xfrm>
          <a:prstGeom prst="straightConnector1">
            <a:avLst/>
          </a:prstGeom>
          <a:ln w="17145">
            <a:solidFill>
              <a:srgbClr val="6C766B"/>
            </a:solidFill>
            <a:prstDash val="dash"/>
            <a:tailEnd type="triangle" w="sm" len="sm"/>
          </a:ln>
        </p:spPr>
      </p:cxnSp>
      <p:cxnSp>
        <p:nvCxnSpPr>
          <p:cNvPr id="754" name="Straight Arrow Connector 687"/>
          <p:cNvCxnSpPr>
            <a:stCxn id="570" idx="2"/>
            <a:endCxn id="571" idx="0"/>
          </p:cNvCxnSpPr>
          <p:nvPr/>
        </p:nvCxnSpPr>
        <p:spPr>
          <a:xfrm>
            <a:off x="2047875" y="3468819"/>
            <a:ext cx="0" cy="161925"/>
          </a:xfrm>
          <a:prstGeom prst="straightConnector1">
            <a:avLst/>
          </a:prstGeom>
          <a:ln w="17145">
            <a:solidFill>
              <a:srgbClr val="6C766B"/>
            </a:solidFill>
            <a:prstDash val="dash"/>
            <a:tailEnd type="triangle" w="sm" len="sm"/>
          </a:ln>
        </p:spPr>
      </p:cxnSp>
      <p:sp>
        <p:nvSpPr>
          <p:cNvPr id="598" name="Rectangle: Rounded Corners 597">
            <a:extLst>
              <a:ext uri="{FF2B5EF4-FFF2-40B4-BE49-F238E27FC236}">
                <a16:creationId xmlns:a16="http://schemas.microsoft.com/office/drawing/2014/main" id="{2FFD94D1-33A8-4B1E-8ECE-1CC5C140F4D1}"/>
              </a:ext>
            </a:extLst>
          </p:cNvPr>
          <p:cNvSpPr>
            <a:spLocks noGrp="1"/>
          </p:cNvSpPr>
          <p:nvPr/>
        </p:nvSpPr>
        <p:spPr>
          <a:xfrm>
            <a:off x="3762375" y="3128855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2383">
            <a:solidFill>
              <a:srgbClr val="4B8D17"/>
            </a:solidFill>
            <a:prstDash val="solid"/>
          </a:ln>
        </p:spPr>
        <p:txBody>
          <a:bodyPr lIns="66675" tIns="47625" rIns="66675" bIns="47625" anchor="ctr">
            <a:normAutofit/>
          </a:bodyPr>
          <a:lstStyle/>
          <a:p>
            <a:pPr algn="ctr">
              <a:buNone/>
              <a:def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Đúng quyền</a:t>
            </a:r>
          </a:p>
        </p:txBody>
      </p:sp>
      <p:sp>
        <p:nvSpPr>
          <p:cNvPr id="599" name="Rectangle: Rounded Corners 598">
            <a:extLst>
              <a:ext uri="{FF2B5EF4-FFF2-40B4-BE49-F238E27FC236}">
                <a16:creationId xmlns:a16="http://schemas.microsoft.com/office/drawing/2014/main" id="{2C8DC7B9-BC96-4A5E-9BB4-D8C8A8AB8A5F}"/>
              </a:ext>
            </a:extLst>
          </p:cNvPr>
          <p:cNvSpPr>
            <a:spLocks noGrp="1"/>
          </p:cNvSpPr>
          <p:nvPr/>
        </p:nvSpPr>
        <p:spPr>
          <a:xfrm>
            <a:off x="5238750" y="3128855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F7EDC8"/>
          </a:solidFill>
          <a:ln w="12383">
            <a:solidFill>
              <a:srgbClr val="4B8D17"/>
            </a:solidFill>
            <a:prstDash val="solid"/>
          </a:ln>
        </p:spPr>
        <p:txBody>
          <a:bodyPr lIns="66675" tIns="47625" rIns="66675" bIns="47625" anchor="ctr">
            <a:normAutofit fontScale="91916"/>
          </a:bodyPr>
          <a:lstStyle/>
          <a:p>
            <a:pPr algn="ctr">
              <a:buNone/>
              <a:def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Có đường phục hồi</a:t>
            </a:r>
          </a:p>
        </p:txBody>
      </p:sp>
      <p:sp>
        <p:nvSpPr>
          <p:cNvPr id="600" name="Rectangle: Rounded Corners 599">
            <a:extLst>
              <a:ext uri="{FF2B5EF4-FFF2-40B4-BE49-F238E27FC236}">
                <a16:creationId xmlns:a16="http://schemas.microsoft.com/office/drawing/2014/main" id="{A6CCDDC2-7E4F-4226-94B8-451741601805}"/>
              </a:ext>
            </a:extLst>
          </p:cNvPr>
          <p:cNvSpPr>
            <a:spLocks noGrp="1"/>
          </p:cNvSpPr>
          <p:nvPr/>
        </p:nvSpPr>
        <p:spPr>
          <a:xfrm>
            <a:off x="6715125" y="3128855"/>
            <a:ext cx="1333500" cy="4000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2383">
            <a:solidFill>
              <a:srgbClr val="4B8D17"/>
            </a:solidFill>
            <a:prstDash val="solid"/>
          </a:ln>
        </p:spPr>
        <p:txBody>
          <a:bodyPr lIns="66675" tIns="47625" rIns="66675" bIns="47625" anchor="ctr">
            <a:normAutofit/>
          </a:bodyPr>
          <a:lstStyle/>
          <a:p>
            <a:pPr algn="ctr">
              <a:buNone/>
              <a:def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Đủ dấu vết audit</a:t>
            </a:r>
          </a:p>
        </p:txBody>
      </p:sp>
    </p:spTree>
    <p:extLst>
      <p:ext uri="{BB962C8B-B14F-4D97-AF65-F5344CB8AC3E}">
        <p14:creationId xmlns:p14="http://schemas.microsoft.com/office/powerpoint/2010/main" val="11434451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>
            <a:extLst>
              <a:ext uri="{FF2B5EF4-FFF2-40B4-BE49-F238E27FC236}">
                <a16:creationId xmlns:a16="http://schemas.microsoft.com/office/drawing/2014/main" id="{0748C4F2-D567-4A7D-9951-FA8A58565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470168"/>
            <a:ext cx="7620000" cy="5524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02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Hợp đồng typed giữ TypeScript ↔ Python nhất quán</a:t>
            </a:r>
            <a:endParaRPr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4B356F7E-096E-43E5-BC26-0C1E81FED59E}"/>
              </a:ext>
            </a:extLst>
          </p:cNvPr>
          <p:cNvSpPr>
            <a:spLocks noGrp="1"/>
          </p:cNvSpPr>
          <p:nvPr/>
        </p:nvSpPr>
        <p:spPr>
          <a:xfrm>
            <a:off x="800100" y="858471"/>
            <a:ext cx="7524750" cy="3429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93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93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BFF xác thực và chuẩn hóa request; dữ liệu chỉ được lưu hoặc hiển thị sau khi qua schema validation.</a:t>
            </a: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B9D9C0D5-60DD-4429-BC73-1B6FB9FE0A77}"/>
              </a:ext>
            </a:extLst>
          </p:cNvPr>
          <p:cNvSpPr>
            <a:spLocks noGrp="1"/>
          </p:cNvSpPr>
          <p:nvPr/>
        </p:nvSpPr>
        <p:spPr>
          <a:xfrm>
            <a:off x="819150" y="1240115"/>
            <a:ext cx="1428750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REQUEST  →</a:t>
            </a:r>
          </a:p>
        </p:txBody>
      </p:sp>
      <p:sp>
        <p:nvSpPr>
          <p:cNvPr id="550" name="Rectangle: Rounded Corners 549">
            <a:extLst>
              <a:ext uri="{FF2B5EF4-FFF2-40B4-BE49-F238E27FC236}">
                <a16:creationId xmlns:a16="http://schemas.microsoft.com/office/drawing/2014/main" id="{CDA1B4A7-ECFF-4D9A-868B-7C41776F2702}"/>
              </a:ext>
            </a:extLst>
          </p:cNvPr>
          <p:cNvSpPr>
            <a:spLocks noGrp="1"/>
          </p:cNvSpPr>
          <p:nvPr/>
        </p:nvSpPr>
        <p:spPr>
          <a:xfrm>
            <a:off x="819150" y="1592540"/>
            <a:ext cx="1571625" cy="914400"/>
          </a:xfrm>
          <a:prstGeom prst="roundRect">
            <a:avLst>
              <a:gd name="adj" fmla="val 8333"/>
            </a:avLst>
          </a:prstGeom>
          <a:solidFill>
            <a:srgbClr val="D7E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76200" rIns="76200" bIns="76200" anchor="ctr">
            <a:normAutofit/>
          </a:bodyPr>
          <a:lstStyle/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01</a:t>
            </a:r>
          </a:p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Client</a:t>
            </a:r>
          </a:p>
          <a:p>
            <a:pPr algn="ctr">
              <a:buNone/>
              <a:def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90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Request</a:t>
            </a:r>
          </a:p>
        </p:txBody>
      </p:sp>
      <p:sp>
        <p:nvSpPr>
          <p:cNvPr id="551" name="Rectangle: Rounded Corners 550">
            <a:extLst>
              <a:ext uri="{FF2B5EF4-FFF2-40B4-BE49-F238E27FC236}">
                <a16:creationId xmlns:a16="http://schemas.microsoft.com/office/drawing/2014/main" id="{A43B37F7-336E-4DB5-998A-EF068F86BAEE}"/>
              </a:ext>
            </a:extLst>
          </p:cNvPr>
          <p:cNvSpPr>
            <a:spLocks noGrp="1"/>
          </p:cNvSpPr>
          <p:nvPr/>
        </p:nvSpPr>
        <p:spPr>
          <a:xfrm>
            <a:off x="2781300" y="1592540"/>
            <a:ext cx="1571625" cy="914400"/>
          </a:xfrm>
          <a:prstGeom prst="roundRect">
            <a:avLst>
              <a:gd name="adj" fmla="val 8333"/>
            </a:avLst>
          </a:prstGeom>
          <a:solidFill>
            <a:srgbClr val="F4F7F1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76200" rIns="76200" bIns="76200" anchor="ctr">
            <a:normAutofit/>
          </a:bodyPr>
          <a:lstStyle/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02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Next.js BFF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Auth + normalize</a:t>
            </a:r>
          </a:p>
        </p:txBody>
      </p:sp>
      <p:sp>
        <p:nvSpPr>
          <p:cNvPr id="552" name="Rectangle: Rounded Corners 551">
            <a:extLst>
              <a:ext uri="{FF2B5EF4-FFF2-40B4-BE49-F238E27FC236}">
                <a16:creationId xmlns:a16="http://schemas.microsoft.com/office/drawing/2014/main" id="{D378AB47-B9A0-46F1-A9C3-983A046C18C1}"/>
              </a:ext>
            </a:extLst>
          </p:cNvPr>
          <p:cNvSpPr>
            <a:spLocks noGrp="1"/>
          </p:cNvSpPr>
          <p:nvPr/>
        </p:nvSpPr>
        <p:spPr>
          <a:xfrm>
            <a:off x="4743450" y="1592540"/>
            <a:ext cx="1571625" cy="914400"/>
          </a:xfrm>
          <a:prstGeom prst="roundRect">
            <a:avLst>
              <a:gd name="adj" fmla="val 8333"/>
            </a:avLst>
          </a:prstGeom>
          <a:solidFill>
            <a:srgbClr val="E4D9EE"/>
          </a:solidFill>
          <a:ln w="16193">
            <a:solidFill>
              <a:srgbClr val="4B8D17"/>
            </a:solidFill>
            <a:prstDash val="solid"/>
          </a:ln>
        </p:spPr>
        <p:txBody>
          <a:bodyPr lIns="76200" tIns="76200" rIns="76200" bIns="76200" anchor="ctr">
            <a:normAutofit/>
          </a:bodyPr>
          <a:lstStyle/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03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Proto / gRPC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Typed RPC</a:t>
            </a:r>
          </a:p>
        </p:txBody>
      </p:sp>
      <p:sp>
        <p:nvSpPr>
          <p:cNvPr id="553" name="Rectangle: Rounded Corners 552">
            <a:extLst>
              <a:ext uri="{FF2B5EF4-FFF2-40B4-BE49-F238E27FC236}">
                <a16:creationId xmlns:a16="http://schemas.microsoft.com/office/drawing/2014/main" id="{34AFF2DF-C1A7-4D0E-9459-2FEB54479B8E}"/>
              </a:ext>
            </a:extLst>
          </p:cNvPr>
          <p:cNvSpPr>
            <a:spLocks noGrp="1"/>
          </p:cNvSpPr>
          <p:nvPr/>
        </p:nvSpPr>
        <p:spPr>
          <a:xfrm>
            <a:off x="6705600" y="1592540"/>
            <a:ext cx="1571625" cy="914400"/>
          </a:xfrm>
          <a:prstGeom prst="roundRect">
            <a:avLst>
              <a:gd name="adj" fmla="val 8333"/>
            </a:avLst>
          </a:prstGeom>
          <a:solidFill>
            <a:srgbClr val="F7EDC8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76200" rIns="76200" bIns="76200" anchor="ctr">
            <a:normAutofit/>
          </a:bodyPr>
          <a:lstStyle/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04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Python service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→ AI provider</a:t>
            </a:r>
          </a:p>
        </p:txBody>
      </p:sp>
      <p:cxnSp>
        <p:nvCxnSpPr>
          <p:cNvPr id="627" name="Straight Arrow Connector 572"/>
          <p:cNvCxnSpPr>
            <a:stCxn id="550" idx="3"/>
            <a:endCxn id="551" idx="1"/>
          </p:cNvCxnSpPr>
          <p:nvPr/>
        </p:nvCxnSpPr>
        <p:spPr>
          <a:xfrm>
            <a:off x="2390775" y="2049740"/>
            <a:ext cx="390525" cy="0"/>
          </a:xfrm>
          <a:prstGeom prst="straightConnector1">
            <a:avLst/>
          </a:prstGeom>
          <a:ln w="18098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28" name="Straight Arrow Connector 573"/>
          <p:cNvCxnSpPr>
            <a:stCxn id="551" idx="3"/>
            <a:endCxn id="552" idx="1"/>
          </p:cNvCxnSpPr>
          <p:nvPr/>
        </p:nvCxnSpPr>
        <p:spPr>
          <a:xfrm>
            <a:off x="4352925" y="2049740"/>
            <a:ext cx="390525" cy="0"/>
          </a:xfrm>
          <a:prstGeom prst="straightConnector1">
            <a:avLst/>
          </a:prstGeom>
          <a:ln w="18098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29" name="Straight Arrow Connector 574"/>
          <p:cNvCxnSpPr>
            <a:stCxn id="552" idx="3"/>
            <a:endCxn id="553" idx="1"/>
          </p:cNvCxnSpPr>
          <p:nvPr/>
        </p:nvCxnSpPr>
        <p:spPr>
          <a:xfrm>
            <a:off x="6315075" y="2049740"/>
            <a:ext cx="390525" cy="0"/>
          </a:xfrm>
          <a:prstGeom prst="straightConnector1">
            <a:avLst/>
          </a:prstGeom>
          <a:ln w="18098">
            <a:solidFill>
              <a:srgbClr val="4B8D17"/>
            </a:solidFill>
            <a:prstDash val="solid"/>
            <a:tailEnd type="triangle" w="sm" len="sm"/>
          </a:ln>
        </p:spPr>
      </p:cxnSp>
      <p:sp>
        <p:nvSpPr>
          <p:cNvPr id="557" name="Rectangle 556">
            <a:extLst>
              <a:ext uri="{FF2B5EF4-FFF2-40B4-BE49-F238E27FC236}">
                <a16:creationId xmlns:a16="http://schemas.microsoft.com/office/drawing/2014/main" id="{AC4F44EB-7443-4069-8131-6A1CA460BBD6}"/>
              </a:ext>
            </a:extLst>
          </p:cNvPr>
          <p:cNvSpPr>
            <a:spLocks noGrp="1"/>
          </p:cNvSpPr>
          <p:nvPr/>
        </p:nvSpPr>
        <p:spPr>
          <a:xfrm>
            <a:off x="5905500" y="2726015"/>
            <a:ext cx="1524000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r">
              <a:buNone/>
              <a:defRPr sz="7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←  RESPONSE</a:t>
            </a:r>
          </a:p>
        </p:txBody>
      </p:sp>
      <p:sp>
        <p:nvSpPr>
          <p:cNvPr id="558" name="Rectangle: Rounded Corners 557">
            <a:extLst>
              <a:ext uri="{FF2B5EF4-FFF2-40B4-BE49-F238E27FC236}">
                <a16:creationId xmlns:a16="http://schemas.microsoft.com/office/drawing/2014/main" id="{8BADBE11-7430-4B0A-B9E1-4E25330DF31C}"/>
              </a:ext>
            </a:extLst>
          </p:cNvPr>
          <p:cNvSpPr>
            <a:spLocks noGrp="1"/>
          </p:cNvSpPr>
          <p:nvPr/>
        </p:nvSpPr>
        <p:spPr>
          <a:xfrm>
            <a:off x="819150" y="3078440"/>
            <a:ext cx="2095500" cy="666750"/>
          </a:xfrm>
          <a:prstGeom prst="roundRect">
            <a:avLst>
              <a:gd name="adj" fmla="val 11429"/>
            </a:avLst>
          </a:prstGeom>
          <a:solidFill>
            <a:srgbClr val="DFF0D6"/>
          </a:solidFill>
          <a:ln w="15240">
            <a:solidFill>
              <a:srgbClr val="4B8D17"/>
            </a:solidFill>
            <a:prstDash val="solid"/>
          </a:ln>
        </p:spPr>
        <p:txBody>
          <a:bodyPr lIns="76200" tIns="76200" rIns="76200" bIns="76200" anchor="ctr">
            <a:normAutofit/>
          </a:bodyPr>
          <a:lstStyle/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Persist / hiển thị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Dữ liệu hợp lệ</a:t>
            </a:r>
          </a:p>
        </p:txBody>
      </p:sp>
      <p:sp>
        <p:nvSpPr>
          <p:cNvPr id="559" name="Rectangle: Rounded Corners 558">
            <a:extLst>
              <a:ext uri="{FF2B5EF4-FFF2-40B4-BE49-F238E27FC236}">
                <a16:creationId xmlns:a16="http://schemas.microsoft.com/office/drawing/2014/main" id="{D79D031A-D64F-4000-8F84-3EE8040019CA}"/>
              </a:ext>
            </a:extLst>
          </p:cNvPr>
          <p:cNvSpPr>
            <a:spLocks noGrp="1"/>
          </p:cNvSpPr>
          <p:nvPr/>
        </p:nvSpPr>
        <p:spPr>
          <a:xfrm>
            <a:off x="3333750" y="3078440"/>
            <a:ext cx="2095500" cy="666750"/>
          </a:xfrm>
          <a:prstGeom prst="roundRect">
            <a:avLst>
              <a:gd name="adj" fmla="val 11429"/>
            </a:avLst>
          </a:prstGeom>
          <a:solidFill>
            <a:srgbClr val="F4F7F1"/>
          </a:solidFill>
          <a:ln w="15240">
            <a:solidFill>
              <a:srgbClr val="4B8D17"/>
            </a:solidFill>
            <a:prstDash val="solid"/>
          </a:ln>
        </p:spPr>
        <p:txBody>
          <a:bodyPr lIns="76200" tIns="76200" rIns="76200" bIns="76200" anchor="ctr">
            <a:normAutofit/>
          </a:bodyPr>
          <a:lstStyle/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Schema validation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Evidence IDs + status</a:t>
            </a:r>
          </a:p>
        </p:txBody>
      </p:sp>
      <p:sp>
        <p:nvSpPr>
          <p:cNvPr id="560" name="Rectangle: Rounded Corners 559">
            <a:extLst>
              <a:ext uri="{FF2B5EF4-FFF2-40B4-BE49-F238E27FC236}">
                <a16:creationId xmlns:a16="http://schemas.microsoft.com/office/drawing/2014/main" id="{7286ABB5-E27B-49C4-8DB1-4E9215B1C9BF}"/>
              </a:ext>
            </a:extLst>
          </p:cNvPr>
          <p:cNvSpPr>
            <a:spLocks noGrp="1"/>
          </p:cNvSpPr>
          <p:nvPr/>
        </p:nvSpPr>
        <p:spPr>
          <a:xfrm>
            <a:off x="5715000" y="3078440"/>
            <a:ext cx="1809750" cy="666750"/>
          </a:xfrm>
          <a:prstGeom prst="roundRect">
            <a:avLst>
              <a:gd name="adj" fmla="val 11429"/>
            </a:avLst>
          </a:prstGeom>
          <a:solidFill>
            <a:srgbClr val="F4D7D3"/>
          </a:solidFill>
          <a:ln w="13335">
            <a:solidFill>
              <a:srgbClr val="6C766B"/>
            </a:solidFill>
            <a:prstDash val="solid"/>
          </a:ln>
        </p:spPr>
        <p:txBody>
          <a:bodyPr lIns="76200" tIns="76200" rIns="76200" bIns="76200" anchor="ctr">
            <a:normAutofit/>
          </a:bodyPr>
          <a:lstStyle/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JSON + evidence</a:t>
            </a:r>
          </a:p>
          <a:p>
            <a:pPr algn="ctr">
              <a:buNone/>
              <a:def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Structured response</a:t>
            </a:r>
          </a:p>
        </p:txBody>
      </p:sp>
      <p:cxnSp>
        <p:nvCxnSpPr>
          <p:cNvPr id="634" name="Straight Arrow Connector 579"/>
          <p:cNvCxnSpPr>
            <a:stCxn id="560" idx="1"/>
            <a:endCxn id="559" idx="3"/>
          </p:cNvCxnSpPr>
          <p:nvPr/>
        </p:nvCxnSpPr>
        <p:spPr>
          <a:xfrm flipH="1">
            <a:off x="5429250" y="3411815"/>
            <a:ext cx="285750" cy="0"/>
          </a:xfrm>
          <a:prstGeom prst="straightConnector1">
            <a:avLst/>
          </a:prstGeom>
          <a:ln w="18098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35" name="Straight Arrow Connector 580"/>
          <p:cNvCxnSpPr>
            <a:stCxn id="559" idx="1"/>
            <a:endCxn id="558" idx="3"/>
          </p:cNvCxnSpPr>
          <p:nvPr/>
        </p:nvCxnSpPr>
        <p:spPr>
          <a:xfrm flipH="1">
            <a:off x="2914650" y="3411815"/>
            <a:ext cx="419100" cy="0"/>
          </a:xfrm>
          <a:prstGeom prst="straightConnector1">
            <a:avLst/>
          </a:prstGeom>
          <a:ln w="18098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636" name="Connector: Elbow 581"/>
          <p:cNvCxnSpPr>
            <a:stCxn id="553" idx="2"/>
            <a:endCxn id="560" idx="0"/>
          </p:cNvCxnSpPr>
          <p:nvPr/>
        </p:nvCxnSpPr>
        <p:spPr>
          <a:xfrm flipH="1">
            <a:off x="6619875" y="2506940"/>
            <a:ext cx="871538" cy="571500"/>
          </a:xfrm>
          <a:prstGeom prst="bentConnector4">
            <a:avLst>
              <a:gd name="adj1" fmla="val 0"/>
              <a:gd name="adj2" fmla="val 50000"/>
            </a:avLst>
          </a:prstGeom>
          <a:ln w="15240">
            <a:solidFill>
              <a:srgbClr val="4B8D17"/>
            </a:solidFill>
            <a:prstDash val="dash"/>
            <a:tailEnd type="triangle" w="sm" len="sm"/>
          </a:ln>
        </p:spPr>
      </p:cxnSp>
      <p:cxnSp>
        <p:nvCxnSpPr>
          <p:cNvPr id="637" name="Connector: Elbow 582"/>
          <p:cNvCxnSpPr>
            <a:stCxn id="552" idx="2"/>
            <a:endCxn id="559" idx="0"/>
          </p:cNvCxnSpPr>
          <p:nvPr/>
        </p:nvCxnSpPr>
        <p:spPr>
          <a:xfrm flipH="1">
            <a:off x="4381500" y="2506940"/>
            <a:ext cx="1147763" cy="571500"/>
          </a:xfrm>
          <a:prstGeom prst="bentConnector4">
            <a:avLst>
              <a:gd name="adj1" fmla="val 0"/>
              <a:gd name="adj2" fmla="val 50000"/>
            </a:avLst>
          </a:prstGeom>
          <a:ln w="15240">
            <a:solidFill>
              <a:srgbClr val="4B8D17"/>
            </a:solidFill>
            <a:prstDash val="dash"/>
            <a:tailEnd type="triangle" w="sm" len="sm"/>
          </a:ln>
        </p:spPr>
      </p:cxnSp>
      <p:sp>
        <p:nvSpPr>
          <p:cNvPr id="565" name="Rectangle: Rounded Corners 564">
            <a:extLst>
              <a:ext uri="{FF2B5EF4-FFF2-40B4-BE49-F238E27FC236}">
                <a16:creationId xmlns:a16="http://schemas.microsoft.com/office/drawing/2014/main" id="{0030F5CB-42D7-4D51-AE5B-49637CDA502E}"/>
              </a:ext>
            </a:extLst>
          </p:cNvPr>
          <p:cNvSpPr>
            <a:spLocks noGrp="1"/>
          </p:cNvSpPr>
          <p:nvPr/>
        </p:nvSpPr>
        <p:spPr>
          <a:xfrm>
            <a:off x="1752600" y="3888065"/>
            <a:ext cx="5638800" cy="400050"/>
          </a:xfrm>
          <a:prstGeom prst="roundRect">
            <a:avLst>
              <a:gd name="adj" fmla="val 19048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95250" tIns="57150" rIns="95250" bIns="57150" anchor="ctr">
            <a:normAutofit/>
          </a:bodyPr>
          <a:lstStyle/>
          <a:p>
            <a:pPr algn="ctr">
              <a:buNone/>
              <a:def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Typed contract chặn lỗi cấu trúc trước khi dữ liệu đi vào state của hệ thống.</a:t>
            </a:r>
          </a:p>
        </p:txBody>
      </p:sp>
    </p:spTree>
    <p:extLst>
      <p:ext uri="{BB962C8B-B14F-4D97-AF65-F5344CB8AC3E}">
        <p14:creationId xmlns:p14="http://schemas.microsoft.com/office/powerpoint/2010/main" val="20076069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115">
            <a:extLst>
              <a:ext uri="{FF2B5EF4-FFF2-40B4-BE49-F238E27FC236}">
                <a16:creationId xmlns:a16="http://schemas.microsoft.com/office/drawing/2014/main" id="{E9EECB35-610C-4EF1-96A6-A81F1B56F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5" y="457200"/>
            <a:ext cx="7715250" cy="5524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Phân rã module theo ranh giới nghiệp vụ</a:t>
            </a:r>
            <a:endParaRPr/>
          </a:p>
        </p:txBody>
      </p:sp>
      <p:sp>
        <p:nvSpPr>
          <p:cNvPr id="1483" name="Rectangle: Rounded Corners 1482">
            <a:extLst>
              <a:ext uri="{FF2B5EF4-FFF2-40B4-BE49-F238E27FC236}">
                <a16:creationId xmlns:a16="http://schemas.microsoft.com/office/drawing/2014/main" id="{AD909ABE-6DAF-4170-8FE0-7D7B7C960DD7}"/>
              </a:ext>
            </a:extLst>
          </p:cNvPr>
          <p:cNvSpPr>
            <a:spLocks noGrp="1"/>
          </p:cNvSpPr>
          <p:nvPr/>
        </p:nvSpPr>
        <p:spPr>
          <a:xfrm>
            <a:off x="3905250" y="2333625"/>
            <a:ext cx="1333500" cy="685800"/>
          </a:xfrm>
          <a:prstGeom prst="roundRect">
            <a:avLst>
              <a:gd name="adj" fmla="val 11111"/>
            </a:avLst>
          </a:prstGeom>
          <a:solidFill>
            <a:srgbClr val="D7E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InterV core</a:t>
            </a:r>
          </a:p>
        </p:txBody>
      </p:sp>
      <p:sp>
        <p:nvSpPr>
          <p:cNvPr id="1484" name="Rectangle: Rounded Corners 1483">
            <a:extLst>
              <a:ext uri="{FF2B5EF4-FFF2-40B4-BE49-F238E27FC236}">
                <a16:creationId xmlns:a16="http://schemas.microsoft.com/office/drawing/2014/main" id="{AAA4976E-933E-4B65-B613-06AD28D4D9EE}"/>
              </a:ext>
            </a:extLst>
          </p:cNvPr>
          <p:cNvSpPr>
            <a:spLocks noGrp="1"/>
          </p:cNvSpPr>
          <p:nvPr/>
        </p:nvSpPr>
        <p:spPr>
          <a:xfrm>
            <a:off x="1571625" y="1381125"/>
            <a:ext cx="1333500" cy="590550"/>
          </a:xfrm>
          <a:prstGeom prst="roundRect">
            <a:avLst>
              <a:gd name="adj" fmla="val 12903"/>
            </a:avLst>
          </a:prstGeom>
          <a:solidFill>
            <a:srgbClr val="E4D9EE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Practice</a:t>
            </a:r>
          </a:p>
        </p:txBody>
      </p:sp>
      <p:sp>
        <p:nvSpPr>
          <p:cNvPr id="1485" name="Rectangle: Rounded Corners 1484">
            <a:extLst>
              <a:ext uri="{FF2B5EF4-FFF2-40B4-BE49-F238E27FC236}">
                <a16:creationId xmlns:a16="http://schemas.microsoft.com/office/drawing/2014/main" id="{9F2435BB-A838-4036-91BA-65A1484AB897}"/>
              </a:ext>
            </a:extLst>
          </p:cNvPr>
          <p:cNvSpPr>
            <a:spLocks noGrp="1"/>
          </p:cNvSpPr>
          <p:nvPr/>
        </p:nvSpPr>
        <p:spPr>
          <a:xfrm>
            <a:off x="6238875" y="1381125"/>
            <a:ext cx="1333500" cy="590550"/>
          </a:xfrm>
          <a:prstGeom prst="roundRect">
            <a:avLst>
              <a:gd name="adj" fmla="val 12903"/>
            </a:avLst>
          </a:prstGeom>
          <a:solidFill>
            <a:srgbClr val="F7EDC8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Recruitment</a:t>
            </a:r>
          </a:p>
        </p:txBody>
      </p:sp>
      <p:sp>
        <p:nvSpPr>
          <p:cNvPr id="1486" name="Rectangle: Rounded Corners 1485">
            <a:extLst>
              <a:ext uri="{FF2B5EF4-FFF2-40B4-BE49-F238E27FC236}">
                <a16:creationId xmlns:a16="http://schemas.microsoft.com/office/drawing/2014/main" id="{E0F240BB-73BB-4633-B4E8-A7E425D416FD}"/>
              </a:ext>
            </a:extLst>
          </p:cNvPr>
          <p:cNvSpPr>
            <a:spLocks noGrp="1"/>
          </p:cNvSpPr>
          <p:nvPr/>
        </p:nvSpPr>
        <p:spPr>
          <a:xfrm>
            <a:off x="1571625" y="3476625"/>
            <a:ext cx="1333500" cy="590550"/>
          </a:xfrm>
          <a:prstGeom prst="roundRect">
            <a:avLst>
              <a:gd name="adj" fmla="val 12903"/>
            </a:avLst>
          </a:prstGeom>
          <a:solidFill>
            <a:srgbClr val="F4F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RAG</a:t>
            </a:r>
          </a:p>
        </p:txBody>
      </p:sp>
      <p:sp>
        <p:nvSpPr>
          <p:cNvPr id="1487" name="Rectangle: Rounded Corners 1486">
            <a:extLst>
              <a:ext uri="{FF2B5EF4-FFF2-40B4-BE49-F238E27FC236}">
                <a16:creationId xmlns:a16="http://schemas.microsoft.com/office/drawing/2014/main" id="{D4D4EAA0-56F0-4083-8ECD-BCF345E87AC8}"/>
              </a:ext>
            </a:extLst>
          </p:cNvPr>
          <p:cNvSpPr>
            <a:spLocks noGrp="1"/>
          </p:cNvSpPr>
          <p:nvPr/>
        </p:nvSpPr>
        <p:spPr>
          <a:xfrm>
            <a:off x="6238875" y="3476625"/>
            <a:ext cx="1333500" cy="590550"/>
          </a:xfrm>
          <a:prstGeom prst="roundRect">
            <a:avLst>
              <a:gd name="adj" fmla="val 12903"/>
            </a:avLst>
          </a:prstGeom>
          <a:solidFill>
            <a:srgbClr val="F4D7D3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Speech</a:t>
            </a:r>
          </a:p>
        </p:txBody>
      </p:sp>
      <p:cxnSp>
        <p:nvCxnSpPr>
          <p:cNvPr id="1656" name="Straight Arrow Connector 1595"/>
          <p:cNvCxnSpPr>
            <a:stCxn id="1484" idx="3"/>
            <a:endCxn id="1483" idx="0"/>
          </p:cNvCxnSpPr>
          <p:nvPr/>
        </p:nvCxnSpPr>
        <p:spPr>
          <a:xfrm>
            <a:off x="2905125" y="1676400"/>
            <a:ext cx="1666875" cy="657225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657" name="Straight Arrow Connector 1596"/>
          <p:cNvCxnSpPr>
            <a:stCxn id="1485" idx="1"/>
            <a:endCxn id="1483" idx="0"/>
          </p:cNvCxnSpPr>
          <p:nvPr/>
        </p:nvCxnSpPr>
        <p:spPr>
          <a:xfrm flipH="1">
            <a:off x="4572000" y="1676400"/>
            <a:ext cx="1666875" cy="657225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658" name="Straight Arrow Connector 1597"/>
          <p:cNvCxnSpPr>
            <a:stCxn id="1486" idx="3"/>
            <a:endCxn id="1483" idx="2"/>
          </p:cNvCxnSpPr>
          <p:nvPr/>
        </p:nvCxnSpPr>
        <p:spPr>
          <a:xfrm flipV="1">
            <a:off x="2905125" y="3019425"/>
            <a:ext cx="1666875" cy="752475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659" name="Straight Arrow Connector 1598"/>
          <p:cNvCxnSpPr>
            <a:stCxn id="1487" idx="1"/>
            <a:endCxn id="1483" idx="2"/>
          </p:cNvCxnSpPr>
          <p:nvPr/>
        </p:nvCxnSpPr>
        <p:spPr>
          <a:xfrm flipH="1" flipV="1">
            <a:off x="4572000" y="3019425"/>
            <a:ext cx="1666875" cy="752475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sp>
        <p:nvSpPr>
          <p:cNvPr id="1514" name="Rectangle: Rounded Corners 1513">
            <a:extLst>
              <a:ext uri="{FF2B5EF4-FFF2-40B4-BE49-F238E27FC236}">
                <a16:creationId xmlns:a16="http://schemas.microsoft.com/office/drawing/2014/main" id="{6E464C30-55FE-45B3-8073-65D4A96BCBC5}"/>
              </a:ext>
            </a:extLst>
          </p:cNvPr>
          <p:cNvSpPr>
            <a:spLocks noGrp="1"/>
          </p:cNvSpPr>
          <p:nvPr/>
        </p:nvSpPr>
        <p:spPr>
          <a:xfrm>
            <a:off x="2762250" y="4400550"/>
            <a:ext cx="3619500" cy="3238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 fontScale="74409" lnSpcReduction="20000"/>
          </a:bodyPr>
          <a:lstStyle/>
          <a:p>
            <a:pPr algn="ctr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Ranh giới module: route • dữ liệu • quyền • audit</a:t>
            </a:r>
          </a:p>
        </p:txBody>
      </p:sp>
      <p:sp>
        <p:nvSpPr>
          <p:cNvPr id="1559" name="Rectangle 1558">
            <a:extLst>
              <a:ext uri="{FF2B5EF4-FFF2-40B4-BE49-F238E27FC236}">
                <a16:creationId xmlns:a16="http://schemas.microsoft.com/office/drawing/2014/main" id="{AA40BBDF-B5AA-438E-B4A4-EDFD080410E2}"/>
              </a:ext>
            </a:extLst>
          </p:cNvPr>
          <p:cNvSpPr>
            <a:spLocks noGrp="1"/>
          </p:cNvSpPr>
          <p:nvPr/>
        </p:nvSpPr>
        <p:spPr>
          <a:xfrm>
            <a:off x="714375" y="1028700"/>
            <a:ext cx="7715250" cy="304800"/>
          </a:xfrm>
          <a:prstGeom prst="rect">
            <a:avLst/>
          </a:prstGeom>
          <a:ln w="0">
            <a:prstDash val="solid"/>
          </a:ln>
        </p:spPr>
        <p:txBody>
          <a:bodyPr anchor="ctr">
            <a:normAutofit/>
          </a:bodyPr>
          <a:lstStyle/>
          <a:p>
            <a:pPr>
              <a:buNone/>
              <a:defRPr sz="1125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125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Mỗi module sở hữu route, dữ liệu và quyền riêng.</a:t>
            </a:r>
          </a:p>
        </p:txBody>
      </p:sp>
    </p:spTree>
    <p:extLst>
      <p:ext uri="{BB962C8B-B14F-4D97-AF65-F5344CB8AC3E}">
        <p14:creationId xmlns:p14="http://schemas.microsoft.com/office/powerpoint/2010/main" val="14553595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p118">
            <a:extLst>
              <a:ext uri="{FF2B5EF4-FFF2-40B4-BE49-F238E27FC236}">
                <a16:creationId xmlns:a16="http://schemas.microsoft.com/office/drawing/2014/main" id="{7594B41A-4173-47F4-A105-877839F56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5" y="457200"/>
            <a:ext cx="7715250" cy="5524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7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RBAC giữ quyền quyết định ở đúng actor</a:t>
            </a:r>
            <a:endParaRPr/>
          </a:p>
        </p:txBody>
      </p:sp>
      <p:sp>
        <p:nvSpPr>
          <p:cNvPr id="1520" name="Rectangle: Rounded Corners 1519">
            <a:extLst>
              <a:ext uri="{FF2B5EF4-FFF2-40B4-BE49-F238E27FC236}">
                <a16:creationId xmlns:a16="http://schemas.microsoft.com/office/drawing/2014/main" id="{EB4123B4-C193-4F39-9B84-8DBBDC9FF5C6}"/>
              </a:ext>
            </a:extLst>
          </p:cNvPr>
          <p:cNvSpPr>
            <a:spLocks noGrp="1"/>
          </p:cNvSpPr>
          <p:nvPr/>
        </p:nvSpPr>
        <p:spPr>
          <a:xfrm>
            <a:off x="1143000" y="1381125"/>
            <a:ext cx="1428750" cy="361950"/>
          </a:xfrm>
          <a:prstGeom prst="roundRect">
            <a:avLst>
              <a:gd name="adj" fmla="val 50000"/>
            </a:avLst>
          </a:prstGeom>
          <a:solidFill>
            <a:srgbClr val="D7E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 fontScale="86906" lnSpcReduction="20000"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Ứng viên</a:t>
            </a:r>
          </a:p>
        </p:txBody>
      </p:sp>
      <p:sp>
        <p:nvSpPr>
          <p:cNvPr id="1521" name="Rectangle: Rounded Corners 1520">
            <a:extLst>
              <a:ext uri="{FF2B5EF4-FFF2-40B4-BE49-F238E27FC236}">
                <a16:creationId xmlns:a16="http://schemas.microsoft.com/office/drawing/2014/main" id="{E228EA4C-95D8-47DE-8497-D8991372671F}"/>
              </a:ext>
            </a:extLst>
          </p:cNvPr>
          <p:cNvSpPr>
            <a:spLocks noGrp="1"/>
          </p:cNvSpPr>
          <p:nvPr/>
        </p:nvSpPr>
        <p:spPr>
          <a:xfrm>
            <a:off x="1143000" y="20002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E4D9EE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Practice</a:t>
            </a:r>
          </a:p>
        </p:txBody>
      </p:sp>
      <p:sp>
        <p:nvSpPr>
          <p:cNvPr id="1522" name="Rectangle: Rounded Corners 1521">
            <a:extLst>
              <a:ext uri="{FF2B5EF4-FFF2-40B4-BE49-F238E27FC236}">
                <a16:creationId xmlns:a16="http://schemas.microsoft.com/office/drawing/2014/main" id="{6D805F91-7D49-4717-99A2-D07520EC6308}"/>
              </a:ext>
            </a:extLst>
          </p:cNvPr>
          <p:cNvSpPr>
            <a:spLocks noGrp="1"/>
          </p:cNvSpPr>
          <p:nvPr/>
        </p:nvSpPr>
        <p:spPr>
          <a:xfrm>
            <a:off x="1143000" y="26860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7EDC8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Join invite</a:t>
            </a:r>
          </a:p>
        </p:txBody>
      </p:sp>
      <p:sp>
        <p:nvSpPr>
          <p:cNvPr id="1523" name="Rectangle: Rounded Corners 1522">
            <a:extLst>
              <a:ext uri="{FF2B5EF4-FFF2-40B4-BE49-F238E27FC236}">
                <a16:creationId xmlns:a16="http://schemas.microsoft.com/office/drawing/2014/main" id="{F678843C-1BEE-4E79-9F60-F9F3C4FEBF1F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4F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View own data</a:t>
            </a:r>
          </a:p>
        </p:txBody>
      </p:sp>
      <p:sp>
        <p:nvSpPr>
          <p:cNvPr id="1524" name="Rectangle: Rounded Corners 1523">
            <a:extLst>
              <a:ext uri="{FF2B5EF4-FFF2-40B4-BE49-F238E27FC236}">
                <a16:creationId xmlns:a16="http://schemas.microsoft.com/office/drawing/2014/main" id="{222E67DA-1B38-495F-8357-F69FCA347189}"/>
              </a:ext>
            </a:extLst>
          </p:cNvPr>
          <p:cNvSpPr>
            <a:spLocks noGrp="1"/>
          </p:cNvSpPr>
          <p:nvPr/>
        </p:nvSpPr>
        <p:spPr>
          <a:xfrm>
            <a:off x="3571875" y="1381125"/>
            <a:ext cx="1428750" cy="361950"/>
          </a:xfrm>
          <a:prstGeom prst="roundRect">
            <a:avLst>
              <a:gd name="adj" fmla="val 50000"/>
            </a:avLst>
          </a:prstGeom>
          <a:solidFill>
            <a:srgbClr val="F4D7D3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 fontScale="86906" lnSpcReduction="20000"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Recruiter</a:t>
            </a:r>
          </a:p>
        </p:txBody>
      </p:sp>
      <p:sp>
        <p:nvSpPr>
          <p:cNvPr id="1525" name="Rectangle: Rounded Corners 1524">
            <a:extLst>
              <a:ext uri="{FF2B5EF4-FFF2-40B4-BE49-F238E27FC236}">
                <a16:creationId xmlns:a16="http://schemas.microsoft.com/office/drawing/2014/main" id="{D83A91E8-B849-4164-A318-BD718CF1B365}"/>
              </a:ext>
            </a:extLst>
          </p:cNvPr>
          <p:cNvSpPr>
            <a:spLocks noGrp="1"/>
          </p:cNvSpPr>
          <p:nvPr/>
        </p:nvSpPr>
        <p:spPr>
          <a:xfrm>
            <a:off x="3571875" y="20002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DFF0D6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Manage JD</a:t>
            </a:r>
          </a:p>
        </p:txBody>
      </p:sp>
      <p:sp>
        <p:nvSpPr>
          <p:cNvPr id="1526" name="Rectangle: Rounded Corners 1525">
            <a:extLst>
              <a:ext uri="{FF2B5EF4-FFF2-40B4-BE49-F238E27FC236}">
                <a16:creationId xmlns:a16="http://schemas.microsoft.com/office/drawing/2014/main" id="{90486CB0-8B39-4DCD-B3AC-59ABD3A4C1AF}"/>
              </a:ext>
            </a:extLst>
          </p:cNvPr>
          <p:cNvSpPr>
            <a:spLocks noGrp="1"/>
          </p:cNvSpPr>
          <p:nvPr/>
        </p:nvSpPr>
        <p:spPr>
          <a:xfrm>
            <a:off x="3571875" y="26860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D7E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Campaign</a:t>
            </a:r>
          </a:p>
        </p:txBody>
      </p:sp>
      <p:sp>
        <p:nvSpPr>
          <p:cNvPr id="1527" name="Rectangle: Rounded Corners 1526">
            <a:extLst>
              <a:ext uri="{FF2B5EF4-FFF2-40B4-BE49-F238E27FC236}">
                <a16:creationId xmlns:a16="http://schemas.microsoft.com/office/drawing/2014/main" id="{B3DC30D9-DABE-4393-9195-CDB7E5372C4C}"/>
              </a:ext>
            </a:extLst>
          </p:cNvPr>
          <p:cNvSpPr>
            <a:spLocks noGrp="1"/>
          </p:cNvSpPr>
          <p:nvPr/>
        </p:nvSpPr>
        <p:spPr>
          <a:xfrm>
            <a:off x="3571875" y="33718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E4D9EE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Final review</a:t>
            </a:r>
          </a:p>
        </p:txBody>
      </p:sp>
      <p:sp>
        <p:nvSpPr>
          <p:cNvPr id="1528" name="Rectangle: Rounded Corners 1527">
            <a:extLst>
              <a:ext uri="{FF2B5EF4-FFF2-40B4-BE49-F238E27FC236}">
                <a16:creationId xmlns:a16="http://schemas.microsoft.com/office/drawing/2014/main" id="{8534E3F8-4153-4D41-8109-1103695547AA}"/>
              </a:ext>
            </a:extLst>
          </p:cNvPr>
          <p:cNvSpPr>
            <a:spLocks noGrp="1"/>
          </p:cNvSpPr>
          <p:nvPr/>
        </p:nvSpPr>
        <p:spPr>
          <a:xfrm>
            <a:off x="6000750" y="1381125"/>
            <a:ext cx="1428750" cy="361950"/>
          </a:xfrm>
          <a:prstGeom prst="roundRect">
            <a:avLst>
              <a:gd name="adj" fmla="val 50000"/>
            </a:avLst>
          </a:prstGeom>
          <a:solidFill>
            <a:srgbClr val="F7EDC8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 fontScale="86906" lnSpcReduction="20000"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Admin</a:t>
            </a:r>
          </a:p>
        </p:txBody>
      </p:sp>
      <p:sp>
        <p:nvSpPr>
          <p:cNvPr id="1529" name="Rectangle: Rounded Corners 1528">
            <a:extLst>
              <a:ext uri="{FF2B5EF4-FFF2-40B4-BE49-F238E27FC236}">
                <a16:creationId xmlns:a16="http://schemas.microsoft.com/office/drawing/2014/main" id="{4A7173EB-B8B5-4A64-B077-B94B768DDD30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4F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Operate</a:t>
            </a:r>
          </a:p>
        </p:txBody>
      </p:sp>
      <p:sp>
        <p:nvSpPr>
          <p:cNvPr id="1530" name="Rectangle: Rounded Corners 1529">
            <a:extLst>
              <a:ext uri="{FF2B5EF4-FFF2-40B4-BE49-F238E27FC236}">
                <a16:creationId xmlns:a16="http://schemas.microsoft.com/office/drawing/2014/main" id="{EECBA25C-6C8F-42E7-86EC-140E23DF159F}"/>
              </a:ext>
            </a:extLst>
          </p:cNvPr>
          <p:cNvSpPr>
            <a:spLocks noGrp="1"/>
          </p:cNvSpPr>
          <p:nvPr/>
        </p:nvSpPr>
        <p:spPr>
          <a:xfrm>
            <a:off x="6000750" y="26860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F4D7D3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Moderate</a:t>
            </a:r>
          </a:p>
        </p:txBody>
      </p:sp>
      <p:sp>
        <p:nvSpPr>
          <p:cNvPr id="1531" name="Rectangle: Rounded Corners 1530">
            <a:extLst>
              <a:ext uri="{FF2B5EF4-FFF2-40B4-BE49-F238E27FC236}">
                <a16:creationId xmlns:a16="http://schemas.microsoft.com/office/drawing/2014/main" id="{AA5622B0-F751-4819-B320-B6DA729BF39B}"/>
              </a:ext>
            </a:extLst>
          </p:cNvPr>
          <p:cNvSpPr>
            <a:spLocks noGrp="1"/>
          </p:cNvSpPr>
          <p:nvPr/>
        </p:nvSpPr>
        <p:spPr>
          <a:xfrm>
            <a:off x="6000750" y="3371850"/>
            <a:ext cx="1428750" cy="495300"/>
          </a:xfrm>
          <a:prstGeom prst="roundRect">
            <a:avLst>
              <a:gd name="adj" fmla="val 15385"/>
            </a:avLst>
          </a:prstGeom>
          <a:solidFill>
            <a:srgbClr val="DFF0D6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Audit</a:t>
            </a:r>
          </a:p>
        </p:txBody>
      </p:sp>
      <p:sp>
        <p:nvSpPr>
          <p:cNvPr id="1532" name="Rectangle 1531">
            <a:extLst>
              <a:ext uri="{FF2B5EF4-FFF2-40B4-BE49-F238E27FC236}">
                <a16:creationId xmlns:a16="http://schemas.microsoft.com/office/drawing/2014/main" id="{0F879BA0-CCE4-4CB4-A463-11E4430E3A15}"/>
              </a:ext>
            </a:extLst>
          </p:cNvPr>
          <p:cNvSpPr>
            <a:spLocks noGrp="1"/>
          </p:cNvSpPr>
          <p:nvPr/>
        </p:nvSpPr>
        <p:spPr>
          <a:xfrm>
            <a:off x="2667000" y="4333875"/>
            <a:ext cx="3810000" cy="323850"/>
          </a:xfrm>
          <a:prstGeom prst="rect">
            <a:avLst/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AI provider: không có quyền hire / reject</a:t>
            </a:r>
          </a:p>
        </p:txBody>
      </p:sp>
      <p:sp>
        <p:nvSpPr>
          <p:cNvPr id="1533" name="Rectangle 1532">
            <a:extLst>
              <a:ext uri="{FF2B5EF4-FFF2-40B4-BE49-F238E27FC236}">
                <a16:creationId xmlns:a16="http://schemas.microsoft.com/office/drawing/2014/main" id="{F2DC34D4-A3EC-4D1C-BCFB-CFEBD9B2847F}"/>
              </a:ext>
            </a:extLst>
          </p:cNvPr>
          <p:cNvSpPr>
            <a:spLocks noGrp="1"/>
          </p:cNvSpPr>
          <p:nvPr/>
        </p:nvSpPr>
        <p:spPr>
          <a:xfrm>
            <a:off x="714375" y="1028700"/>
            <a:ext cx="7715250" cy="304800"/>
          </a:xfrm>
          <a:prstGeom prst="rect">
            <a:avLst/>
          </a:prstGeom>
          <a:ln w="0">
            <a:prstDash val="solid"/>
          </a:ln>
        </p:spPr>
        <p:txBody>
          <a:bodyPr anchor="ctr">
            <a:normAutofit/>
          </a:bodyPr>
          <a:lstStyle/>
          <a:p>
            <a:pPr>
              <a:buNone/>
              <a:defRPr sz="1125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125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Quyền tăng theo trách nhiệm; AI không có quyền tuyển dụng.</a:t>
            </a:r>
          </a:p>
        </p:txBody>
      </p:sp>
    </p:spTree>
    <p:extLst>
      <p:ext uri="{BB962C8B-B14F-4D97-AF65-F5344CB8AC3E}">
        <p14:creationId xmlns:p14="http://schemas.microsoft.com/office/powerpoint/2010/main" val="10206368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116">
            <a:extLst>
              <a:ext uri="{FF2B5EF4-FFF2-40B4-BE49-F238E27FC236}">
                <a16:creationId xmlns:a16="http://schemas.microsoft.com/office/drawing/2014/main" id="{69B4E74C-CFC3-486A-B915-362FEE58E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5" y="457200"/>
            <a:ext cx="7715250" cy="5524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State machine giữ phiên luyện tập nhất quán</a:t>
            </a:r>
            <a:endParaRPr/>
          </a:p>
        </p:txBody>
      </p:sp>
      <p:sp>
        <p:nvSpPr>
          <p:cNvPr id="1495" name="Rectangle: Rounded Corners 1494">
            <a:extLst>
              <a:ext uri="{FF2B5EF4-FFF2-40B4-BE49-F238E27FC236}">
                <a16:creationId xmlns:a16="http://schemas.microsoft.com/office/drawing/2014/main" id="{D3B527E1-DF18-4DDD-A6F4-064580BFE1B4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D7E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DRAFT</a:t>
            </a:r>
          </a:p>
        </p:txBody>
      </p:sp>
      <p:sp>
        <p:nvSpPr>
          <p:cNvPr id="1496" name="Rectangle: Rounded Corners 1495">
            <a:extLst>
              <a:ext uri="{FF2B5EF4-FFF2-40B4-BE49-F238E27FC236}">
                <a16:creationId xmlns:a16="http://schemas.microsoft.com/office/drawing/2014/main" id="{42E84641-DF68-447A-AC8B-DC4AA138ADD9}"/>
              </a:ext>
            </a:extLst>
          </p:cNvPr>
          <p:cNvSpPr>
            <a:spLocks noGrp="1"/>
          </p:cNvSpPr>
          <p:nvPr/>
        </p:nvSpPr>
        <p:spPr>
          <a:xfrm>
            <a:off x="2125663" y="2333625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E4D9EE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READY</a:t>
            </a:r>
          </a:p>
        </p:txBody>
      </p:sp>
      <p:sp>
        <p:nvSpPr>
          <p:cNvPr id="1497" name="Rectangle: Rounded Corners 1496">
            <a:extLst>
              <a:ext uri="{FF2B5EF4-FFF2-40B4-BE49-F238E27FC236}">
                <a16:creationId xmlns:a16="http://schemas.microsoft.com/office/drawing/2014/main" id="{260D15ED-4303-4FC7-A677-4A18E5C3F17F}"/>
              </a:ext>
            </a:extLst>
          </p:cNvPr>
          <p:cNvSpPr>
            <a:spLocks noGrp="1"/>
          </p:cNvSpPr>
          <p:nvPr/>
        </p:nvSpPr>
        <p:spPr>
          <a:xfrm>
            <a:off x="3375025" y="2333625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F7EDC8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RECORDING</a:t>
            </a:r>
          </a:p>
        </p:txBody>
      </p:sp>
      <p:sp>
        <p:nvSpPr>
          <p:cNvPr id="1498" name="Rectangle: Rounded Corners 1497">
            <a:extLst>
              <a:ext uri="{FF2B5EF4-FFF2-40B4-BE49-F238E27FC236}">
                <a16:creationId xmlns:a16="http://schemas.microsoft.com/office/drawing/2014/main" id="{658C97BE-7189-44CC-A015-D7D176D16AD9}"/>
              </a:ext>
            </a:extLst>
          </p:cNvPr>
          <p:cNvSpPr>
            <a:spLocks noGrp="1"/>
          </p:cNvSpPr>
          <p:nvPr/>
        </p:nvSpPr>
        <p:spPr>
          <a:xfrm>
            <a:off x="4624388" y="2333625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F4F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PROCESSING</a:t>
            </a:r>
          </a:p>
        </p:txBody>
      </p:sp>
      <p:sp>
        <p:nvSpPr>
          <p:cNvPr id="1499" name="Rectangle: Rounded Corners 1498">
            <a:extLst>
              <a:ext uri="{FF2B5EF4-FFF2-40B4-BE49-F238E27FC236}">
                <a16:creationId xmlns:a16="http://schemas.microsoft.com/office/drawing/2014/main" id="{5FA34A23-3B72-496C-A02A-E11B73317088}"/>
              </a:ext>
            </a:extLst>
          </p:cNvPr>
          <p:cNvSpPr>
            <a:spLocks noGrp="1"/>
          </p:cNvSpPr>
          <p:nvPr/>
        </p:nvSpPr>
        <p:spPr>
          <a:xfrm>
            <a:off x="5873750" y="2333625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F4D7D3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REVIEWED</a:t>
            </a:r>
          </a:p>
        </p:txBody>
      </p:sp>
      <p:sp>
        <p:nvSpPr>
          <p:cNvPr id="1500" name="Rectangle: Rounded Corners 1499">
            <a:extLst>
              <a:ext uri="{FF2B5EF4-FFF2-40B4-BE49-F238E27FC236}">
                <a16:creationId xmlns:a16="http://schemas.microsoft.com/office/drawing/2014/main" id="{DF15F3A1-DCE8-49CA-A9DE-E41C2415CA0F}"/>
              </a:ext>
            </a:extLst>
          </p:cNvPr>
          <p:cNvSpPr>
            <a:spLocks noGrp="1"/>
          </p:cNvSpPr>
          <p:nvPr/>
        </p:nvSpPr>
        <p:spPr>
          <a:xfrm>
            <a:off x="7123113" y="2333625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DFF0D6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COMPLETED</a:t>
            </a:r>
          </a:p>
        </p:txBody>
      </p:sp>
      <p:cxnSp>
        <p:nvCxnSpPr>
          <p:cNvPr id="1701" name="Straight Arrow Connector 1628"/>
          <p:cNvCxnSpPr>
            <a:stCxn id="1495" idx="3"/>
            <a:endCxn id="1496" idx="1"/>
          </p:cNvCxnSpPr>
          <p:nvPr/>
        </p:nvCxnSpPr>
        <p:spPr>
          <a:xfrm>
            <a:off x="2011363" y="2690813"/>
            <a:ext cx="11430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702" name="Straight Arrow Connector 1629"/>
          <p:cNvCxnSpPr>
            <a:stCxn id="1496" idx="3"/>
            <a:endCxn id="1497" idx="1"/>
          </p:cNvCxnSpPr>
          <p:nvPr/>
        </p:nvCxnSpPr>
        <p:spPr>
          <a:xfrm>
            <a:off x="3260726" y="2690813"/>
            <a:ext cx="114299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703" name="Straight Arrow Connector 1630"/>
          <p:cNvCxnSpPr>
            <a:stCxn id="1497" idx="3"/>
            <a:endCxn id="1498" idx="1"/>
          </p:cNvCxnSpPr>
          <p:nvPr/>
        </p:nvCxnSpPr>
        <p:spPr>
          <a:xfrm>
            <a:off x="4510088" y="2690813"/>
            <a:ext cx="11430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704" name="Straight Arrow Connector 1631"/>
          <p:cNvCxnSpPr>
            <a:stCxn id="1498" idx="3"/>
            <a:endCxn id="1499" idx="1"/>
          </p:cNvCxnSpPr>
          <p:nvPr/>
        </p:nvCxnSpPr>
        <p:spPr>
          <a:xfrm>
            <a:off x="5759451" y="2690813"/>
            <a:ext cx="114299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705" name="Straight Arrow Connector 1632"/>
          <p:cNvCxnSpPr>
            <a:stCxn id="1499" idx="3"/>
            <a:endCxn id="1500" idx="1"/>
          </p:cNvCxnSpPr>
          <p:nvPr/>
        </p:nvCxnSpPr>
        <p:spPr>
          <a:xfrm>
            <a:off x="7008813" y="2690813"/>
            <a:ext cx="11430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sp>
        <p:nvSpPr>
          <p:cNvPr id="1506" name="Rectangle: Rounded Corners 1505">
            <a:extLst>
              <a:ext uri="{FF2B5EF4-FFF2-40B4-BE49-F238E27FC236}">
                <a16:creationId xmlns:a16="http://schemas.microsoft.com/office/drawing/2014/main" id="{6124E5E3-94D0-4464-A368-C08E52B4366D}"/>
              </a:ext>
            </a:extLst>
          </p:cNvPr>
          <p:cNvSpPr>
            <a:spLocks noGrp="1"/>
          </p:cNvSpPr>
          <p:nvPr/>
        </p:nvSpPr>
        <p:spPr>
          <a:xfrm>
            <a:off x="3429000" y="3667125"/>
            <a:ext cx="2286000" cy="3619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 fontScale="85755"/>
          </a:bodyPr>
          <a:lstStyle/>
          <a:p>
            <a:pPr algn="ctr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ERROR → retry / resume</a:t>
            </a:r>
          </a:p>
        </p:txBody>
      </p:sp>
      <p:sp>
        <p:nvSpPr>
          <p:cNvPr id="1585" name="Rectangle 1584">
            <a:extLst>
              <a:ext uri="{FF2B5EF4-FFF2-40B4-BE49-F238E27FC236}">
                <a16:creationId xmlns:a16="http://schemas.microsoft.com/office/drawing/2014/main" id="{0069A0BE-5EF1-43F3-84FA-6B02F21FFB63}"/>
              </a:ext>
            </a:extLst>
          </p:cNvPr>
          <p:cNvSpPr>
            <a:spLocks noGrp="1"/>
          </p:cNvSpPr>
          <p:nvPr/>
        </p:nvSpPr>
        <p:spPr>
          <a:xfrm>
            <a:off x="714375" y="1028700"/>
            <a:ext cx="7715250" cy="304800"/>
          </a:xfrm>
          <a:prstGeom prst="rect">
            <a:avLst/>
          </a:prstGeom>
          <a:ln w="0">
            <a:prstDash val="solid"/>
          </a:ln>
        </p:spPr>
        <p:txBody>
          <a:bodyPr anchor="ctr">
            <a:normAutofit/>
          </a:bodyPr>
          <a:lstStyle/>
          <a:p>
            <a:pPr>
              <a:buNone/>
              <a:defRPr sz="1125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125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Mỗi chuyển trạng thái có điều kiện và đường fallback.</a:t>
            </a:r>
          </a:p>
        </p:txBody>
      </p:sp>
    </p:spTree>
    <p:extLst>
      <p:ext uri="{BB962C8B-B14F-4D97-AF65-F5344CB8AC3E}">
        <p14:creationId xmlns:p14="http://schemas.microsoft.com/office/powerpoint/2010/main" val="12439458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p117">
            <a:extLst>
              <a:ext uri="{FF2B5EF4-FFF2-40B4-BE49-F238E27FC236}">
                <a16:creationId xmlns:a16="http://schemas.microsoft.com/office/drawing/2014/main" id="{E8E4E02C-1244-4433-BE40-CD62A700B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5" y="773459"/>
            <a:ext cx="7715250" cy="5524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Vòng đời tuyển dụng tách mời, phiên và đánh giá</a:t>
            </a:r>
            <a:endParaRPr/>
          </a:p>
        </p:txBody>
      </p:sp>
      <p:sp>
        <p:nvSpPr>
          <p:cNvPr id="1508" name="Rectangle: Rounded Corners 1507">
            <a:extLst>
              <a:ext uri="{FF2B5EF4-FFF2-40B4-BE49-F238E27FC236}">
                <a16:creationId xmlns:a16="http://schemas.microsoft.com/office/drawing/2014/main" id="{0E157AE5-5DA6-4D3F-99D6-E6FA77E35672}"/>
              </a:ext>
            </a:extLst>
          </p:cNvPr>
          <p:cNvSpPr>
            <a:spLocks noGrp="1"/>
          </p:cNvSpPr>
          <p:nvPr/>
        </p:nvSpPr>
        <p:spPr>
          <a:xfrm>
            <a:off x="876300" y="2203000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D7E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Job + JD</a:t>
            </a:r>
          </a:p>
        </p:txBody>
      </p:sp>
      <p:sp>
        <p:nvSpPr>
          <p:cNvPr id="1509" name="Rectangle: Rounded Corners 1508">
            <a:extLst>
              <a:ext uri="{FF2B5EF4-FFF2-40B4-BE49-F238E27FC236}">
                <a16:creationId xmlns:a16="http://schemas.microsoft.com/office/drawing/2014/main" id="{F962423E-CCFE-4399-A1FA-4F5B3E658161}"/>
              </a:ext>
            </a:extLst>
          </p:cNvPr>
          <p:cNvSpPr>
            <a:spLocks noGrp="1"/>
          </p:cNvSpPr>
          <p:nvPr/>
        </p:nvSpPr>
        <p:spPr>
          <a:xfrm>
            <a:off x="2125663" y="2203000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E4D9EE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Campaign</a:t>
            </a:r>
          </a:p>
        </p:txBody>
      </p:sp>
      <p:sp>
        <p:nvSpPr>
          <p:cNvPr id="1510" name="Rectangle: Rounded Corners 1509">
            <a:extLst>
              <a:ext uri="{FF2B5EF4-FFF2-40B4-BE49-F238E27FC236}">
                <a16:creationId xmlns:a16="http://schemas.microsoft.com/office/drawing/2014/main" id="{1849AD82-88BC-415E-BA21-8C556A39D9CA}"/>
              </a:ext>
            </a:extLst>
          </p:cNvPr>
          <p:cNvSpPr>
            <a:spLocks noGrp="1"/>
          </p:cNvSpPr>
          <p:nvPr/>
        </p:nvSpPr>
        <p:spPr>
          <a:xfrm>
            <a:off x="3375025" y="2203000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F7EDC8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Invitation</a:t>
            </a:r>
          </a:p>
        </p:txBody>
      </p:sp>
      <p:sp>
        <p:nvSpPr>
          <p:cNvPr id="1511" name="Rectangle: Rounded Corners 1510">
            <a:extLst>
              <a:ext uri="{FF2B5EF4-FFF2-40B4-BE49-F238E27FC236}">
                <a16:creationId xmlns:a16="http://schemas.microsoft.com/office/drawing/2014/main" id="{5FA6BCAF-3A88-4774-9921-B74A28FC7B4C}"/>
              </a:ext>
            </a:extLst>
          </p:cNvPr>
          <p:cNvSpPr>
            <a:spLocks noGrp="1"/>
          </p:cNvSpPr>
          <p:nvPr/>
        </p:nvSpPr>
        <p:spPr>
          <a:xfrm>
            <a:off x="4624388" y="2203000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F4F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Interview</a:t>
            </a:r>
          </a:p>
        </p:txBody>
      </p:sp>
      <p:sp>
        <p:nvSpPr>
          <p:cNvPr id="1512" name="Rectangle: Rounded Corners 1511">
            <a:extLst>
              <a:ext uri="{FF2B5EF4-FFF2-40B4-BE49-F238E27FC236}">
                <a16:creationId xmlns:a16="http://schemas.microsoft.com/office/drawing/2014/main" id="{853DA4CA-0242-4C24-9F38-5ACDBC5CEAE3}"/>
              </a:ext>
            </a:extLst>
          </p:cNvPr>
          <p:cNvSpPr>
            <a:spLocks noGrp="1"/>
          </p:cNvSpPr>
          <p:nvPr/>
        </p:nvSpPr>
        <p:spPr>
          <a:xfrm>
            <a:off x="5873750" y="2203000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F4D7D3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1513" name="Rectangle: Rounded Corners 1512">
            <a:extLst>
              <a:ext uri="{FF2B5EF4-FFF2-40B4-BE49-F238E27FC236}">
                <a16:creationId xmlns:a16="http://schemas.microsoft.com/office/drawing/2014/main" id="{D90CD0E0-6B0D-4D9D-BFE1-96D5FB5211AE}"/>
              </a:ext>
            </a:extLst>
          </p:cNvPr>
          <p:cNvSpPr>
            <a:spLocks noGrp="1"/>
          </p:cNvSpPr>
          <p:nvPr/>
        </p:nvSpPr>
        <p:spPr>
          <a:xfrm>
            <a:off x="7123113" y="2203000"/>
            <a:ext cx="1135063" cy="714375"/>
          </a:xfrm>
          <a:prstGeom prst="roundRect">
            <a:avLst>
              <a:gd name="adj" fmla="val 10667"/>
            </a:avLst>
          </a:prstGeom>
          <a:solidFill>
            <a:srgbClr val="DFF0D6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Final review</a:t>
            </a:r>
          </a:p>
        </p:txBody>
      </p:sp>
      <p:cxnSp>
        <p:nvCxnSpPr>
          <p:cNvPr id="1745" name="Straight Arrow Connector 1660"/>
          <p:cNvCxnSpPr>
            <a:stCxn id="1508" idx="3"/>
            <a:endCxn id="1509" idx="1"/>
          </p:cNvCxnSpPr>
          <p:nvPr/>
        </p:nvCxnSpPr>
        <p:spPr>
          <a:xfrm>
            <a:off x="2011363" y="2560188"/>
            <a:ext cx="11430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746" name="Straight Arrow Connector 1661"/>
          <p:cNvCxnSpPr>
            <a:stCxn id="1509" idx="3"/>
            <a:endCxn id="1510" idx="1"/>
          </p:cNvCxnSpPr>
          <p:nvPr/>
        </p:nvCxnSpPr>
        <p:spPr>
          <a:xfrm>
            <a:off x="3260726" y="2560188"/>
            <a:ext cx="114299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747" name="Straight Arrow Connector 1662"/>
          <p:cNvCxnSpPr>
            <a:stCxn id="1510" idx="3"/>
            <a:endCxn id="1511" idx="1"/>
          </p:cNvCxnSpPr>
          <p:nvPr/>
        </p:nvCxnSpPr>
        <p:spPr>
          <a:xfrm>
            <a:off x="4510088" y="2560188"/>
            <a:ext cx="11430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748" name="Straight Arrow Connector 1663"/>
          <p:cNvCxnSpPr>
            <a:stCxn id="1511" idx="3"/>
            <a:endCxn id="1512" idx="1"/>
          </p:cNvCxnSpPr>
          <p:nvPr/>
        </p:nvCxnSpPr>
        <p:spPr>
          <a:xfrm>
            <a:off x="5759451" y="2560188"/>
            <a:ext cx="114299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1749" name="Straight Arrow Connector 1664"/>
          <p:cNvCxnSpPr>
            <a:stCxn id="1512" idx="3"/>
            <a:endCxn id="1513" idx="1"/>
          </p:cNvCxnSpPr>
          <p:nvPr/>
        </p:nvCxnSpPr>
        <p:spPr>
          <a:xfrm>
            <a:off x="7008813" y="2560188"/>
            <a:ext cx="11430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sp>
        <p:nvSpPr>
          <p:cNvPr id="1519" name="Rectangle: Rounded Corners 1518">
            <a:extLst>
              <a:ext uri="{FF2B5EF4-FFF2-40B4-BE49-F238E27FC236}">
                <a16:creationId xmlns:a16="http://schemas.microsoft.com/office/drawing/2014/main" id="{AD514EBD-C0BC-4C32-A4CF-593A6199CEF0}"/>
              </a:ext>
            </a:extLst>
          </p:cNvPr>
          <p:cNvSpPr>
            <a:spLocks noGrp="1"/>
          </p:cNvSpPr>
          <p:nvPr/>
        </p:nvSpPr>
        <p:spPr>
          <a:xfrm>
            <a:off x="6238875" y="3536500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 fontScale="85755"/>
          </a:bodyPr>
          <a:lstStyle/>
          <a:p>
            <a:pPr algn="ctr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Recruiter quyết định</a:t>
            </a:r>
          </a:p>
        </p:txBody>
      </p:sp>
      <p:cxnSp>
        <p:nvCxnSpPr>
          <p:cNvPr id="1751" name="Straight Arrow Connector 1666"/>
          <p:cNvCxnSpPr>
            <a:stCxn id="1512" idx="3"/>
            <a:endCxn id="1513" idx="1"/>
          </p:cNvCxnSpPr>
          <p:nvPr/>
        </p:nvCxnSpPr>
        <p:spPr>
          <a:xfrm>
            <a:off x="7008813" y="2560188"/>
            <a:ext cx="11430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sp>
        <p:nvSpPr>
          <p:cNvPr id="1611" name="Rectangle 1610">
            <a:extLst>
              <a:ext uri="{FF2B5EF4-FFF2-40B4-BE49-F238E27FC236}">
                <a16:creationId xmlns:a16="http://schemas.microsoft.com/office/drawing/2014/main" id="{5777DFB0-532C-49BD-8B72-B797383E2892}"/>
              </a:ext>
            </a:extLst>
          </p:cNvPr>
          <p:cNvSpPr>
            <a:spLocks noGrp="1"/>
          </p:cNvSpPr>
          <p:nvPr/>
        </p:nvSpPr>
        <p:spPr>
          <a:xfrm>
            <a:off x="714375" y="1344959"/>
            <a:ext cx="7715250" cy="304800"/>
          </a:xfrm>
          <a:prstGeom prst="rect">
            <a:avLst/>
          </a:prstGeom>
          <a:ln w="0">
            <a:prstDash val="solid"/>
          </a:ln>
        </p:spPr>
        <p:txBody>
          <a:bodyPr anchor="ctr">
            <a:normAutofit/>
          </a:bodyPr>
          <a:lstStyle/>
          <a:p>
            <a:pPr>
              <a:buNone/>
              <a:defRPr sz="1125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125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Tách ownership giúp audit và xóa dữ liệu đúng phạm vi.</a:t>
            </a:r>
          </a:p>
        </p:txBody>
      </p:sp>
    </p:spTree>
    <p:extLst>
      <p:ext uri="{BB962C8B-B14F-4D97-AF65-F5344CB8AC3E}">
        <p14:creationId xmlns:p14="http://schemas.microsoft.com/office/powerpoint/2010/main" val="3018096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74">
            <a:extLst>
              <a:ext uri="{FF2B5EF4-FFF2-40B4-BE49-F238E27FC236}">
                <a16:creationId xmlns:a16="http://schemas.microsoft.com/office/drawing/2014/main" id="{4F04F552-971B-4648-A6D5-F3F3BCD15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5" y="457200"/>
            <a:ext cx="7715250" cy="5524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7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Fallback giữ phiên tiếp tục khi provider lỗi</a:t>
            </a:r>
            <a:endParaRPr/>
          </a:p>
        </p:txBody>
      </p:sp>
      <p:sp>
        <p:nvSpPr>
          <p:cNvPr id="638" name="Rectangle: Rounded Corners 637">
            <a:extLst>
              <a:ext uri="{FF2B5EF4-FFF2-40B4-BE49-F238E27FC236}">
                <a16:creationId xmlns:a16="http://schemas.microsoft.com/office/drawing/2014/main" id="{BD1CC9B8-9400-45D9-9A2C-BD11883BCCC3}"/>
              </a:ext>
            </a:extLst>
          </p:cNvPr>
          <p:cNvSpPr>
            <a:spLocks noGrp="1"/>
          </p:cNvSpPr>
          <p:nvPr/>
        </p:nvSpPr>
        <p:spPr>
          <a:xfrm>
            <a:off x="2095500" y="1731620"/>
            <a:ext cx="1536700" cy="685800"/>
          </a:xfrm>
          <a:prstGeom prst="roundRect">
            <a:avLst>
              <a:gd name="adj" fmla="val 11111"/>
            </a:avLst>
          </a:prstGeom>
          <a:solidFill>
            <a:srgbClr val="D7E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Audio stream</a:t>
            </a:r>
          </a:p>
        </p:txBody>
      </p:sp>
      <p:sp>
        <p:nvSpPr>
          <p:cNvPr id="639" name="Rectangle: Rounded Corners 638">
            <a:extLst>
              <a:ext uri="{FF2B5EF4-FFF2-40B4-BE49-F238E27FC236}">
                <a16:creationId xmlns:a16="http://schemas.microsoft.com/office/drawing/2014/main" id="{236EFE19-7B21-4DA8-9466-68A4C033701A}"/>
              </a:ext>
            </a:extLst>
          </p:cNvPr>
          <p:cNvSpPr>
            <a:spLocks noGrp="1"/>
          </p:cNvSpPr>
          <p:nvPr/>
        </p:nvSpPr>
        <p:spPr>
          <a:xfrm>
            <a:off x="3803650" y="1731620"/>
            <a:ext cx="1536700" cy="685800"/>
          </a:xfrm>
          <a:prstGeom prst="roundRect">
            <a:avLst>
              <a:gd name="adj" fmla="val 11111"/>
            </a:avLst>
          </a:prstGeom>
          <a:solidFill>
            <a:srgbClr val="E4D9EE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AssemblyAI</a:t>
            </a:r>
          </a:p>
        </p:txBody>
      </p:sp>
      <p:sp>
        <p:nvSpPr>
          <p:cNvPr id="640" name="Rectangle: Rounded Corners 639">
            <a:extLst>
              <a:ext uri="{FF2B5EF4-FFF2-40B4-BE49-F238E27FC236}">
                <a16:creationId xmlns:a16="http://schemas.microsoft.com/office/drawing/2014/main" id="{C42E9F75-B13F-4C8E-A901-38A65359DFF8}"/>
              </a:ext>
            </a:extLst>
          </p:cNvPr>
          <p:cNvSpPr>
            <a:spLocks noGrp="1"/>
          </p:cNvSpPr>
          <p:nvPr/>
        </p:nvSpPr>
        <p:spPr>
          <a:xfrm>
            <a:off x="5511800" y="1731620"/>
            <a:ext cx="1536700" cy="685800"/>
          </a:xfrm>
          <a:prstGeom prst="roundRect">
            <a:avLst>
              <a:gd name="adj" fmla="val 11111"/>
            </a:avLst>
          </a:prstGeom>
          <a:solidFill>
            <a:srgbClr val="F7EDC8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Transcript</a:t>
            </a:r>
          </a:p>
        </p:txBody>
      </p:sp>
      <p:cxnSp>
        <p:nvCxnSpPr>
          <p:cNvPr id="835" name="Straight Arrow Connector 762"/>
          <p:cNvCxnSpPr>
            <a:stCxn id="638" idx="3"/>
            <a:endCxn id="639" idx="1"/>
          </p:cNvCxnSpPr>
          <p:nvPr/>
        </p:nvCxnSpPr>
        <p:spPr>
          <a:xfrm>
            <a:off x="3632200" y="2074520"/>
            <a:ext cx="17145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836" name="Straight Arrow Connector 763"/>
          <p:cNvCxnSpPr>
            <a:stCxn id="639" idx="3"/>
            <a:endCxn id="640" idx="1"/>
          </p:cNvCxnSpPr>
          <p:nvPr/>
        </p:nvCxnSpPr>
        <p:spPr>
          <a:xfrm>
            <a:off x="5340350" y="2074520"/>
            <a:ext cx="17145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sp>
        <p:nvSpPr>
          <p:cNvPr id="643" name="Rectangle: Rounded Corners 642">
            <a:extLst>
              <a:ext uri="{FF2B5EF4-FFF2-40B4-BE49-F238E27FC236}">
                <a16:creationId xmlns:a16="http://schemas.microsoft.com/office/drawing/2014/main" id="{F6129854-1E1A-4D7B-BC47-96028583FFD3}"/>
              </a:ext>
            </a:extLst>
          </p:cNvPr>
          <p:cNvSpPr>
            <a:spLocks noGrp="1"/>
          </p:cNvSpPr>
          <p:nvPr/>
        </p:nvSpPr>
        <p:spPr>
          <a:xfrm>
            <a:off x="2095500" y="3541370"/>
            <a:ext cx="1536700" cy="685800"/>
          </a:xfrm>
          <a:prstGeom prst="roundRect">
            <a:avLst>
              <a:gd name="adj" fmla="val 11111"/>
            </a:avLst>
          </a:prstGeom>
          <a:solidFill>
            <a:srgbClr val="F4F7F1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Timeout</a:t>
            </a:r>
          </a:p>
        </p:txBody>
      </p:sp>
      <p:sp>
        <p:nvSpPr>
          <p:cNvPr id="644" name="Rectangle: Rounded Corners 643">
            <a:extLst>
              <a:ext uri="{FF2B5EF4-FFF2-40B4-BE49-F238E27FC236}">
                <a16:creationId xmlns:a16="http://schemas.microsoft.com/office/drawing/2014/main" id="{47224B83-8B7D-4E59-AA2C-5A42BBC8820F}"/>
              </a:ext>
            </a:extLst>
          </p:cNvPr>
          <p:cNvSpPr>
            <a:spLocks noGrp="1"/>
          </p:cNvSpPr>
          <p:nvPr/>
        </p:nvSpPr>
        <p:spPr>
          <a:xfrm>
            <a:off x="3803650" y="3541370"/>
            <a:ext cx="1536700" cy="685800"/>
          </a:xfrm>
          <a:prstGeom prst="roundRect">
            <a:avLst>
              <a:gd name="adj" fmla="val 11111"/>
            </a:avLst>
          </a:prstGeom>
          <a:solidFill>
            <a:srgbClr val="F4D7D3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Faster-Whisper</a:t>
            </a:r>
          </a:p>
        </p:txBody>
      </p:sp>
      <p:sp>
        <p:nvSpPr>
          <p:cNvPr id="645" name="Rectangle: Rounded Corners 644">
            <a:extLst>
              <a:ext uri="{FF2B5EF4-FFF2-40B4-BE49-F238E27FC236}">
                <a16:creationId xmlns:a16="http://schemas.microsoft.com/office/drawing/2014/main" id="{C70AF428-A56A-4F6F-8D40-EA9786AED73B}"/>
              </a:ext>
            </a:extLst>
          </p:cNvPr>
          <p:cNvSpPr>
            <a:spLocks noGrp="1"/>
          </p:cNvSpPr>
          <p:nvPr/>
        </p:nvSpPr>
        <p:spPr>
          <a:xfrm>
            <a:off x="5511800" y="3541370"/>
            <a:ext cx="1536700" cy="685800"/>
          </a:xfrm>
          <a:prstGeom prst="roundRect">
            <a:avLst>
              <a:gd name="adj" fmla="val 11111"/>
            </a:avLst>
          </a:prstGeom>
          <a:solidFill>
            <a:srgbClr val="DFF0D6"/>
          </a:solidFill>
          <a:ln w="10954">
            <a:solidFill>
              <a:srgbClr val="4B8D17"/>
            </a:solidFill>
            <a:prstDash val="solid"/>
          </a:ln>
        </p:spPr>
        <p:txBody>
          <a:bodyPr lIns="76200" tIns="66675" rIns="76200" bIns="66675" anchor="ctr">
            <a:normAutofit/>
          </a:bodyPr>
          <a:lstStyle/>
          <a:p>
            <a:pPr algn="ctr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Resume session</a:t>
            </a:r>
          </a:p>
        </p:txBody>
      </p:sp>
      <p:cxnSp>
        <p:nvCxnSpPr>
          <p:cNvPr id="840" name="Straight Arrow Connector 767"/>
          <p:cNvCxnSpPr>
            <a:stCxn id="643" idx="3"/>
            <a:endCxn id="644" idx="1"/>
          </p:cNvCxnSpPr>
          <p:nvPr/>
        </p:nvCxnSpPr>
        <p:spPr>
          <a:xfrm>
            <a:off x="3632200" y="3884270"/>
            <a:ext cx="17145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841" name="Straight Arrow Connector 768"/>
          <p:cNvCxnSpPr>
            <a:stCxn id="644" idx="3"/>
            <a:endCxn id="645" idx="1"/>
          </p:cNvCxnSpPr>
          <p:nvPr/>
        </p:nvCxnSpPr>
        <p:spPr>
          <a:xfrm>
            <a:off x="5340350" y="3884270"/>
            <a:ext cx="171450" cy="0"/>
          </a:xfrm>
          <a:prstGeom prst="straightConnector1">
            <a:avLst/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cxnSp>
        <p:nvCxnSpPr>
          <p:cNvPr id="842" name="Connector: Elbow 769"/>
          <p:cNvCxnSpPr>
            <a:stCxn id="639" idx="2"/>
            <a:endCxn id="643" idx="0"/>
          </p:cNvCxnSpPr>
          <p:nvPr/>
        </p:nvCxnSpPr>
        <p:spPr>
          <a:xfrm flipH="1">
            <a:off x="2863850" y="2417420"/>
            <a:ext cx="1708150" cy="1123950"/>
          </a:xfrm>
          <a:prstGeom prst="bentConnector4">
            <a:avLst>
              <a:gd name="adj1" fmla="val 0"/>
              <a:gd name="adj2" fmla="val 50000"/>
            </a:avLst>
          </a:prstGeom>
          <a:ln w="15240">
            <a:solidFill>
              <a:srgbClr val="4B8D17"/>
            </a:solidFill>
            <a:prstDash val="solid"/>
            <a:tailEnd type="triangle" w="sm" len="sm"/>
          </a:ln>
        </p:spPr>
      </p:cxnSp>
      <p:sp>
        <p:nvSpPr>
          <p:cNvPr id="649" name="Rectangle 648">
            <a:extLst>
              <a:ext uri="{FF2B5EF4-FFF2-40B4-BE49-F238E27FC236}">
                <a16:creationId xmlns:a16="http://schemas.microsoft.com/office/drawing/2014/main" id="{37510E65-5D61-44FE-ACD6-2A2ACACD2029}"/>
              </a:ext>
            </a:extLst>
          </p:cNvPr>
          <p:cNvSpPr>
            <a:spLocks noGrp="1"/>
          </p:cNvSpPr>
          <p:nvPr/>
        </p:nvSpPr>
        <p:spPr>
          <a:xfrm>
            <a:off x="3714750" y="1302995"/>
            <a:ext cx="1714500" cy="266700"/>
          </a:xfrm>
          <a:prstGeom prst="rect">
            <a:avLst/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PRIMARY PATH</a:t>
            </a:r>
          </a:p>
        </p:txBody>
      </p:sp>
      <p:sp>
        <p:nvSpPr>
          <p:cNvPr id="650" name="Rectangle 649">
            <a:extLst>
              <a:ext uri="{FF2B5EF4-FFF2-40B4-BE49-F238E27FC236}">
                <a16:creationId xmlns:a16="http://schemas.microsoft.com/office/drawing/2014/main" id="{961B6013-C077-4CC5-AF5D-1172CBEABB62}"/>
              </a:ext>
            </a:extLst>
          </p:cNvPr>
          <p:cNvSpPr>
            <a:spLocks noGrp="1"/>
          </p:cNvSpPr>
          <p:nvPr/>
        </p:nvSpPr>
        <p:spPr>
          <a:xfrm>
            <a:off x="3714750" y="3112745"/>
            <a:ext cx="1714500" cy="266700"/>
          </a:xfrm>
          <a:prstGeom prst="rect">
            <a:avLst/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3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FALLBACK PATH</a:t>
            </a:r>
          </a:p>
        </p:txBody>
      </p:sp>
    </p:spTree>
    <p:extLst>
      <p:ext uri="{BB962C8B-B14F-4D97-AF65-F5344CB8AC3E}">
        <p14:creationId xmlns:p14="http://schemas.microsoft.com/office/powerpoint/2010/main" val="15088843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62">
            <a:extLst>
              <a:ext uri="{FF2B5EF4-FFF2-40B4-BE49-F238E27FC236}">
                <a16:creationId xmlns:a16="http://schemas.microsoft.com/office/drawing/2014/main" id="{D2DEA9EA-4979-40B8-882A-109810B69349}"/>
              </a:ext>
            </a:extLst>
          </p:cNvPr>
          <p:cNvSpPr>
            <a:spLocks noGrp="1"/>
          </p:cNvSpPr>
          <p:nvPr>
            <p:ph type="title" idx="21"/>
          </p:nvPr>
        </p:nvSpPr>
        <p:spPr>
          <a:xfrm>
            <a:off x="800100" y="552450"/>
            <a:ext cx="7620000" cy="533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1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Stack công nghệ theo ranh giới trách nhiệm</a:t>
            </a:r>
            <a:endParaRPr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52662805-97AD-412C-803F-06D4C7024922}"/>
              </a:ext>
            </a:extLst>
          </p:cNvPr>
          <p:cNvSpPr>
            <a:spLocks noGrp="1"/>
          </p:cNvSpPr>
          <p:nvPr/>
        </p:nvSpPr>
        <p:spPr>
          <a:xfrm>
            <a:off x="819150" y="1133475"/>
            <a:ext cx="7524750" cy="3238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93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93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Mỗi nhóm công nghệ sở hữu một trách nhiệm; các lớp giao tiếp qua hợp đồng typed.</a:t>
            </a:r>
          </a:p>
        </p:txBody>
      </p:sp>
      <p:sp>
        <p:nvSpPr>
          <p:cNvPr id="531" name="Rectangle: Rounded Corners 530">
            <a:extLst>
              <a:ext uri="{FF2B5EF4-FFF2-40B4-BE49-F238E27FC236}">
                <a16:creationId xmlns:a16="http://schemas.microsoft.com/office/drawing/2014/main" id="{453695E5-7556-4F85-B850-61B4BD77A705}"/>
              </a:ext>
            </a:extLst>
          </p:cNvPr>
          <p:cNvSpPr>
            <a:spLocks noGrp="1"/>
          </p:cNvSpPr>
          <p:nvPr/>
        </p:nvSpPr>
        <p:spPr>
          <a:xfrm>
            <a:off x="952500" y="1468571"/>
            <a:ext cx="7239000" cy="971550"/>
          </a:xfrm>
          <a:prstGeom prst="roundRect">
            <a:avLst>
              <a:gd name="adj" fmla="val 11765"/>
            </a:avLst>
          </a:prstGeom>
          <a:solidFill>
            <a:srgbClr val="D7E7F1"/>
          </a:solidFill>
          <a:ln w="12383">
            <a:solidFill>
              <a:srgbClr val="7A8378"/>
            </a:solidFill>
            <a:prstDash val="solid"/>
          </a:ln>
        </p:spPr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EA43144B-319E-46DB-ADDD-509F5AB43B3D}"/>
              </a:ext>
            </a:extLst>
          </p:cNvPr>
          <p:cNvSpPr>
            <a:spLocks noGrp="1"/>
          </p:cNvSpPr>
          <p:nvPr/>
        </p:nvSpPr>
        <p:spPr>
          <a:xfrm>
            <a:off x="1143000" y="1554296"/>
            <a:ext cx="2095500" cy="2095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PRODUCT &amp; STATE</a:t>
            </a:r>
          </a:p>
        </p:txBody>
      </p:sp>
      <p:sp>
        <p:nvSpPr>
          <p:cNvPr id="533" name="Straight Connector 532">
            <a:extLst>
              <a:ext uri="{FF2B5EF4-FFF2-40B4-BE49-F238E27FC236}">
                <a16:creationId xmlns:a16="http://schemas.microsoft.com/office/drawing/2014/main" id="{2FDC5175-7413-4C7F-9564-A9BD4BFE428F}"/>
              </a:ext>
            </a:extLst>
          </p:cNvPr>
          <p:cNvSpPr>
            <a:spLocks noGrp="1"/>
          </p:cNvSpPr>
          <p:nvPr/>
        </p:nvSpPr>
        <p:spPr>
          <a:xfrm>
            <a:off x="4762500" y="1801946"/>
            <a:ext cx="0" cy="495300"/>
          </a:xfrm>
          <a:prstGeom prst="line">
            <a:avLst/>
          </a:prstGeom>
          <a:ln w="9525">
            <a:solidFill>
              <a:srgbClr val="7A8378"/>
            </a:solidFill>
            <a:prstDash val="solid"/>
          </a:ln>
        </p:spPr>
      </p:sp>
      <p:sp>
        <p:nvSpPr>
          <p:cNvPr id="534" name="Rectangle 533">
            <a:extLst>
              <a:ext uri="{FF2B5EF4-FFF2-40B4-BE49-F238E27FC236}">
                <a16:creationId xmlns:a16="http://schemas.microsoft.com/office/drawing/2014/main" id="{EA67FDA9-B279-459A-9B31-E2B7DE51FDA7}"/>
              </a:ext>
            </a:extLst>
          </p:cNvPr>
          <p:cNvSpPr>
            <a:spLocks noGrp="1"/>
          </p:cNvSpPr>
          <p:nvPr/>
        </p:nvSpPr>
        <p:spPr>
          <a:xfrm>
            <a:off x="1143000" y="1830521"/>
            <a:ext cx="400050" cy="2286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20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20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01</a:t>
            </a: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B4E51753-D1C6-4691-8F49-9B2FD7E901C0}"/>
              </a:ext>
            </a:extLst>
          </p:cNvPr>
          <p:cNvSpPr>
            <a:spLocks noGrp="1"/>
          </p:cNvSpPr>
          <p:nvPr/>
        </p:nvSpPr>
        <p:spPr>
          <a:xfrm>
            <a:off x="1600200" y="1830521"/>
            <a:ext cx="2876550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Web/BFF</a:t>
            </a: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C2E2BF14-3497-4554-98FC-A02B49FBE6C9}"/>
              </a:ext>
            </a:extLst>
          </p:cNvPr>
          <p:cNvSpPr>
            <a:spLocks noGrp="1"/>
          </p:cNvSpPr>
          <p:nvPr/>
        </p:nvSpPr>
        <p:spPr>
          <a:xfrm>
            <a:off x="1600200" y="2116271"/>
            <a:ext cx="2838450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Next.js • React • TypeScript</a:t>
            </a: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73919387-FD7F-40E0-89CB-E1264A3387F2}"/>
              </a:ext>
            </a:extLst>
          </p:cNvPr>
          <p:cNvSpPr>
            <a:spLocks noGrp="1"/>
          </p:cNvSpPr>
          <p:nvPr/>
        </p:nvSpPr>
        <p:spPr>
          <a:xfrm>
            <a:off x="5048250" y="1830521"/>
            <a:ext cx="400050" cy="2286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20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20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A4DB5C87-EA37-4C53-9336-44F2C8A6B21A}"/>
              </a:ext>
            </a:extLst>
          </p:cNvPr>
          <p:cNvSpPr>
            <a:spLocks noGrp="1"/>
          </p:cNvSpPr>
          <p:nvPr/>
        </p:nvSpPr>
        <p:spPr>
          <a:xfrm>
            <a:off x="5505450" y="1830521"/>
            <a:ext cx="2352675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Dữ liệu</a:t>
            </a: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7E5C1AF5-5F9B-4CBF-B035-D5F2A5132C1D}"/>
              </a:ext>
            </a:extLst>
          </p:cNvPr>
          <p:cNvSpPr>
            <a:spLocks noGrp="1"/>
          </p:cNvSpPr>
          <p:nvPr/>
        </p:nvSpPr>
        <p:spPr>
          <a:xfrm>
            <a:off x="5505450" y="2116271"/>
            <a:ext cx="2314575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MongoDB • Mongoose</a:t>
            </a:r>
          </a:p>
        </p:txBody>
      </p:sp>
      <p:sp>
        <p:nvSpPr>
          <p:cNvPr id="540" name="Rectangle: Rounded Corners 539">
            <a:extLst>
              <a:ext uri="{FF2B5EF4-FFF2-40B4-BE49-F238E27FC236}">
                <a16:creationId xmlns:a16="http://schemas.microsoft.com/office/drawing/2014/main" id="{20E528D6-6410-4CE8-BF56-34DAAC247DCA}"/>
              </a:ext>
            </a:extLst>
          </p:cNvPr>
          <p:cNvSpPr>
            <a:spLocks noGrp="1"/>
          </p:cNvSpPr>
          <p:nvPr/>
        </p:nvSpPr>
        <p:spPr>
          <a:xfrm>
            <a:off x="952500" y="2621096"/>
            <a:ext cx="7239000" cy="1200150"/>
          </a:xfrm>
          <a:prstGeom prst="roundRect">
            <a:avLst>
              <a:gd name="adj" fmla="val 9524"/>
            </a:avLst>
          </a:prstGeom>
          <a:solidFill>
            <a:srgbClr val="E4D9EE"/>
          </a:solidFill>
          <a:ln w="12383">
            <a:solidFill>
              <a:srgbClr val="7A8378"/>
            </a:solidFill>
            <a:prstDash val="solid"/>
          </a:ln>
        </p:spPr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8C82C3AA-B59E-420B-A830-9B3E0295ABC6}"/>
              </a:ext>
            </a:extLst>
          </p:cNvPr>
          <p:cNvSpPr>
            <a:spLocks noGrp="1"/>
          </p:cNvSpPr>
          <p:nvPr/>
        </p:nvSpPr>
        <p:spPr>
          <a:xfrm>
            <a:off x="1143000" y="2706821"/>
            <a:ext cx="1714500" cy="2095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AI SERVICES</a:t>
            </a:r>
          </a:p>
        </p:txBody>
      </p:sp>
      <p:sp>
        <p:nvSpPr>
          <p:cNvPr id="542" name="Straight Connector 541">
            <a:extLst>
              <a:ext uri="{FF2B5EF4-FFF2-40B4-BE49-F238E27FC236}">
                <a16:creationId xmlns:a16="http://schemas.microsoft.com/office/drawing/2014/main" id="{0B404A8B-4289-4720-9F5A-C3458D1FF2AB}"/>
              </a:ext>
            </a:extLst>
          </p:cNvPr>
          <p:cNvSpPr>
            <a:spLocks noGrp="1"/>
          </p:cNvSpPr>
          <p:nvPr/>
        </p:nvSpPr>
        <p:spPr>
          <a:xfrm>
            <a:off x="3352800" y="2963996"/>
            <a:ext cx="0" cy="685800"/>
          </a:xfrm>
          <a:prstGeom prst="line">
            <a:avLst/>
          </a:prstGeom>
          <a:ln w="9525">
            <a:solidFill>
              <a:srgbClr val="7A8378"/>
            </a:solidFill>
            <a:prstDash val="solid"/>
          </a:ln>
        </p:spPr>
      </p:sp>
      <p:sp>
        <p:nvSpPr>
          <p:cNvPr id="543" name="Straight Connector 542">
            <a:extLst>
              <a:ext uri="{FF2B5EF4-FFF2-40B4-BE49-F238E27FC236}">
                <a16:creationId xmlns:a16="http://schemas.microsoft.com/office/drawing/2014/main" id="{330393EA-A4B2-4F06-9859-882522DB4DA6}"/>
              </a:ext>
            </a:extLst>
          </p:cNvPr>
          <p:cNvSpPr>
            <a:spLocks noGrp="1"/>
          </p:cNvSpPr>
          <p:nvPr/>
        </p:nvSpPr>
        <p:spPr>
          <a:xfrm>
            <a:off x="5772150" y="2963996"/>
            <a:ext cx="0" cy="685800"/>
          </a:xfrm>
          <a:prstGeom prst="line">
            <a:avLst/>
          </a:prstGeom>
          <a:ln w="9525">
            <a:solidFill>
              <a:srgbClr val="7A8378"/>
            </a:solidFill>
            <a:prstDash val="solid"/>
          </a:ln>
        </p:spPr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027ED1CD-DF7D-4C90-88D1-5A87EBC9BE8A}"/>
              </a:ext>
            </a:extLst>
          </p:cNvPr>
          <p:cNvSpPr>
            <a:spLocks noGrp="1"/>
          </p:cNvSpPr>
          <p:nvPr/>
        </p:nvSpPr>
        <p:spPr>
          <a:xfrm>
            <a:off x="1143000" y="3040196"/>
            <a:ext cx="400050" cy="2286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20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20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FD9177EA-609B-455E-9748-51CD51E64EC4}"/>
              </a:ext>
            </a:extLst>
          </p:cNvPr>
          <p:cNvSpPr>
            <a:spLocks noGrp="1"/>
          </p:cNvSpPr>
          <p:nvPr/>
        </p:nvSpPr>
        <p:spPr>
          <a:xfrm>
            <a:off x="1600200" y="3040196"/>
            <a:ext cx="1495425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AI boundary</a:t>
            </a:r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7A4E4A4B-C36F-43B5-8250-9078362FFFD0}"/>
              </a:ext>
            </a:extLst>
          </p:cNvPr>
          <p:cNvSpPr>
            <a:spLocks noGrp="1"/>
          </p:cNvSpPr>
          <p:nvPr/>
        </p:nvSpPr>
        <p:spPr>
          <a:xfrm>
            <a:off x="1600200" y="3325946"/>
            <a:ext cx="1457325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Python • gRPC</a:t>
            </a:r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BCBE303B-684D-4A79-B158-802A62A9D53F}"/>
              </a:ext>
            </a:extLst>
          </p:cNvPr>
          <p:cNvSpPr>
            <a:spLocks noGrp="1"/>
          </p:cNvSpPr>
          <p:nvPr/>
        </p:nvSpPr>
        <p:spPr>
          <a:xfrm>
            <a:off x="3562350" y="3040196"/>
            <a:ext cx="400050" cy="2286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20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20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AF91C35D-B5CA-446E-920A-E7DE523B39D8}"/>
              </a:ext>
            </a:extLst>
          </p:cNvPr>
          <p:cNvSpPr>
            <a:spLocks noGrp="1"/>
          </p:cNvSpPr>
          <p:nvPr/>
        </p:nvSpPr>
        <p:spPr>
          <a:xfrm>
            <a:off x="4019550" y="3040196"/>
            <a:ext cx="1495425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LLM/RAG</a:t>
            </a: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8A4045D2-98CF-4950-9849-05319921A791}"/>
              </a:ext>
            </a:extLst>
          </p:cNvPr>
          <p:cNvSpPr>
            <a:spLocks noGrp="1"/>
          </p:cNvSpPr>
          <p:nvPr/>
        </p:nvSpPr>
        <p:spPr>
          <a:xfrm>
            <a:off x="4019550" y="3325946"/>
            <a:ext cx="1457325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 fontScale="95178" lnSpcReduction="10000"/>
          </a:bodyPr>
          <a:lstStyle/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DeepSeek • Qdrant</a:t>
            </a:r>
          </a:p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BM25 + RRF</a:t>
            </a: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E943F0B6-FD82-4898-8B9B-66C5F1CA0223}"/>
              </a:ext>
            </a:extLst>
          </p:cNvPr>
          <p:cNvSpPr>
            <a:spLocks noGrp="1"/>
          </p:cNvSpPr>
          <p:nvPr/>
        </p:nvSpPr>
        <p:spPr>
          <a:xfrm>
            <a:off x="5981700" y="3040196"/>
            <a:ext cx="400050" cy="2286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20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20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2A2A4346-CCAA-4449-BA28-56A8DF11E400}"/>
              </a:ext>
            </a:extLst>
          </p:cNvPr>
          <p:cNvSpPr>
            <a:spLocks noGrp="1"/>
          </p:cNvSpPr>
          <p:nvPr/>
        </p:nvSpPr>
        <p:spPr>
          <a:xfrm>
            <a:off x="6438900" y="3040196"/>
            <a:ext cx="1495425" cy="2476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Speech</a:t>
            </a:r>
          </a:p>
        </p:txBody>
      </p:sp>
      <p:sp>
        <p:nvSpPr>
          <p:cNvPr id="552" name="Rectangle 551">
            <a:extLst>
              <a:ext uri="{FF2B5EF4-FFF2-40B4-BE49-F238E27FC236}">
                <a16:creationId xmlns:a16="http://schemas.microsoft.com/office/drawing/2014/main" id="{121AA7B1-9944-4160-B5A2-273C29EE0FB4}"/>
              </a:ext>
            </a:extLst>
          </p:cNvPr>
          <p:cNvSpPr>
            <a:spLocks noGrp="1"/>
          </p:cNvSpPr>
          <p:nvPr/>
        </p:nvSpPr>
        <p:spPr>
          <a:xfrm>
            <a:off x="6438900" y="3325946"/>
            <a:ext cx="1457325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 fontScale="95178" lnSpcReduction="10000"/>
          </a:bodyPr>
          <a:lstStyle/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AssemblyAI • Whisper</a:t>
            </a:r>
          </a:p>
          <a:p>
            <a:pPr algn="l">
              <a:buNone/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SenseVoice</a:t>
            </a:r>
          </a:p>
        </p:txBody>
      </p:sp>
      <p:sp>
        <p:nvSpPr>
          <p:cNvPr id="553" name="Rectangle: Rounded Corners 552">
            <a:extLst>
              <a:ext uri="{FF2B5EF4-FFF2-40B4-BE49-F238E27FC236}">
                <a16:creationId xmlns:a16="http://schemas.microsoft.com/office/drawing/2014/main" id="{E1DEB3AA-906B-4EA9-995B-55CB0A5B86A3}"/>
              </a:ext>
            </a:extLst>
          </p:cNvPr>
          <p:cNvSpPr>
            <a:spLocks noGrp="1"/>
          </p:cNvSpPr>
          <p:nvPr/>
        </p:nvSpPr>
        <p:spPr>
          <a:xfrm>
            <a:off x="1714500" y="4011746"/>
            <a:ext cx="5715000" cy="552450"/>
          </a:xfrm>
          <a:prstGeom prst="roundRect">
            <a:avLst>
              <a:gd name="adj" fmla="val 20690"/>
            </a:avLst>
          </a:prstGeom>
          <a:solidFill>
            <a:srgbClr val="F7EDC8"/>
          </a:solidFill>
          <a:ln w="12383">
            <a:solidFill>
              <a:srgbClr val="7A8378"/>
            </a:solidFill>
            <a:prstDash val="solid"/>
          </a:ln>
        </p:spPr>
      </p:sp>
      <p:sp>
        <p:nvSpPr>
          <p:cNvPr id="554" name="Rectangle 553">
            <a:extLst>
              <a:ext uri="{FF2B5EF4-FFF2-40B4-BE49-F238E27FC236}">
                <a16:creationId xmlns:a16="http://schemas.microsoft.com/office/drawing/2014/main" id="{7C0E1834-F4AE-4549-A2EF-2F1FDD2C0C8A}"/>
              </a:ext>
            </a:extLst>
          </p:cNvPr>
          <p:cNvSpPr>
            <a:spLocks noGrp="1"/>
          </p:cNvSpPr>
          <p:nvPr/>
        </p:nvSpPr>
        <p:spPr>
          <a:xfrm>
            <a:off x="1943100" y="4154621"/>
            <a:ext cx="400050" cy="2286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20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20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D7C3C62B-A403-401B-9C01-251F21B98CEA}"/>
              </a:ext>
            </a:extLst>
          </p:cNvPr>
          <p:cNvSpPr>
            <a:spLocks noGrp="1"/>
          </p:cNvSpPr>
          <p:nvPr/>
        </p:nvSpPr>
        <p:spPr>
          <a:xfrm>
            <a:off x="2328862" y="4154621"/>
            <a:ext cx="1190625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buNone/>
              <a:def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13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Vận hành</a:t>
            </a: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6DFD7AEE-8246-4ACB-A4CF-C3A54BF3E6D4}"/>
              </a:ext>
            </a:extLst>
          </p:cNvPr>
          <p:cNvSpPr>
            <a:spLocks noGrp="1"/>
          </p:cNvSpPr>
          <p:nvPr/>
        </p:nvSpPr>
        <p:spPr>
          <a:xfrm>
            <a:off x="3781425" y="4135571"/>
            <a:ext cx="3333750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r">
              <a:buNone/>
              <a:def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PayOS • audit • health • usage</a:t>
            </a:r>
          </a:p>
        </p:txBody>
      </p:sp>
    </p:spTree>
    <p:extLst>
      <p:ext uri="{BB962C8B-B14F-4D97-AF65-F5344CB8AC3E}">
        <p14:creationId xmlns:p14="http://schemas.microsoft.com/office/powerpoint/2010/main" val="10488725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8E96D7A-A6F2-4B27-AD77-9A02E17646B8}"/>
              </a:ext>
            </a:extLst>
          </p:cNvPr>
          <p:cNvSpPr>
            <a:spLocks noGrp="1"/>
          </p:cNvSpPr>
          <p:nvPr/>
        </p:nvSpPr>
        <p:spPr>
          <a:xfrm>
            <a:off x="714375" y="447675"/>
            <a:ext cx="771525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3000" b="0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3000" b="0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Quy mô hiện vật triển khai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73A637-419A-4D0E-A9A2-B3A7F1A78283}"/>
              </a:ext>
            </a:extLst>
          </p:cNvPr>
          <p:cNvSpPr>
            <a:spLocks noGrp="1"/>
          </p:cNvSpPr>
          <p:nvPr/>
        </p:nvSpPr>
        <p:spPr>
          <a:xfrm>
            <a:off x="714375" y="1028700"/>
            <a:ext cx="7715250" cy="2667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Các con số được đối chiếu trực tiếp từ repository và hợp đồng dịch vụ.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04D6CF-5EE2-44B1-8859-2BE47A226D4D}"/>
              </a:ext>
            </a:extLst>
          </p:cNvPr>
          <p:cNvSpPr>
            <a:spLocks noGrp="1"/>
          </p:cNvSpPr>
          <p:nvPr/>
        </p:nvSpPr>
        <p:spPr>
          <a:xfrm>
            <a:off x="1000125" y="1476375"/>
            <a:ext cx="3429000" cy="1066800"/>
          </a:xfrm>
          <a:prstGeom prst="roundRect">
            <a:avLst>
              <a:gd name="adj" fmla="val 7143"/>
            </a:avLst>
          </a:prstGeom>
          <a:solidFill>
            <a:srgbClr val="D7E7F1"/>
          </a:solidFill>
          <a:ln w="11430">
            <a:solidFill>
              <a:srgbClr val="6C766B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EBBAE6-24D8-4654-9A7F-071AF1D21E6E}"/>
              </a:ext>
            </a:extLst>
          </p:cNvPr>
          <p:cNvSpPr>
            <a:spLocks noGrp="1"/>
          </p:cNvSpPr>
          <p:nvPr/>
        </p:nvSpPr>
        <p:spPr>
          <a:xfrm>
            <a:off x="1114425" y="1609725"/>
            <a:ext cx="1619250" cy="7048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232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72.445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4070A6-D2B7-48A3-AED0-C51C993B36C9}"/>
              </a:ext>
            </a:extLst>
          </p:cNvPr>
          <p:cNvSpPr>
            <a:spLocks noGrp="1"/>
          </p:cNvSpPr>
          <p:nvPr/>
        </p:nvSpPr>
        <p:spPr>
          <a:xfrm>
            <a:off x="2762250" y="1666875"/>
            <a:ext cx="1524000" cy="6096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Dòng mã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A003D96-E842-4F95-9AD7-A8028D70EEE3}"/>
              </a:ext>
            </a:extLst>
          </p:cNvPr>
          <p:cNvSpPr>
            <a:spLocks noGrp="1"/>
          </p:cNvSpPr>
          <p:nvPr/>
        </p:nvSpPr>
        <p:spPr>
          <a:xfrm>
            <a:off x="4714875" y="1476375"/>
            <a:ext cx="3429000" cy="1066800"/>
          </a:xfrm>
          <a:prstGeom prst="roundRect">
            <a:avLst>
              <a:gd name="adj" fmla="val 7143"/>
            </a:avLst>
          </a:prstGeom>
          <a:solidFill>
            <a:srgbClr val="F7EDC8"/>
          </a:solidFill>
          <a:ln w="11430">
            <a:solidFill>
              <a:srgbClr val="6C766B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1B9C66-6C81-486B-9FFF-3F41E994A15A}"/>
              </a:ext>
            </a:extLst>
          </p:cNvPr>
          <p:cNvSpPr>
            <a:spLocks noGrp="1"/>
          </p:cNvSpPr>
          <p:nvPr/>
        </p:nvSpPr>
        <p:spPr>
          <a:xfrm>
            <a:off x="4829175" y="1609725"/>
            <a:ext cx="1619250" cy="7048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232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54 / 67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0C45B6-65EA-41C6-87AE-F5702DB43353}"/>
              </a:ext>
            </a:extLst>
          </p:cNvPr>
          <p:cNvSpPr>
            <a:spLocks noGrp="1"/>
          </p:cNvSpPr>
          <p:nvPr/>
        </p:nvSpPr>
        <p:spPr>
          <a:xfrm>
            <a:off x="6477000" y="1666875"/>
            <a:ext cx="1524000" cy="6096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Route files / HTTP methods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69415D9-F0B8-459D-91B6-9219E5FB3599}"/>
              </a:ext>
            </a:extLst>
          </p:cNvPr>
          <p:cNvSpPr>
            <a:spLocks noGrp="1"/>
          </p:cNvSpPr>
          <p:nvPr/>
        </p:nvSpPr>
        <p:spPr>
          <a:xfrm>
            <a:off x="1000125" y="2781300"/>
            <a:ext cx="3429000" cy="1066800"/>
          </a:xfrm>
          <a:prstGeom prst="roundRect">
            <a:avLst>
              <a:gd name="adj" fmla="val 7143"/>
            </a:avLst>
          </a:prstGeom>
          <a:solidFill>
            <a:srgbClr val="E4D9EE"/>
          </a:solidFill>
          <a:ln w="11430">
            <a:solidFill>
              <a:srgbClr val="6C766B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1FB08C-B63E-4C90-BCAC-83BF8EB0B7F3}"/>
              </a:ext>
            </a:extLst>
          </p:cNvPr>
          <p:cNvSpPr>
            <a:spLocks noGrp="1"/>
          </p:cNvSpPr>
          <p:nvPr/>
        </p:nvSpPr>
        <p:spPr>
          <a:xfrm>
            <a:off x="1114425" y="2914650"/>
            <a:ext cx="1619250" cy="7048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232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18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BCF45C-5003-4462-A8D6-40679936AE91}"/>
              </a:ext>
            </a:extLst>
          </p:cNvPr>
          <p:cNvSpPr>
            <a:spLocks noGrp="1"/>
          </p:cNvSpPr>
          <p:nvPr/>
        </p:nvSpPr>
        <p:spPr>
          <a:xfrm>
            <a:off x="2762250" y="2971800"/>
            <a:ext cx="1524000" cy="6096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Mongoose models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354595F-32B2-435F-8AB9-81EDC7447CD0}"/>
              </a:ext>
            </a:extLst>
          </p:cNvPr>
          <p:cNvSpPr>
            <a:spLocks noGrp="1"/>
          </p:cNvSpPr>
          <p:nvPr/>
        </p:nvSpPr>
        <p:spPr>
          <a:xfrm>
            <a:off x="4714875" y="2781300"/>
            <a:ext cx="3429000" cy="1066800"/>
          </a:xfrm>
          <a:prstGeom prst="roundRect">
            <a:avLst>
              <a:gd name="adj" fmla="val 7143"/>
            </a:avLst>
          </a:prstGeom>
          <a:solidFill>
            <a:srgbClr val="DFF0D6"/>
          </a:solidFill>
          <a:ln w="11430">
            <a:solidFill>
              <a:srgbClr val="6C766B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83B03F-72FE-4231-849A-B5A82AAC9926}"/>
              </a:ext>
            </a:extLst>
          </p:cNvPr>
          <p:cNvSpPr>
            <a:spLocks noGrp="1"/>
          </p:cNvSpPr>
          <p:nvPr/>
        </p:nvSpPr>
        <p:spPr>
          <a:xfrm>
            <a:off x="4829175" y="2914650"/>
            <a:ext cx="1619250" cy="7048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232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14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930E96-B15B-4D93-8E83-1A335BBB9784}"/>
              </a:ext>
            </a:extLst>
          </p:cNvPr>
          <p:cNvSpPr>
            <a:spLocks noGrp="1"/>
          </p:cNvSpPr>
          <p:nvPr/>
        </p:nvSpPr>
        <p:spPr>
          <a:xfrm>
            <a:off x="6477000" y="2971800"/>
            <a:ext cx="1524000" cy="6096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gRPC RPCs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586EAF8-DA60-4D8F-AD35-A37A8FC2D057}"/>
              </a:ext>
            </a:extLst>
          </p:cNvPr>
          <p:cNvSpPr>
            <a:spLocks noGrp="1"/>
          </p:cNvSpPr>
          <p:nvPr/>
        </p:nvSpPr>
        <p:spPr>
          <a:xfrm>
            <a:off x="2190750" y="4248150"/>
            <a:ext cx="4762500" cy="3619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 fontScale="90001" lnSpcReduction="20000"/>
          </a:bodyPr>
          <a:lstStyle/>
          <a:p>
            <a:pPr algn="ctr">
              <a:buNone/>
              <a:def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75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468 tệp văn bản • 39 trang frontend • 86 rule files</a:t>
            </a:r>
          </a:p>
        </p:txBody>
      </p:sp>
    </p:spTree>
    <p:extLst>
      <p:ext uri="{BB962C8B-B14F-4D97-AF65-F5344CB8AC3E}">
        <p14:creationId xmlns:p14="http://schemas.microsoft.com/office/powerpoint/2010/main" val="12218059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107">
            <a:extLst>
              <a:ext uri="{FF2B5EF4-FFF2-40B4-BE49-F238E27FC236}">
                <a16:creationId xmlns:a16="http://schemas.microsoft.com/office/drawing/2014/main" id="{C899282A-0A1A-45B5-BA8D-99C8BEFA7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55176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72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72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Xác minh kỹ thuật đạt; hiệu lực tuyển dụng chưa được chứng minh</a:t>
            </a:r>
            <a:endParaRPr/>
          </a:p>
        </p:txBody>
      </p:sp>
      <p:sp>
        <p:nvSpPr>
          <p:cNvPr id="1379" name="Rectangle: Rounded Corners 1378">
            <a:extLst>
              <a:ext uri="{FF2B5EF4-FFF2-40B4-BE49-F238E27FC236}">
                <a16:creationId xmlns:a16="http://schemas.microsoft.com/office/drawing/2014/main" id="{A37E9106-E909-4101-9B73-474F6EA59DA4}"/>
              </a:ext>
            </a:extLst>
          </p:cNvPr>
          <p:cNvSpPr>
            <a:spLocks noGrp="1"/>
          </p:cNvSpPr>
          <p:nvPr/>
        </p:nvSpPr>
        <p:spPr>
          <a:xfrm>
            <a:off x="1809750" y="4229100"/>
            <a:ext cx="5524500" cy="3619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 fontScale="91290" lnSpcReduction="20000"/>
          </a:bodyPr>
          <a:lstStyle/>
          <a:p>
            <a:pPr algn="ctr">
              <a:buNone/>
              <a:defRPr sz="96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96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Kiểm tra bổ sung: TypeScript ✓ • corpus provenance ✓ • backend 38/38 ✓</a:t>
            </a:r>
          </a:p>
        </p:txBody>
      </p:sp>
      <p:sp>
        <p:nvSpPr>
          <p:cNvPr id="1380" name="Rectangle: Rounded Corners 1379">
            <a:extLst>
              <a:ext uri="{FF2B5EF4-FFF2-40B4-BE49-F238E27FC236}">
                <a16:creationId xmlns:a16="http://schemas.microsoft.com/office/drawing/2014/main" id="{F1E4A13E-F2FF-4CCC-9AA9-E6C6F5BBD68F}"/>
              </a:ext>
            </a:extLst>
          </p:cNvPr>
          <p:cNvSpPr>
            <a:spLocks noGrp="1"/>
          </p:cNvSpPr>
          <p:nvPr/>
        </p:nvSpPr>
        <p:spPr>
          <a:xfrm>
            <a:off x="809625" y="1482250"/>
            <a:ext cx="2286000" cy="2381250"/>
          </a:xfrm>
          <a:prstGeom prst="roundRect">
            <a:avLst>
              <a:gd name="adj" fmla="val 3333"/>
            </a:avLst>
          </a:prstGeom>
          <a:solidFill>
            <a:srgbClr val="D7E7F1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381" name="Rectangle: Rounded Corners 1380">
            <a:extLst>
              <a:ext uri="{FF2B5EF4-FFF2-40B4-BE49-F238E27FC236}">
                <a16:creationId xmlns:a16="http://schemas.microsoft.com/office/drawing/2014/main" id="{7C8B4CC4-D2D6-4614-8F5A-5C87E41E7CC7}"/>
              </a:ext>
            </a:extLst>
          </p:cNvPr>
          <p:cNvSpPr>
            <a:spLocks noGrp="1"/>
          </p:cNvSpPr>
          <p:nvPr/>
        </p:nvSpPr>
        <p:spPr>
          <a:xfrm>
            <a:off x="3286125" y="1482250"/>
            <a:ext cx="2286000" cy="2381250"/>
          </a:xfrm>
          <a:prstGeom prst="roundRect">
            <a:avLst>
              <a:gd name="adj" fmla="val 3333"/>
            </a:avLst>
          </a:prstGeom>
          <a:solidFill>
            <a:srgbClr val="E4D9EE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382" name="Rectangle: Rounded Corners 1381">
            <a:extLst>
              <a:ext uri="{FF2B5EF4-FFF2-40B4-BE49-F238E27FC236}">
                <a16:creationId xmlns:a16="http://schemas.microsoft.com/office/drawing/2014/main" id="{6858102E-7148-4326-A344-7C14D1993D9E}"/>
              </a:ext>
            </a:extLst>
          </p:cNvPr>
          <p:cNvSpPr>
            <a:spLocks noGrp="1"/>
          </p:cNvSpPr>
          <p:nvPr/>
        </p:nvSpPr>
        <p:spPr>
          <a:xfrm>
            <a:off x="5762625" y="1482250"/>
            <a:ext cx="2286000" cy="2381250"/>
          </a:xfrm>
          <a:prstGeom prst="roundRect">
            <a:avLst>
              <a:gd name="adj" fmla="val 3333"/>
            </a:avLst>
          </a:prstGeom>
          <a:solidFill>
            <a:srgbClr val="DFF0D6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383" name="Rectangle 1382">
            <a:extLst>
              <a:ext uri="{FF2B5EF4-FFF2-40B4-BE49-F238E27FC236}">
                <a16:creationId xmlns:a16="http://schemas.microsoft.com/office/drawing/2014/main" id="{6B356D0B-B164-4131-8D29-168BC1ABA7C9}"/>
              </a:ext>
            </a:extLst>
          </p:cNvPr>
          <p:cNvSpPr>
            <a:spLocks noGrp="1"/>
          </p:cNvSpPr>
          <p:nvPr/>
        </p:nvSpPr>
        <p:spPr>
          <a:xfrm>
            <a:off x="857250" y="1958500"/>
            <a:ext cx="2190750" cy="6858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25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38/38</a:t>
            </a:r>
          </a:p>
        </p:txBody>
      </p:sp>
      <p:sp>
        <p:nvSpPr>
          <p:cNvPr id="1384" name="Rectangle 1383">
            <a:extLst>
              <a:ext uri="{FF2B5EF4-FFF2-40B4-BE49-F238E27FC236}">
                <a16:creationId xmlns:a16="http://schemas.microsoft.com/office/drawing/2014/main" id="{E552E665-FEA5-4EE0-9F70-AB2DFBB288ED}"/>
              </a:ext>
            </a:extLst>
          </p:cNvPr>
          <p:cNvSpPr>
            <a:spLocks noGrp="1"/>
          </p:cNvSpPr>
          <p:nvPr/>
        </p:nvSpPr>
        <p:spPr>
          <a:xfrm>
            <a:off x="857250" y="2768125"/>
            <a:ext cx="2190750" cy="3810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3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Backend tests</a:t>
            </a:r>
          </a:p>
        </p:txBody>
      </p:sp>
      <p:sp>
        <p:nvSpPr>
          <p:cNvPr id="1385" name="Rectangle 1384">
            <a:extLst>
              <a:ext uri="{FF2B5EF4-FFF2-40B4-BE49-F238E27FC236}">
                <a16:creationId xmlns:a16="http://schemas.microsoft.com/office/drawing/2014/main" id="{C11791BD-9189-432F-9CEF-47839E8BF308}"/>
              </a:ext>
            </a:extLst>
          </p:cNvPr>
          <p:cNvSpPr>
            <a:spLocks noGrp="1"/>
          </p:cNvSpPr>
          <p:nvPr/>
        </p:nvSpPr>
        <p:spPr>
          <a:xfrm>
            <a:off x="857250" y="3244375"/>
            <a:ext cx="2190750" cy="428625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Đạt trong 4,106 giây</a:t>
            </a:r>
          </a:p>
        </p:txBody>
      </p:sp>
      <p:sp>
        <p:nvSpPr>
          <p:cNvPr id="1386" name="Rectangle 1385">
            <a:extLst>
              <a:ext uri="{FF2B5EF4-FFF2-40B4-BE49-F238E27FC236}">
                <a16:creationId xmlns:a16="http://schemas.microsoft.com/office/drawing/2014/main" id="{4700D79C-D96B-4CB8-AD26-314B7414442A}"/>
              </a:ext>
            </a:extLst>
          </p:cNvPr>
          <p:cNvSpPr>
            <a:spLocks noGrp="1"/>
          </p:cNvSpPr>
          <p:nvPr/>
        </p:nvSpPr>
        <p:spPr>
          <a:xfrm>
            <a:off x="3333750" y="1958500"/>
            <a:ext cx="2190750" cy="6858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25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86</a:t>
            </a:r>
          </a:p>
        </p:txBody>
      </p:sp>
      <p:sp>
        <p:nvSpPr>
          <p:cNvPr id="1387" name="Rectangle 1386">
            <a:extLst>
              <a:ext uri="{FF2B5EF4-FFF2-40B4-BE49-F238E27FC236}">
                <a16:creationId xmlns:a16="http://schemas.microsoft.com/office/drawing/2014/main" id="{DF481AC0-BAD1-497F-B26C-FE8047812B7E}"/>
              </a:ext>
            </a:extLst>
          </p:cNvPr>
          <p:cNvSpPr>
            <a:spLocks noGrp="1"/>
          </p:cNvSpPr>
          <p:nvPr/>
        </p:nvSpPr>
        <p:spPr>
          <a:xfrm>
            <a:off x="3333750" y="2768125"/>
            <a:ext cx="2190750" cy="3810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3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Rule files</a:t>
            </a:r>
          </a:p>
        </p:txBody>
      </p:sp>
      <p:sp>
        <p:nvSpPr>
          <p:cNvPr id="1388" name="Rectangle 1387">
            <a:extLst>
              <a:ext uri="{FF2B5EF4-FFF2-40B4-BE49-F238E27FC236}">
                <a16:creationId xmlns:a16="http://schemas.microsoft.com/office/drawing/2014/main" id="{75109972-AC79-47A2-AAD1-B195FE8FDB43}"/>
              </a:ext>
            </a:extLst>
          </p:cNvPr>
          <p:cNvSpPr>
            <a:spLocks noGrp="1"/>
          </p:cNvSpPr>
          <p:nvPr/>
        </p:nvSpPr>
        <p:spPr>
          <a:xfrm>
            <a:off x="3333750" y="3244375"/>
            <a:ext cx="2190750" cy="428625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15 ngành • 60 profile</a:t>
            </a:r>
          </a:p>
        </p:txBody>
      </p:sp>
      <p:sp>
        <p:nvSpPr>
          <p:cNvPr id="1389" name="Rectangle 1388">
            <a:extLst>
              <a:ext uri="{FF2B5EF4-FFF2-40B4-BE49-F238E27FC236}">
                <a16:creationId xmlns:a16="http://schemas.microsoft.com/office/drawing/2014/main" id="{B0840507-0721-4525-ACB6-D53A31EDDA28}"/>
              </a:ext>
            </a:extLst>
          </p:cNvPr>
          <p:cNvSpPr>
            <a:spLocks noGrp="1"/>
          </p:cNvSpPr>
          <p:nvPr/>
        </p:nvSpPr>
        <p:spPr>
          <a:xfrm>
            <a:off x="5810250" y="1958500"/>
            <a:ext cx="2190750" cy="6858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25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14</a:t>
            </a:r>
          </a:p>
        </p:txBody>
      </p:sp>
      <p:sp>
        <p:nvSpPr>
          <p:cNvPr id="1390" name="Rectangle 1389">
            <a:extLst>
              <a:ext uri="{FF2B5EF4-FFF2-40B4-BE49-F238E27FC236}">
                <a16:creationId xmlns:a16="http://schemas.microsoft.com/office/drawing/2014/main" id="{5DD21593-DA98-48AF-9E04-DBBFBF2E58F7}"/>
              </a:ext>
            </a:extLst>
          </p:cNvPr>
          <p:cNvSpPr>
            <a:spLocks noGrp="1"/>
          </p:cNvSpPr>
          <p:nvPr/>
        </p:nvSpPr>
        <p:spPr>
          <a:xfrm>
            <a:off x="5810250" y="2768125"/>
            <a:ext cx="2190750" cy="3810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3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3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gRPC RPCs</a:t>
            </a:r>
          </a:p>
        </p:txBody>
      </p:sp>
      <p:sp>
        <p:nvSpPr>
          <p:cNvPr id="1391" name="Rectangle 1390">
            <a:extLst>
              <a:ext uri="{FF2B5EF4-FFF2-40B4-BE49-F238E27FC236}">
                <a16:creationId xmlns:a16="http://schemas.microsoft.com/office/drawing/2014/main" id="{6DB569BE-D4C1-4189-8309-8AAFFC9D5AC5}"/>
              </a:ext>
            </a:extLst>
          </p:cNvPr>
          <p:cNvSpPr>
            <a:spLocks noGrp="1"/>
          </p:cNvSpPr>
          <p:nvPr/>
        </p:nvSpPr>
        <p:spPr>
          <a:xfrm>
            <a:off x="5810250" y="3244375"/>
            <a:ext cx="2190750" cy="428625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Biên typed TS ↔ Python</a:t>
            </a:r>
          </a:p>
        </p:txBody>
      </p:sp>
    </p:spTree>
    <p:extLst>
      <p:ext uri="{BB962C8B-B14F-4D97-AF65-F5344CB8AC3E}">
        <p14:creationId xmlns:p14="http://schemas.microsoft.com/office/powerpoint/2010/main" val="5130691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89">
            <a:extLst>
              <a:ext uri="{FF2B5EF4-FFF2-40B4-BE49-F238E27FC236}">
                <a16:creationId xmlns:a16="http://schemas.microsoft.com/office/drawing/2014/main" id="{B80505C1-D139-4E6F-B241-4EDD8383E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DeepSeek/RAG được kiểm soát ở ba điểm</a:t>
            </a:r>
            <a:endParaRPr/>
          </a:p>
        </p:txBody>
      </p:sp>
      <p:sp>
        <p:nvSpPr>
          <p:cNvPr id="879" name="Google Shape;879;p89">
            <a:extLst>
              <a:ext uri="{FF2B5EF4-FFF2-40B4-BE49-F238E27FC236}">
                <a16:creationId xmlns:a16="http://schemas.microsoft.com/office/drawing/2014/main" id="{3CA5FC07-BBDC-41E9-B696-E8A20C09E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000" y="198564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7549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Trong khi sinh</a:t>
            </a:r>
            <a:endParaRPr/>
          </a:p>
        </p:txBody>
      </p:sp>
      <p:sp>
        <p:nvSpPr>
          <p:cNvPr id="880" name="Google Shape;880;p89">
            <a:extLst>
              <a:ext uri="{FF2B5EF4-FFF2-40B4-BE49-F238E27FC236}">
                <a16:creationId xmlns:a16="http://schemas.microsoft.com/office/drawing/2014/main" id="{EF39F8F5-6F9C-4AD1-A1A7-6AF6553B313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09025" y="246189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Prompt yêu cầu JSON cấu trúc và citation.</a:t>
            </a:r>
            <a:endParaRPr/>
          </a:p>
        </p:txBody>
      </p:sp>
      <p:sp>
        <p:nvSpPr>
          <p:cNvPr id="881" name="Google Shape;881;p89">
            <a:extLst>
              <a:ext uri="{FF2B5EF4-FFF2-40B4-BE49-F238E27FC236}">
                <a16:creationId xmlns:a16="http://schemas.microsoft.com/office/drawing/2014/main" id="{C88A62D0-4E84-4E92-B593-050E06D733E3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53025" y="198564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7549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Trước khi sinh</a:t>
            </a:r>
            <a:endParaRPr/>
          </a:p>
        </p:txBody>
      </p:sp>
      <p:sp>
        <p:nvSpPr>
          <p:cNvPr id="882" name="Google Shape;882;p89">
            <a:extLst>
              <a:ext uri="{FF2B5EF4-FFF2-40B4-BE49-F238E27FC236}">
                <a16:creationId xmlns:a16="http://schemas.microsoft.com/office/drawing/2014/main" id="{9CC2C9A1-3486-4DDC-8306-0E6DB01EB392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953125" y="246189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Context chuẩn hóa; evidence có ID và metadata.</a:t>
            </a:r>
            <a:endParaRPr/>
          </a:p>
        </p:txBody>
      </p:sp>
      <p:sp>
        <p:nvSpPr>
          <p:cNvPr id="883" name="Google Shape;883;p89">
            <a:extLst>
              <a:ext uri="{FF2B5EF4-FFF2-40B4-BE49-F238E27FC236}">
                <a16:creationId xmlns:a16="http://schemas.microsoft.com/office/drawing/2014/main" id="{48848221-E426-48C1-8D92-9FB117774ADA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64875" y="198564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498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Sau khi sinh</a:t>
            </a:r>
            <a:endParaRPr/>
          </a:p>
        </p:txBody>
      </p:sp>
      <p:sp>
        <p:nvSpPr>
          <p:cNvPr id="884" name="Google Shape;884;p89">
            <a:extLst>
              <a:ext uri="{FF2B5EF4-FFF2-40B4-BE49-F238E27FC236}">
                <a16:creationId xmlns:a16="http://schemas.microsoft.com/office/drawing/2014/main" id="{C0EDBC46-FF58-48B4-B107-BA09682687A5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64875" y="246189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Schema validation, repair và grounding allow-list.</a:t>
            </a:r>
            <a:endParaRPr/>
          </a:p>
        </p:txBody>
      </p:sp>
      <p:sp>
        <p:nvSpPr>
          <p:cNvPr id="886" name="Google Shape;886;p89">
            <a:extLst>
              <a:ext uri="{FF2B5EF4-FFF2-40B4-BE49-F238E27FC236}">
                <a16:creationId xmlns:a16="http://schemas.microsoft.com/office/drawing/2014/main" id="{E3C6DD10-53BB-45CE-839E-D57514AC5269}"/>
              </a:ext>
            </a:extLst>
          </p:cNvPr>
          <p:cNvSpPr>
            <a:spLocks noGrp="1"/>
          </p:cNvSpPr>
          <p:nvPr/>
        </p:nvSpPr>
        <p:spPr>
          <a:xfrm>
            <a:off x="4608858" y="1768752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410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410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4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89">
            <a:extLst>
              <a:ext uri="{FF2B5EF4-FFF2-40B4-BE49-F238E27FC236}">
                <a16:creationId xmlns:a16="http://schemas.microsoft.com/office/drawing/2014/main" id="{24BC3697-5925-45C7-BC3D-98580AD0D4FB}"/>
              </a:ext>
            </a:extLst>
          </p:cNvPr>
          <p:cNvSpPr>
            <a:spLocks noGrp="1"/>
          </p:cNvSpPr>
          <p:nvPr/>
        </p:nvSpPr>
        <p:spPr>
          <a:xfrm>
            <a:off x="4506559" y="1666358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378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378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3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p89">
            <a:extLst>
              <a:ext uri="{FF2B5EF4-FFF2-40B4-BE49-F238E27FC236}">
                <a16:creationId xmlns:a16="http://schemas.microsoft.com/office/drawing/2014/main" id="{E7A06639-7743-4E01-9D33-A0DD094D5D3D}"/>
              </a:ext>
            </a:extLst>
          </p:cNvPr>
          <p:cNvSpPr>
            <a:spLocks noGrp="1"/>
          </p:cNvSpPr>
          <p:nvPr/>
        </p:nvSpPr>
        <p:spPr>
          <a:xfrm>
            <a:off x="4345507" y="1505609"/>
            <a:ext cx="453177" cy="452952"/>
          </a:xfrm>
          <a:custGeom>
            <a:avLst/>
            <a:gdLst/>
            <a:ahLst/>
            <a:cxnLst/>
            <a:rect l="l" t="t" r="r" b="b"/>
            <a:pathLst>
              <a:path w="12414" h="12406">
                <a:moveTo>
                  <a:pt x="4506" y="3332"/>
                </a:moveTo>
                <a:cubicBezTo>
                  <a:pt x="5167" y="3332"/>
                  <a:pt x="5735" y="3867"/>
                  <a:pt x="5735" y="4561"/>
                </a:cubicBezTo>
                <a:cubicBezTo>
                  <a:pt x="5735" y="5222"/>
                  <a:pt x="5199" y="5821"/>
                  <a:pt x="4506" y="5821"/>
                </a:cubicBezTo>
                <a:cubicBezTo>
                  <a:pt x="3844" y="5821"/>
                  <a:pt x="3277" y="5254"/>
                  <a:pt x="3277" y="4561"/>
                </a:cubicBezTo>
                <a:cubicBezTo>
                  <a:pt x="3277" y="3899"/>
                  <a:pt x="3844" y="3332"/>
                  <a:pt x="4506" y="3332"/>
                </a:cubicBezTo>
                <a:close/>
                <a:moveTo>
                  <a:pt x="7830" y="4159"/>
                </a:moveTo>
                <a:cubicBezTo>
                  <a:pt x="7940" y="4159"/>
                  <a:pt x="8050" y="4198"/>
                  <a:pt x="8129" y="4277"/>
                </a:cubicBezTo>
                <a:cubicBezTo>
                  <a:pt x="8286" y="4435"/>
                  <a:pt x="8286" y="4718"/>
                  <a:pt x="8129" y="4876"/>
                </a:cubicBezTo>
                <a:lnTo>
                  <a:pt x="4821" y="8184"/>
                </a:lnTo>
                <a:cubicBezTo>
                  <a:pt x="4742" y="8262"/>
                  <a:pt x="4632" y="8302"/>
                  <a:pt x="4522" y="8302"/>
                </a:cubicBezTo>
                <a:cubicBezTo>
                  <a:pt x="4411" y="8302"/>
                  <a:pt x="4301" y="8262"/>
                  <a:pt x="4222" y="8184"/>
                </a:cubicBezTo>
                <a:cubicBezTo>
                  <a:pt x="4065" y="8026"/>
                  <a:pt x="4065" y="7743"/>
                  <a:pt x="4222" y="7585"/>
                </a:cubicBezTo>
                <a:lnTo>
                  <a:pt x="7530" y="4277"/>
                </a:lnTo>
                <a:cubicBezTo>
                  <a:pt x="7609" y="4198"/>
                  <a:pt x="7719" y="4159"/>
                  <a:pt x="7830" y="4159"/>
                </a:cubicBezTo>
                <a:close/>
                <a:moveTo>
                  <a:pt x="7845" y="6640"/>
                </a:moveTo>
                <a:cubicBezTo>
                  <a:pt x="8539" y="6640"/>
                  <a:pt x="9074" y="7175"/>
                  <a:pt x="9074" y="7900"/>
                </a:cubicBezTo>
                <a:cubicBezTo>
                  <a:pt x="9074" y="8562"/>
                  <a:pt x="8539" y="9129"/>
                  <a:pt x="7845" y="9129"/>
                </a:cubicBezTo>
                <a:cubicBezTo>
                  <a:pt x="7184" y="9129"/>
                  <a:pt x="6648" y="8562"/>
                  <a:pt x="6648" y="7900"/>
                </a:cubicBezTo>
                <a:cubicBezTo>
                  <a:pt x="6648" y="7239"/>
                  <a:pt x="7184" y="6640"/>
                  <a:pt x="7845" y="6640"/>
                </a:cubicBezTo>
                <a:close/>
                <a:moveTo>
                  <a:pt x="6223" y="0"/>
                </a:moveTo>
                <a:cubicBezTo>
                  <a:pt x="6113" y="0"/>
                  <a:pt x="6002" y="40"/>
                  <a:pt x="5924" y="118"/>
                </a:cubicBezTo>
                <a:lnTo>
                  <a:pt x="4348" y="1694"/>
                </a:lnTo>
                <a:lnTo>
                  <a:pt x="2111" y="1694"/>
                </a:lnTo>
                <a:cubicBezTo>
                  <a:pt x="1859" y="1694"/>
                  <a:pt x="1702" y="1883"/>
                  <a:pt x="1702" y="2072"/>
                </a:cubicBezTo>
                <a:lnTo>
                  <a:pt x="1702" y="4309"/>
                </a:lnTo>
                <a:lnTo>
                  <a:pt x="127" y="5884"/>
                </a:lnTo>
                <a:cubicBezTo>
                  <a:pt x="1" y="6041"/>
                  <a:pt x="1" y="6325"/>
                  <a:pt x="127" y="6482"/>
                </a:cubicBezTo>
                <a:lnTo>
                  <a:pt x="1702" y="8058"/>
                </a:lnTo>
                <a:lnTo>
                  <a:pt x="1702" y="10294"/>
                </a:lnTo>
                <a:cubicBezTo>
                  <a:pt x="1702" y="10547"/>
                  <a:pt x="1922" y="10704"/>
                  <a:pt x="2111" y="10704"/>
                </a:cubicBezTo>
                <a:lnTo>
                  <a:pt x="4348" y="10704"/>
                </a:lnTo>
                <a:lnTo>
                  <a:pt x="5924" y="12279"/>
                </a:lnTo>
                <a:cubicBezTo>
                  <a:pt x="6018" y="12342"/>
                  <a:pt x="6113" y="12405"/>
                  <a:pt x="6207" y="12405"/>
                </a:cubicBezTo>
                <a:cubicBezTo>
                  <a:pt x="6333" y="12405"/>
                  <a:pt x="6396" y="12342"/>
                  <a:pt x="6491" y="12279"/>
                </a:cubicBezTo>
                <a:lnTo>
                  <a:pt x="8066" y="10704"/>
                </a:lnTo>
                <a:lnTo>
                  <a:pt x="10303" y="10704"/>
                </a:lnTo>
                <a:cubicBezTo>
                  <a:pt x="10523" y="10704"/>
                  <a:pt x="10744" y="10515"/>
                  <a:pt x="10744" y="10294"/>
                </a:cubicBezTo>
                <a:lnTo>
                  <a:pt x="10744" y="8058"/>
                </a:lnTo>
                <a:lnTo>
                  <a:pt x="12319" y="6482"/>
                </a:lnTo>
                <a:cubicBezTo>
                  <a:pt x="12382" y="6419"/>
                  <a:pt x="12414" y="6293"/>
                  <a:pt x="12414" y="6199"/>
                </a:cubicBezTo>
                <a:cubicBezTo>
                  <a:pt x="12414" y="6104"/>
                  <a:pt x="12382" y="6010"/>
                  <a:pt x="12319" y="5947"/>
                </a:cubicBezTo>
                <a:lnTo>
                  <a:pt x="10744" y="4372"/>
                </a:lnTo>
                <a:lnTo>
                  <a:pt x="10744" y="2103"/>
                </a:lnTo>
                <a:cubicBezTo>
                  <a:pt x="10744" y="1851"/>
                  <a:pt x="10523" y="1694"/>
                  <a:pt x="10334" y="1694"/>
                </a:cubicBezTo>
                <a:lnTo>
                  <a:pt x="8097" y="1694"/>
                </a:lnTo>
                <a:lnTo>
                  <a:pt x="6522" y="118"/>
                </a:lnTo>
                <a:cubicBezTo>
                  <a:pt x="6443" y="40"/>
                  <a:pt x="6333" y="0"/>
                  <a:pt x="62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89">
            <a:extLst>
              <a:ext uri="{FF2B5EF4-FFF2-40B4-BE49-F238E27FC236}">
                <a16:creationId xmlns:a16="http://schemas.microsoft.com/office/drawing/2014/main" id="{85BEDD93-6C91-4096-9ADC-C8CE5B50E137}"/>
              </a:ext>
            </a:extLst>
          </p:cNvPr>
          <p:cNvSpPr>
            <a:spLocks noGrp="1"/>
          </p:cNvSpPr>
          <p:nvPr/>
        </p:nvSpPr>
        <p:spPr>
          <a:xfrm>
            <a:off x="1786474" y="1504839"/>
            <a:ext cx="460033" cy="454301"/>
          </a:xfrm>
          <a:custGeom>
            <a:avLst/>
            <a:gdLst/>
            <a:ahLst/>
            <a:cxnLst/>
            <a:rect l="l" t="t" r="r" b="b"/>
            <a:pathLst>
              <a:path w="12603" h="12446">
                <a:moveTo>
                  <a:pt x="11136" y="1"/>
                </a:moveTo>
                <a:cubicBezTo>
                  <a:pt x="11054" y="1"/>
                  <a:pt x="10975" y="1"/>
                  <a:pt x="10902" y="1"/>
                </a:cubicBezTo>
                <a:cubicBezTo>
                  <a:pt x="10429" y="1"/>
                  <a:pt x="10051" y="159"/>
                  <a:pt x="9736" y="474"/>
                </a:cubicBezTo>
                <a:lnTo>
                  <a:pt x="3561" y="6649"/>
                </a:lnTo>
                <a:lnTo>
                  <a:pt x="2301" y="6428"/>
                </a:lnTo>
                <a:cubicBezTo>
                  <a:pt x="2278" y="6423"/>
                  <a:pt x="2253" y="6420"/>
                  <a:pt x="2229" y="6420"/>
                </a:cubicBezTo>
                <a:cubicBezTo>
                  <a:pt x="2119" y="6420"/>
                  <a:pt x="2000" y="6471"/>
                  <a:pt x="1923" y="6523"/>
                </a:cubicBezTo>
                <a:lnTo>
                  <a:pt x="158" y="8319"/>
                </a:lnTo>
                <a:cubicBezTo>
                  <a:pt x="32" y="8382"/>
                  <a:pt x="1" y="8539"/>
                  <a:pt x="32" y="8697"/>
                </a:cubicBezTo>
                <a:cubicBezTo>
                  <a:pt x="95" y="8823"/>
                  <a:pt x="190" y="8949"/>
                  <a:pt x="347" y="8980"/>
                </a:cubicBezTo>
                <a:lnTo>
                  <a:pt x="2994" y="9484"/>
                </a:lnTo>
                <a:lnTo>
                  <a:pt x="3498" y="12131"/>
                </a:lnTo>
                <a:cubicBezTo>
                  <a:pt x="3561" y="12288"/>
                  <a:pt x="3624" y="12414"/>
                  <a:pt x="3782" y="12446"/>
                </a:cubicBezTo>
                <a:lnTo>
                  <a:pt x="3908" y="12446"/>
                </a:lnTo>
                <a:cubicBezTo>
                  <a:pt x="4034" y="12446"/>
                  <a:pt x="4128" y="12414"/>
                  <a:pt x="4254" y="12414"/>
                </a:cubicBezTo>
                <a:lnTo>
                  <a:pt x="6018" y="10619"/>
                </a:lnTo>
                <a:cubicBezTo>
                  <a:pt x="6144" y="10556"/>
                  <a:pt x="6176" y="10398"/>
                  <a:pt x="6144" y="10272"/>
                </a:cubicBezTo>
                <a:lnTo>
                  <a:pt x="5924" y="9012"/>
                </a:lnTo>
                <a:lnTo>
                  <a:pt x="12099" y="2837"/>
                </a:lnTo>
                <a:cubicBezTo>
                  <a:pt x="12414" y="2522"/>
                  <a:pt x="12571" y="2081"/>
                  <a:pt x="12571" y="1671"/>
                </a:cubicBezTo>
                <a:cubicBezTo>
                  <a:pt x="12571" y="1199"/>
                  <a:pt x="12603" y="600"/>
                  <a:pt x="12288" y="285"/>
                </a:cubicBezTo>
                <a:cubicBezTo>
                  <a:pt x="12025" y="22"/>
                  <a:pt x="11544" y="1"/>
                  <a:pt x="1113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89">
            <a:extLst>
              <a:ext uri="{FF2B5EF4-FFF2-40B4-BE49-F238E27FC236}">
                <a16:creationId xmlns:a16="http://schemas.microsoft.com/office/drawing/2014/main" id="{365D6EB8-6A65-4086-96D1-2A6A49F1013C}"/>
              </a:ext>
            </a:extLst>
          </p:cNvPr>
          <p:cNvSpPr>
            <a:spLocks noGrp="1"/>
          </p:cNvSpPr>
          <p:nvPr/>
        </p:nvSpPr>
        <p:spPr>
          <a:xfrm>
            <a:off x="1801132" y="1563454"/>
            <a:ext cx="255361" cy="130378"/>
          </a:xfrm>
          <a:custGeom>
            <a:avLst/>
            <a:gdLst/>
            <a:ahLst/>
            <a:cxnLst/>
            <a:rect l="l" t="t" r="r" b="b"/>
            <a:pathLst>
              <a:path w="6995" h="3570">
                <a:moveTo>
                  <a:pt x="1632" y="1"/>
                </a:moveTo>
                <a:cubicBezTo>
                  <a:pt x="1523" y="1"/>
                  <a:pt x="1407" y="57"/>
                  <a:pt x="1355" y="135"/>
                </a:cubicBezTo>
                <a:lnTo>
                  <a:pt x="158" y="1301"/>
                </a:lnTo>
                <a:cubicBezTo>
                  <a:pt x="95" y="1395"/>
                  <a:pt x="0" y="1553"/>
                  <a:pt x="32" y="1710"/>
                </a:cubicBezTo>
                <a:cubicBezTo>
                  <a:pt x="126" y="1773"/>
                  <a:pt x="189" y="1899"/>
                  <a:pt x="315" y="1931"/>
                </a:cubicBezTo>
                <a:lnTo>
                  <a:pt x="4317" y="3569"/>
                </a:lnTo>
                <a:lnTo>
                  <a:pt x="6995" y="891"/>
                </a:lnTo>
                <a:lnTo>
                  <a:pt x="1702" y="9"/>
                </a:lnTo>
                <a:cubicBezTo>
                  <a:pt x="1679" y="4"/>
                  <a:pt x="1656" y="1"/>
                  <a:pt x="163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89">
            <a:extLst>
              <a:ext uri="{FF2B5EF4-FFF2-40B4-BE49-F238E27FC236}">
                <a16:creationId xmlns:a16="http://schemas.microsoft.com/office/drawing/2014/main" id="{732BE817-7B71-4205-8905-C60886E85AE9}"/>
              </a:ext>
            </a:extLst>
          </p:cNvPr>
          <p:cNvSpPr>
            <a:spLocks noGrp="1"/>
          </p:cNvSpPr>
          <p:nvPr/>
        </p:nvSpPr>
        <p:spPr>
          <a:xfrm>
            <a:off x="2053396" y="1689824"/>
            <a:ext cx="129929" cy="253114"/>
          </a:xfrm>
          <a:custGeom>
            <a:avLst/>
            <a:gdLst/>
            <a:ahLst/>
            <a:cxnLst/>
            <a:rect l="l" t="t" r="r" b="b"/>
            <a:pathLst>
              <a:path w="3560" h="6932">
                <a:moveTo>
                  <a:pt x="2678" y="0"/>
                </a:moveTo>
                <a:lnTo>
                  <a:pt x="0" y="2678"/>
                </a:lnTo>
                <a:lnTo>
                  <a:pt x="1607" y="6679"/>
                </a:lnTo>
                <a:cubicBezTo>
                  <a:pt x="1638" y="6805"/>
                  <a:pt x="1764" y="6931"/>
                  <a:pt x="1922" y="6931"/>
                </a:cubicBezTo>
                <a:lnTo>
                  <a:pt x="1985" y="6931"/>
                </a:lnTo>
                <a:cubicBezTo>
                  <a:pt x="2111" y="6931"/>
                  <a:pt x="2206" y="6900"/>
                  <a:pt x="2269" y="6805"/>
                </a:cubicBezTo>
                <a:lnTo>
                  <a:pt x="3466" y="5640"/>
                </a:lnTo>
                <a:cubicBezTo>
                  <a:pt x="3529" y="5545"/>
                  <a:pt x="3560" y="5388"/>
                  <a:pt x="3560" y="5262"/>
                </a:cubicBezTo>
                <a:lnTo>
                  <a:pt x="267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89">
            <a:extLst>
              <a:ext uri="{FF2B5EF4-FFF2-40B4-BE49-F238E27FC236}">
                <a16:creationId xmlns:a16="http://schemas.microsoft.com/office/drawing/2014/main" id="{C2BF4F60-3943-4F53-A970-A45E64E873A2}"/>
              </a:ext>
            </a:extLst>
          </p:cNvPr>
          <p:cNvSpPr>
            <a:spLocks noGrp="1"/>
          </p:cNvSpPr>
          <p:nvPr/>
        </p:nvSpPr>
        <p:spPr>
          <a:xfrm>
            <a:off x="7275523" y="1718627"/>
            <a:ext cx="76878" cy="31583"/>
          </a:xfrm>
          <a:custGeom>
            <a:avLst/>
            <a:gdLst/>
            <a:ahLst/>
            <a:cxnLst/>
            <a:rect l="l" t="t" r="r" b="b"/>
            <a:pathLst>
              <a:path w="1766" h="725">
                <a:moveTo>
                  <a:pt x="347" y="0"/>
                </a:moveTo>
                <a:cubicBezTo>
                  <a:pt x="158" y="0"/>
                  <a:pt x="1" y="158"/>
                  <a:pt x="1" y="378"/>
                </a:cubicBezTo>
                <a:cubicBezTo>
                  <a:pt x="1" y="567"/>
                  <a:pt x="158" y="725"/>
                  <a:pt x="347" y="725"/>
                </a:cubicBezTo>
                <a:lnTo>
                  <a:pt x="1419" y="725"/>
                </a:lnTo>
                <a:cubicBezTo>
                  <a:pt x="1608" y="725"/>
                  <a:pt x="1765" y="567"/>
                  <a:pt x="1765" y="378"/>
                </a:cubicBezTo>
                <a:cubicBezTo>
                  <a:pt x="1734" y="158"/>
                  <a:pt x="1608" y="0"/>
                  <a:pt x="14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89">
            <a:extLst>
              <a:ext uri="{FF2B5EF4-FFF2-40B4-BE49-F238E27FC236}">
                <a16:creationId xmlns:a16="http://schemas.microsoft.com/office/drawing/2014/main" id="{ABB0144A-C071-4EB8-8039-4E0EAFE19BD2}"/>
              </a:ext>
            </a:extLst>
          </p:cNvPr>
          <p:cNvSpPr>
            <a:spLocks noGrp="1"/>
          </p:cNvSpPr>
          <p:nvPr/>
        </p:nvSpPr>
        <p:spPr>
          <a:xfrm>
            <a:off x="7261321" y="1768922"/>
            <a:ext cx="64515" cy="59007"/>
          </a:xfrm>
          <a:custGeom>
            <a:avLst/>
            <a:gdLst/>
            <a:ahLst/>
            <a:cxnLst/>
            <a:rect l="l" t="t" r="r" b="b"/>
            <a:pathLst>
              <a:path w="1482" h="1355">
                <a:moveTo>
                  <a:pt x="394" y="0"/>
                </a:moveTo>
                <a:cubicBezTo>
                  <a:pt x="308" y="0"/>
                  <a:pt x="221" y="32"/>
                  <a:pt x="158" y="95"/>
                </a:cubicBezTo>
                <a:cubicBezTo>
                  <a:pt x="0" y="221"/>
                  <a:pt x="0" y="410"/>
                  <a:pt x="158" y="567"/>
                </a:cubicBezTo>
                <a:lnTo>
                  <a:pt x="882" y="1260"/>
                </a:lnTo>
                <a:cubicBezTo>
                  <a:pt x="945" y="1323"/>
                  <a:pt x="1032" y="1355"/>
                  <a:pt x="1119" y="1355"/>
                </a:cubicBezTo>
                <a:cubicBezTo>
                  <a:pt x="1205" y="1355"/>
                  <a:pt x="1292" y="1323"/>
                  <a:pt x="1355" y="1260"/>
                </a:cubicBezTo>
                <a:cubicBezTo>
                  <a:pt x="1481" y="1134"/>
                  <a:pt x="1481" y="914"/>
                  <a:pt x="1355" y="788"/>
                </a:cubicBezTo>
                <a:lnTo>
                  <a:pt x="630" y="95"/>
                </a:lnTo>
                <a:cubicBezTo>
                  <a:pt x="567" y="32"/>
                  <a:pt x="481" y="0"/>
                  <a:pt x="39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89">
            <a:extLst>
              <a:ext uri="{FF2B5EF4-FFF2-40B4-BE49-F238E27FC236}">
                <a16:creationId xmlns:a16="http://schemas.microsoft.com/office/drawing/2014/main" id="{DF2157F7-89F4-49EC-A862-CAF7A0FECEBE}"/>
              </a:ext>
            </a:extLst>
          </p:cNvPr>
          <p:cNvSpPr>
            <a:spLocks noGrp="1"/>
          </p:cNvSpPr>
          <p:nvPr/>
        </p:nvSpPr>
        <p:spPr>
          <a:xfrm>
            <a:off x="7263908" y="1639678"/>
            <a:ext cx="61817" cy="60131"/>
          </a:xfrm>
          <a:custGeom>
            <a:avLst/>
            <a:gdLst/>
            <a:ahLst/>
            <a:cxnLst/>
            <a:rect l="l" t="t" r="r" b="b"/>
            <a:pathLst>
              <a:path w="1419" h="1380">
                <a:moveTo>
                  <a:pt x="1056" y="1"/>
                </a:moveTo>
                <a:cubicBezTo>
                  <a:pt x="969" y="1"/>
                  <a:pt x="882" y="32"/>
                  <a:pt x="819" y="96"/>
                </a:cubicBezTo>
                <a:lnTo>
                  <a:pt x="95" y="789"/>
                </a:lnTo>
                <a:cubicBezTo>
                  <a:pt x="0" y="915"/>
                  <a:pt x="0" y="1135"/>
                  <a:pt x="95" y="1261"/>
                </a:cubicBezTo>
                <a:cubicBezTo>
                  <a:pt x="158" y="1340"/>
                  <a:pt x="252" y="1379"/>
                  <a:pt x="343" y="1379"/>
                </a:cubicBezTo>
                <a:cubicBezTo>
                  <a:pt x="434" y="1379"/>
                  <a:pt x="520" y="1340"/>
                  <a:pt x="567" y="1261"/>
                </a:cubicBezTo>
                <a:lnTo>
                  <a:pt x="1292" y="568"/>
                </a:lnTo>
                <a:cubicBezTo>
                  <a:pt x="1418" y="442"/>
                  <a:pt x="1418" y="190"/>
                  <a:pt x="1292" y="96"/>
                </a:cubicBezTo>
                <a:cubicBezTo>
                  <a:pt x="1229" y="32"/>
                  <a:pt x="1142" y="1"/>
                  <a:pt x="105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89">
            <a:extLst>
              <a:ext uri="{FF2B5EF4-FFF2-40B4-BE49-F238E27FC236}">
                <a16:creationId xmlns:a16="http://schemas.microsoft.com/office/drawing/2014/main" id="{520530B8-9B7B-4383-A1C5-5AA50495C4F4}"/>
              </a:ext>
            </a:extLst>
          </p:cNvPr>
          <p:cNvSpPr>
            <a:spLocks noGrp="1"/>
          </p:cNvSpPr>
          <p:nvPr/>
        </p:nvSpPr>
        <p:spPr>
          <a:xfrm>
            <a:off x="6895315" y="1630342"/>
            <a:ext cx="183878" cy="182529"/>
          </a:xfrm>
          <a:custGeom>
            <a:avLst/>
            <a:gdLst/>
            <a:ahLst/>
            <a:cxnLst/>
            <a:rect l="l" t="t" r="r" b="b"/>
            <a:pathLst>
              <a:path w="4222" h="4192">
                <a:moveTo>
                  <a:pt x="2489" y="1"/>
                </a:moveTo>
                <a:cubicBezTo>
                  <a:pt x="2048" y="1"/>
                  <a:pt x="1639" y="285"/>
                  <a:pt x="1481" y="726"/>
                </a:cubicBezTo>
                <a:lnTo>
                  <a:pt x="1418" y="726"/>
                </a:lnTo>
                <a:cubicBezTo>
                  <a:pt x="662" y="726"/>
                  <a:pt x="0" y="1356"/>
                  <a:pt x="0" y="2080"/>
                </a:cubicBezTo>
                <a:cubicBezTo>
                  <a:pt x="0" y="2836"/>
                  <a:pt x="630" y="3467"/>
                  <a:pt x="1418" y="3467"/>
                </a:cubicBezTo>
                <a:lnTo>
                  <a:pt x="1481" y="3467"/>
                </a:lnTo>
                <a:cubicBezTo>
                  <a:pt x="1639" y="3845"/>
                  <a:pt x="2017" y="4191"/>
                  <a:pt x="2489" y="4191"/>
                </a:cubicBezTo>
                <a:lnTo>
                  <a:pt x="4222" y="4191"/>
                </a:lnTo>
                <a:lnTo>
                  <a:pt x="422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89">
            <a:extLst>
              <a:ext uri="{FF2B5EF4-FFF2-40B4-BE49-F238E27FC236}">
                <a16:creationId xmlns:a16="http://schemas.microsoft.com/office/drawing/2014/main" id="{C2D2A745-4F25-4478-8C1D-6ACEC9B059AB}"/>
              </a:ext>
            </a:extLst>
          </p:cNvPr>
          <p:cNvSpPr>
            <a:spLocks noGrp="1"/>
          </p:cNvSpPr>
          <p:nvPr/>
        </p:nvSpPr>
        <p:spPr>
          <a:xfrm>
            <a:off x="7184859" y="1539856"/>
            <a:ext cx="61705" cy="363598"/>
          </a:xfrm>
          <a:custGeom>
            <a:avLst/>
            <a:gdLst/>
            <a:ahLst/>
            <a:cxnLst/>
            <a:rect l="l" t="t" r="r" b="b"/>
            <a:pathLst>
              <a:path w="1418" h="8350">
                <a:moveTo>
                  <a:pt x="725" y="1"/>
                </a:moveTo>
                <a:cubicBezTo>
                  <a:pt x="315" y="1"/>
                  <a:pt x="0" y="316"/>
                  <a:pt x="0" y="694"/>
                </a:cubicBezTo>
                <a:lnTo>
                  <a:pt x="0" y="7625"/>
                </a:lnTo>
                <a:cubicBezTo>
                  <a:pt x="0" y="8034"/>
                  <a:pt x="315" y="8349"/>
                  <a:pt x="725" y="8349"/>
                </a:cubicBezTo>
                <a:cubicBezTo>
                  <a:pt x="1134" y="8286"/>
                  <a:pt x="1418" y="8003"/>
                  <a:pt x="1418" y="7625"/>
                </a:cubicBezTo>
                <a:lnTo>
                  <a:pt x="1418" y="694"/>
                </a:lnTo>
                <a:cubicBezTo>
                  <a:pt x="1418" y="316"/>
                  <a:pt x="1103" y="1"/>
                  <a:pt x="72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89">
            <a:extLst>
              <a:ext uri="{FF2B5EF4-FFF2-40B4-BE49-F238E27FC236}">
                <a16:creationId xmlns:a16="http://schemas.microsoft.com/office/drawing/2014/main" id="{2BBD6331-35B2-415E-A497-2D040CD6FA5A}"/>
              </a:ext>
            </a:extLst>
          </p:cNvPr>
          <p:cNvSpPr>
            <a:spLocks noGrp="1"/>
          </p:cNvSpPr>
          <p:nvPr/>
        </p:nvSpPr>
        <p:spPr>
          <a:xfrm>
            <a:off x="6979209" y="1812984"/>
            <a:ext cx="89242" cy="120712"/>
          </a:xfrm>
          <a:custGeom>
            <a:avLst/>
            <a:gdLst/>
            <a:ahLst/>
            <a:cxnLst/>
            <a:rect l="l" t="t" r="r" b="b"/>
            <a:pathLst>
              <a:path w="2049" h="2773">
                <a:moveTo>
                  <a:pt x="1" y="0"/>
                </a:moveTo>
                <a:lnTo>
                  <a:pt x="1" y="1764"/>
                </a:lnTo>
                <a:cubicBezTo>
                  <a:pt x="1" y="2363"/>
                  <a:pt x="473" y="2773"/>
                  <a:pt x="1040" y="2773"/>
                </a:cubicBezTo>
                <a:cubicBezTo>
                  <a:pt x="1607" y="2773"/>
                  <a:pt x="2048" y="2300"/>
                  <a:pt x="2048" y="1764"/>
                </a:cubicBezTo>
                <a:lnTo>
                  <a:pt x="2048" y="32"/>
                </a:lnTo>
                <a:lnTo>
                  <a:pt x="316" y="32"/>
                </a:lnTo>
                <a:cubicBezTo>
                  <a:pt x="253" y="32"/>
                  <a:pt x="127" y="32"/>
                  <a:pt x="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89">
            <a:extLst>
              <a:ext uri="{FF2B5EF4-FFF2-40B4-BE49-F238E27FC236}">
                <a16:creationId xmlns:a16="http://schemas.microsoft.com/office/drawing/2014/main" id="{F7F04479-C37F-4FFB-8317-F0AC590B10DF}"/>
              </a:ext>
            </a:extLst>
          </p:cNvPr>
          <p:cNvSpPr>
            <a:spLocks noGrp="1"/>
          </p:cNvSpPr>
          <p:nvPr/>
        </p:nvSpPr>
        <p:spPr>
          <a:xfrm>
            <a:off x="7082643" y="1577246"/>
            <a:ext cx="90590" cy="285483"/>
          </a:xfrm>
          <a:custGeom>
            <a:avLst/>
            <a:gdLst/>
            <a:ahLst/>
            <a:cxnLst/>
            <a:rect l="l" t="t" r="r" b="b"/>
            <a:pathLst>
              <a:path w="2080" h="6554">
                <a:moveTo>
                  <a:pt x="2080" y="0"/>
                </a:moveTo>
                <a:lnTo>
                  <a:pt x="1765" y="315"/>
                </a:lnTo>
                <a:cubicBezTo>
                  <a:pt x="1292" y="788"/>
                  <a:pt x="662" y="1071"/>
                  <a:pt x="1" y="1166"/>
                </a:cubicBezTo>
                <a:lnTo>
                  <a:pt x="1" y="5419"/>
                </a:lnTo>
                <a:cubicBezTo>
                  <a:pt x="662" y="5482"/>
                  <a:pt x="1292" y="5766"/>
                  <a:pt x="1765" y="6238"/>
                </a:cubicBezTo>
                <a:lnTo>
                  <a:pt x="2080" y="6553"/>
                </a:lnTo>
                <a:lnTo>
                  <a:pt x="208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Rectangle: Rounded Corners 900">
            <a:extLst>
              <a:ext uri="{FF2B5EF4-FFF2-40B4-BE49-F238E27FC236}">
                <a16:creationId xmlns:a16="http://schemas.microsoft.com/office/drawing/2014/main" id="{D2BC69F3-029F-421F-8FDB-481531DA89CB}"/>
              </a:ext>
            </a:extLst>
          </p:cNvPr>
          <p:cNvSpPr>
            <a:spLocks noGrp="1"/>
          </p:cNvSpPr>
          <p:nvPr/>
        </p:nvSpPr>
        <p:spPr>
          <a:xfrm>
            <a:off x="1000125" y="4171950"/>
            <a:ext cx="714375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/>
          </a:bodyPr>
          <a:lstStyle/>
          <a:p>
            <a:pPr algn="ctr">
              <a:buNone/>
              <a:def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Grounding là chuỗi kiểm soát trước – trong – sau khi sinh, không chỉ là một prompt.</a:t>
            </a:r>
          </a:p>
        </p:txBody>
      </p:sp>
    </p:spTree>
    <p:extLst>
      <p:ext uri="{BB962C8B-B14F-4D97-AF65-F5344CB8AC3E}">
        <p14:creationId xmlns:p14="http://schemas.microsoft.com/office/powerpoint/2010/main" val="5814433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109">
            <a:extLst>
              <a:ext uri="{FF2B5EF4-FFF2-40B4-BE49-F238E27FC236}">
                <a16:creationId xmlns:a16="http://schemas.microsoft.com/office/drawing/2014/main" id="{81C3B06F-B2DB-4E73-BBD9-BBC1B0354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5" y="444818"/>
            <a:ext cx="7715250" cy="57340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Bất biến an toàn của SenseVoice</a:t>
            </a:r>
            <a:endParaRPr/>
          </a:p>
        </p:txBody>
      </p:sp>
      <p:sp>
        <p:nvSpPr>
          <p:cNvPr id="1430" name="Rectangle: Rounded Corners 1429">
            <a:extLst>
              <a:ext uri="{FF2B5EF4-FFF2-40B4-BE49-F238E27FC236}">
                <a16:creationId xmlns:a16="http://schemas.microsoft.com/office/drawing/2014/main" id="{5955F37A-68A5-4464-8FD7-29112BE85C6F}"/>
              </a:ext>
            </a:extLst>
          </p:cNvPr>
          <p:cNvSpPr>
            <a:spLocks noGrp="1"/>
          </p:cNvSpPr>
          <p:nvPr/>
        </p:nvSpPr>
        <p:spPr>
          <a:xfrm>
            <a:off x="1000125" y="4171950"/>
            <a:ext cx="714375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/>
          </a:bodyPr>
          <a:lstStyle/>
          <a:p>
            <a:pPr algn="ctr">
              <a:buNone/>
              <a:defRPr sz="102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2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Mặc định an toàn: confidence/composure = 50 (trung tính); tín hiệu giọng nói chỉ dùng để mô tả.</a:t>
            </a:r>
          </a:p>
        </p:txBody>
      </p:sp>
      <p:sp>
        <p:nvSpPr>
          <p:cNvPr id="1431" name="Rectangle: Rounded Corners 1430">
            <a:extLst>
              <a:ext uri="{FF2B5EF4-FFF2-40B4-BE49-F238E27FC236}">
                <a16:creationId xmlns:a16="http://schemas.microsoft.com/office/drawing/2014/main" id="{ADD3ADE4-BDB1-4CC9-A147-16B12708A622}"/>
              </a:ext>
            </a:extLst>
          </p:cNvPr>
          <p:cNvSpPr>
            <a:spLocks noGrp="1"/>
          </p:cNvSpPr>
          <p:nvPr/>
        </p:nvSpPr>
        <p:spPr>
          <a:xfrm>
            <a:off x="1333500" y="1154244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D7E7F1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2" name="Rectangle: Rounded Corners 1431">
            <a:extLst>
              <a:ext uri="{FF2B5EF4-FFF2-40B4-BE49-F238E27FC236}">
                <a16:creationId xmlns:a16="http://schemas.microsoft.com/office/drawing/2014/main" id="{E6D0E82E-9D2E-4E88-8BC2-FFF263750AA9}"/>
              </a:ext>
            </a:extLst>
          </p:cNvPr>
          <p:cNvSpPr>
            <a:spLocks noGrp="1"/>
          </p:cNvSpPr>
          <p:nvPr/>
        </p:nvSpPr>
        <p:spPr>
          <a:xfrm>
            <a:off x="4667250" y="1154244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F7EDC8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3" name="Rectangle: Rounded Corners 1432">
            <a:extLst>
              <a:ext uri="{FF2B5EF4-FFF2-40B4-BE49-F238E27FC236}">
                <a16:creationId xmlns:a16="http://schemas.microsoft.com/office/drawing/2014/main" id="{1735A6AC-6276-4239-92F7-F95E2E9BE0DD}"/>
              </a:ext>
            </a:extLst>
          </p:cNvPr>
          <p:cNvSpPr>
            <a:spLocks noGrp="1"/>
          </p:cNvSpPr>
          <p:nvPr/>
        </p:nvSpPr>
        <p:spPr>
          <a:xfrm>
            <a:off x="1333500" y="2573469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E4D9EE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4" name="Rectangle: Rounded Corners 1433">
            <a:extLst>
              <a:ext uri="{FF2B5EF4-FFF2-40B4-BE49-F238E27FC236}">
                <a16:creationId xmlns:a16="http://schemas.microsoft.com/office/drawing/2014/main" id="{96F2F45F-61BF-4CB1-A501-74289CCEFA09}"/>
              </a:ext>
            </a:extLst>
          </p:cNvPr>
          <p:cNvSpPr>
            <a:spLocks noGrp="1"/>
          </p:cNvSpPr>
          <p:nvPr/>
        </p:nvSpPr>
        <p:spPr>
          <a:xfrm>
            <a:off x="4667250" y="2573469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DFF0D6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5" name="Rectangle 1434">
            <a:extLst>
              <a:ext uri="{FF2B5EF4-FFF2-40B4-BE49-F238E27FC236}">
                <a16:creationId xmlns:a16="http://schemas.microsoft.com/office/drawing/2014/main" id="{A460E93B-1D21-4E66-AF64-2E7E668E4A10}"/>
              </a:ext>
            </a:extLst>
          </p:cNvPr>
          <p:cNvSpPr>
            <a:spLocks noGrp="1"/>
          </p:cNvSpPr>
          <p:nvPr/>
        </p:nvSpPr>
        <p:spPr>
          <a:xfrm>
            <a:off x="1543050" y="1325694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436" name="Rectangle 1435">
            <a:extLst>
              <a:ext uri="{FF2B5EF4-FFF2-40B4-BE49-F238E27FC236}">
                <a16:creationId xmlns:a16="http://schemas.microsoft.com/office/drawing/2014/main" id="{77DAF07C-67A0-4A5B-ADEC-5FC8B10057EB}"/>
              </a:ext>
            </a:extLst>
          </p:cNvPr>
          <p:cNvSpPr>
            <a:spLocks noGrp="1"/>
          </p:cNvSpPr>
          <p:nvPr/>
        </p:nvSpPr>
        <p:spPr>
          <a:xfrm>
            <a:off x="2114550" y="1344744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Observation only</a:t>
            </a:r>
          </a:p>
        </p:txBody>
      </p:sp>
      <p:sp>
        <p:nvSpPr>
          <p:cNvPr id="1437" name="Rectangle 1436">
            <a:extLst>
              <a:ext uri="{FF2B5EF4-FFF2-40B4-BE49-F238E27FC236}">
                <a16:creationId xmlns:a16="http://schemas.microsoft.com/office/drawing/2014/main" id="{5AD3ABEC-4E11-438D-8565-06F0148C15F7}"/>
              </a:ext>
            </a:extLst>
          </p:cNvPr>
          <p:cNvSpPr>
            <a:spLocks noGrp="1"/>
          </p:cNvSpPr>
          <p:nvPr/>
        </p:nvSpPr>
        <p:spPr>
          <a:xfrm>
            <a:off x="2114550" y="1773369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LID/SER/AED chỉ mô tả tín hiệu.</a:t>
            </a:r>
          </a:p>
        </p:txBody>
      </p:sp>
      <p:sp>
        <p:nvSpPr>
          <p:cNvPr id="1438" name="Rectangle 1437">
            <a:extLst>
              <a:ext uri="{FF2B5EF4-FFF2-40B4-BE49-F238E27FC236}">
                <a16:creationId xmlns:a16="http://schemas.microsoft.com/office/drawing/2014/main" id="{37413885-412C-4F06-B875-B5B4C67D06AE}"/>
              </a:ext>
            </a:extLst>
          </p:cNvPr>
          <p:cNvSpPr>
            <a:spLocks noGrp="1"/>
          </p:cNvSpPr>
          <p:nvPr/>
        </p:nvSpPr>
        <p:spPr>
          <a:xfrm>
            <a:off x="4876800" y="1325694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439" name="Rectangle 1438">
            <a:extLst>
              <a:ext uri="{FF2B5EF4-FFF2-40B4-BE49-F238E27FC236}">
                <a16:creationId xmlns:a16="http://schemas.microsoft.com/office/drawing/2014/main" id="{9148CBB4-9374-4C4A-9B84-1B8D0A130333}"/>
              </a:ext>
            </a:extLst>
          </p:cNvPr>
          <p:cNvSpPr>
            <a:spLocks noGrp="1"/>
          </p:cNvSpPr>
          <p:nvPr/>
        </p:nvSpPr>
        <p:spPr>
          <a:xfrm>
            <a:off x="5448300" y="1344744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Neutral default</a:t>
            </a:r>
          </a:p>
        </p:txBody>
      </p:sp>
      <p:sp>
        <p:nvSpPr>
          <p:cNvPr id="1440" name="Rectangle 1439">
            <a:extLst>
              <a:ext uri="{FF2B5EF4-FFF2-40B4-BE49-F238E27FC236}">
                <a16:creationId xmlns:a16="http://schemas.microsoft.com/office/drawing/2014/main" id="{892FD8B5-2B36-4A3D-8158-F97645FDF72E}"/>
              </a:ext>
            </a:extLst>
          </p:cNvPr>
          <p:cNvSpPr>
            <a:spLocks noGrp="1"/>
          </p:cNvSpPr>
          <p:nvPr/>
        </p:nvSpPr>
        <p:spPr>
          <a:xfrm>
            <a:off x="5448300" y="1773369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Confidence/composure giữ 50.</a:t>
            </a:r>
          </a:p>
        </p:txBody>
      </p:sp>
      <p:sp>
        <p:nvSpPr>
          <p:cNvPr id="1441" name="Rectangle 1440">
            <a:extLst>
              <a:ext uri="{FF2B5EF4-FFF2-40B4-BE49-F238E27FC236}">
                <a16:creationId xmlns:a16="http://schemas.microsoft.com/office/drawing/2014/main" id="{7A4A0B6C-E4C2-41ED-AACF-FFD405E322BD}"/>
              </a:ext>
            </a:extLst>
          </p:cNvPr>
          <p:cNvSpPr>
            <a:spLocks noGrp="1"/>
          </p:cNvSpPr>
          <p:nvPr/>
        </p:nvSpPr>
        <p:spPr>
          <a:xfrm>
            <a:off x="1543050" y="2744919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42" name="Rectangle 1441">
            <a:extLst>
              <a:ext uri="{FF2B5EF4-FFF2-40B4-BE49-F238E27FC236}">
                <a16:creationId xmlns:a16="http://schemas.microsoft.com/office/drawing/2014/main" id="{EE2B57F5-EDAC-430C-9E5E-86D6F5BB839D}"/>
              </a:ext>
            </a:extLst>
          </p:cNvPr>
          <p:cNvSpPr>
            <a:spLocks noGrp="1"/>
          </p:cNvSpPr>
          <p:nvPr/>
        </p:nvSpPr>
        <p:spPr>
          <a:xfrm>
            <a:off x="2114550" y="2763969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No psychometrics</a:t>
            </a:r>
          </a:p>
        </p:txBody>
      </p:sp>
      <p:sp>
        <p:nvSpPr>
          <p:cNvPr id="1443" name="Rectangle 1442">
            <a:extLst>
              <a:ext uri="{FF2B5EF4-FFF2-40B4-BE49-F238E27FC236}">
                <a16:creationId xmlns:a16="http://schemas.microsoft.com/office/drawing/2014/main" id="{2A5CB7C7-9036-43C5-B373-F48C3EBEBFE2}"/>
              </a:ext>
            </a:extLst>
          </p:cNvPr>
          <p:cNvSpPr>
            <a:spLocks noGrp="1"/>
          </p:cNvSpPr>
          <p:nvPr/>
        </p:nvSpPr>
        <p:spPr>
          <a:xfrm>
            <a:off x="2114550" y="3192594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Không suy ra tính cách hay năng lực.</a:t>
            </a:r>
          </a:p>
        </p:txBody>
      </p:sp>
      <p:sp>
        <p:nvSpPr>
          <p:cNvPr id="1444" name="Rectangle 1443">
            <a:extLst>
              <a:ext uri="{FF2B5EF4-FFF2-40B4-BE49-F238E27FC236}">
                <a16:creationId xmlns:a16="http://schemas.microsoft.com/office/drawing/2014/main" id="{D2A3BA28-B258-4FE3-B597-924F8FC96C20}"/>
              </a:ext>
            </a:extLst>
          </p:cNvPr>
          <p:cNvSpPr>
            <a:spLocks noGrp="1"/>
          </p:cNvSpPr>
          <p:nvPr/>
        </p:nvSpPr>
        <p:spPr>
          <a:xfrm>
            <a:off x="4876800" y="2744919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445" name="Rectangle 1444">
            <a:extLst>
              <a:ext uri="{FF2B5EF4-FFF2-40B4-BE49-F238E27FC236}">
                <a16:creationId xmlns:a16="http://schemas.microsoft.com/office/drawing/2014/main" id="{5BA5D19A-B3B3-401A-9350-BB6AB0DA269C}"/>
              </a:ext>
            </a:extLst>
          </p:cNvPr>
          <p:cNvSpPr>
            <a:spLocks noGrp="1"/>
          </p:cNvSpPr>
          <p:nvPr/>
        </p:nvSpPr>
        <p:spPr>
          <a:xfrm>
            <a:off x="5448300" y="2763969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No auto-decision</a:t>
            </a:r>
          </a:p>
        </p:txBody>
      </p:sp>
      <p:sp>
        <p:nvSpPr>
          <p:cNvPr id="1446" name="Rectangle 1445">
            <a:extLst>
              <a:ext uri="{FF2B5EF4-FFF2-40B4-BE49-F238E27FC236}">
                <a16:creationId xmlns:a16="http://schemas.microsoft.com/office/drawing/2014/main" id="{A7BFA39A-223B-410A-912A-4F8EF0112B10}"/>
              </a:ext>
            </a:extLst>
          </p:cNvPr>
          <p:cNvSpPr>
            <a:spLocks noGrp="1"/>
          </p:cNvSpPr>
          <p:nvPr/>
        </p:nvSpPr>
        <p:spPr>
          <a:xfrm>
            <a:off x="5448300" y="3192594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Không auto-hire/auto-reject.</a:t>
            </a:r>
          </a:p>
        </p:txBody>
      </p:sp>
    </p:spTree>
    <p:extLst>
      <p:ext uri="{BB962C8B-B14F-4D97-AF65-F5344CB8AC3E}">
        <p14:creationId xmlns:p14="http://schemas.microsoft.com/office/powerpoint/2010/main" val="5746264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109">
            <a:extLst>
              <a:ext uri="{FF2B5EF4-FFF2-40B4-BE49-F238E27FC236}">
                <a16:creationId xmlns:a16="http://schemas.microsoft.com/office/drawing/2014/main" id="{81C3B06F-B2DB-4E73-BBD9-BBC1B0354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5" y="444818"/>
            <a:ext cx="7715250" cy="57340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Bốn đóng góp chính</a:t>
            </a:r>
            <a:endParaRPr/>
          </a:p>
        </p:txBody>
      </p:sp>
      <p:sp>
        <p:nvSpPr>
          <p:cNvPr id="1430" name="Rectangle: Rounded Corners 1429">
            <a:extLst>
              <a:ext uri="{FF2B5EF4-FFF2-40B4-BE49-F238E27FC236}">
                <a16:creationId xmlns:a16="http://schemas.microsoft.com/office/drawing/2014/main" id="{11BDA7B1-E6F4-44F3-9CE1-BE9BCDDA9DF3}"/>
              </a:ext>
            </a:extLst>
          </p:cNvPr>
          <p:cNvSpPr>
            <a:spLocks noGrp="1"/>
          </p:cNvSpPr>
          <p:nvPr/>
        </p:nvSpPr>
        <p:spPr>
          <a:xfrm>
            <a:off x="1000125" y="4171950"/>
            <a:ext cx="714375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/>
          </a:bodyPr>
          <a:lstStyle/>
          <a:p>
            <a:pPr algn="ctr">
              <a:buNone/>
              <a:def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Mỗi đóng góp đều có thể truy ngược về code, proto, rule và kiểm thử.</a:t>
            </a:r>
          </a:p>
        </p:txBody>
      </p:sp>
      <p:sp>
        <p:nvSpPr>
          <p:cNvPr id="1431" name="Rectangle: Rounded Corners 1430">
            <a:extLst>
              <a:ext uri="{FF2B5EF4-FFF2-40B4-BE49-F238E27FC236}">
                <a16:creationId xmlns:a16="http://schemas.microsoft.com/office/drawing/2014/main" id="{B9D0CC3E-6C26-48D3-82C9-04EEDCC903EC}"/>
              </a:ext>
            </a:extLst>
          </p:cNvPr>
          <p:cNvSpPr>
            <a:spLocks noGrp="1"/>
          </p:cNvSpPr>
          <p:nvPr/>
        </p:nvSpPr>
        <p:spPr>
          <a:xfrm>
            <a:off x="1333500" y="1161122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D7E7F1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2" name="Rectangle: Rounded Corners 1431">
            <a:extLst>
              <a:ext uri="{FF2B5EF4-FFF2-40B4-BE49-F238E27FC236}">
                <a16:creationId xmlns:a16="http://schemas.microsoft.com/office/drawing/2014/main" id="{A106947F-4D9E-4F9C-94AF-D21C9E819E58}"/>
              </a:ext>
            </a:extLst>
          </p:cNvPr>
          <p:cNvSpPr>
            <a:spLocks noGrp="1"/>
          </p:cNvSpPr>
          <p:nvPr/>
        </p:nvSpPr>
        <p:spPr>
          <a:xfrm>
            <a:off x="4667250" y="1161122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F7EDC8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3" name="Rectangle: Rounded Corners 1432">
            <a:extLst>
              <a:ext uri="{FF2B5EF4-FFF2-40B4-BE49-F238E27FC236}">
                <a16:creationId xmlns:a16="http://schemas.microsoft.com/office/drawing/2014/main" id="{4154FA0B-EABF-4BA5-B811-CB33D1FF9D2D}"/>
              </a:ext>
            </a:extLst>
          </p:cNvPr>
          <p:cNvSpPr>
            <a:spLocks noGrp="1"/>
          </p:cNvSpPr>
          <p:nvPr/>
        </p:nvSpPr>
        <p:spPr>
          <a:xfrm>
            <a:off x="1333500" y="2580347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E4D9EE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4" name="Rectangle: Rounded Corners 1433">
            <a:extLst>
              <a:ext uri="{FF2B5EF4-FFF2-40B4-BE49-F238E27FC236}">
                <a16:creationId xmlns:a16="http://schemas.microsoft.com/office/drawing/2014/main" id="{B3370B66-27EC-4E19-85A4-B2E069CE19FB}"/>
              </a:ext>
            </a:extLst>
          </p:cNvPr>
          <p:cNvSpPr>
            <a:spLocks noGrp="1"/>
          </p:cNvSpPr>
          <p:nvPr/>
        </p:nvSpPr>
        <p:spPr>
          <a:xfrm>
            <a:off x="4667250" y="2580347"/>
            <a:ext cx="3143250" cy="1333500"/>
          </a:xfrm>
          <a:prstGeom prst="roundRect">
            <a:avLst>
              <a:gd name="adj" fmla="val 5714"/>
            </a:avLst>
          </a:prstGeom>
          <a:solidFill>
            <a:srgbClr val="DFF0D6"/>
          </a:solidFill>
          <a:ln w="10478">
            <a:solidFill>
              <a:srgbClr val="8B9589"/>
            </a:solidFill>
            <a:prstDash val="solid"/>
          </a:ln>
        </p:spPr>
      </p:sp>
      <p:sp>
        <p:nvSpPr>
          <p:cNvPr id="1435" name="Rectangle 1434">
            <a:extLst>
              <a:ext uri="{FF2B5EF4-FFF2-40B4-BE49-F238E27FC236}">
                <a16:creationId xmlns:a16="http://schemas.microsoft.com/office/drawing/2014/main" id="{CE1CAA4F-66C6-4DDD-8148-5C41B43B5395}"/>
              </a:ext>
            </a:extLst>
          </p:cNvPr>
          <p:cNvSpPr>
            <a:spLocks noGrp="1"/>
          </p:cNvSpPr>
          <p:nvPr/>
        </p:nvSpPr>
        <p:spPr>
          <a:xfrm>
            <a:off x="1543050" y="1332572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436" name="Rectangle 1435">
            <a:extLst>
              <a:ext uri="{FF2B5EF4-FFF2-40B4-BE49-F238E27FC236}">
                <a16:creationId xmlns:a16="http://schemas.microsoft.com/office/drawing/2014/main" id="{AFD3344F-E9FD-4C6A-B61C-F0534E1F3C45}"/>
              </a:ext>
            </a:extLst>
          </p:cNvPr>
          <p:cNvSpPr>
            <a:spLocks noGrp="1"/>
          </p:cNvSpPr>
          <p:nvPr/>
        </p:nvSpPr>
        <p:spPr>
          <a:xfrm>
            <a:off x="2114550" y="1351622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Kiến trúc end-to-end</a:t>
            </a:r>
          </a:p>
        </p:txBody>
      </p:sp>
      <p:sp>
        <p:nvSpPr>
          <p:cNvPr id="1437" name="Rectangle 1436">
            <a:extLst>
              <a:ext uri="{FF2B5EF4-FFF2-40B4-BE49-F238E27FC236}">
                <a16:creationId xmlns:a16="http://schemas.microsoft.com/office/drawing/2014/main" id="{E7CC34C8-51AF-470E-8F89-04E8AABE03E0}"/>
              </a:ext>
            </a:extLst>
          </p:cNvPr>
          <p:cNvSpPr>
            <a:spLocks noGrp="1"/>
          </p:cNvSpPr>
          <p:nvPr/>
        </p:nvSpPr>
        <p:spPr>
          <a:xfrm>
            <a:off x="2114550" y="1780247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Hai chế độ, ownership và vòng đời riêng.</a:t>
            </a:r>
          </a:p>
        </p:txBody>
      </p:sp>
      <p:sp>
        <p:nvSpPr>
          <p:cNvPr id="1438" name="Rectangle 1437">
            <a:extLst>
              <a:ext uri="{FF2B5EF4-FFF2-40B4-BE49-F238E27FC236}">
                <a16:creationId xmlns:a16="http://schemas.microsoft.com/office/drawing/2014/main" id="{5340AB09-06D8-45A4-8610-1BB8D19575DB}"/>
              </a:ext>
            </a:extLst>
          </p:cNvPr>
          <p:cNvSpPr>
            <a:spLocks noGrp="1"/>
          </p:cNvSpPr>
          <p:nvPr/>
        </p:nvSpPr>
        <p:spPr>
          <a:xfrm>
            <a:off x="4876800" y="1332572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439" name="Rectangle 1438">
            <a:extLst>
              <a:ext uri="{FF2B5EF4-FFF2-40B4-BE49-F238E27FC236}">
                <a16:creationId xmlns:a16="http://schemas.microsoft.com/office/drawing/2014/main" id="{16736FB5-364B-4EDB-AACA-253506C3A967}"/>
              </a:ext>
            </a:extLst>
          </p:cNvPr>
          <p:cNvSpPr>
            <a:spLocks noGrp="1"/>
          </p:cNvSpPr>
          <p:nvPr/>
        </p:nvSpPr>
        <p:spPr>
          <a:xfrm>
            <a:off x="5448300" y="1351622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Grounded LLM</a:t>
            </a:r>
          </a:p>
        </p:txBody>
      </p:sp>
      <p:sp>
        <p:nvSpPr>
          <p:cNvPr id="1440" name="Rectangle 1439">
            <a:extLst>
              <a:ext uri="{FF2B5EF4-FFF2-40B4-BE49-F238E27FC236}">
                <a16:creationId xmlns:a16="http://schemas.microsoft.com/office/drawing/2014/main" id="{5051BF8E-2170-4B2A-A921-3F63D5B6D9DE}"/>
              </a:ext>
            </a:extLst>
          </p:cNvPr>
          <p:cNvSpPr>
            <a:spLocks noGrp="1"/>
          </p:cNvSpPr>
          <p:nvPr/>
        </p:nvSpPr>
        <p:spPr>
          <a:xfrm>
            <a:off x="5448300" y="1780247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Hybrid retrieval, schema và allow-list.</a:t>
            </a:r>
          </a:p>
        </p:txBody>
      </p:sp>
      <p:sp>
        <p:nvSpPr>
          <p:cNvPr id="1441" name="Rectangle 1440">
            <a:extLst>
              <a:ext uri="{FF2B5EF4-FFF2-40B4-BE49-F238E27FC236}">
                <a16:creationId xmlns:a16="http://schemas.microsoft.com/office/drawing/2014/main" id="{5761ADE0-B82C-492B-970E-A639BC594DC4}"/>
              </a:ext>
            </a:extLst>
          </p:cNvPr>
          <p:cNvSpPr>
            <a:spLocks noGrp="1"/>
          </p:cNvSpPr>
          <p:nvPr/>
        </p:nvSpPr>
        <p:spPr>
          <a:xfrm>
            <a:off x="1543050" y="2751797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42" name="Rectangle 1441">
            <a:extLst>
              <a:ext uri="{FF2B5EF4-FFF2-40B4-BE49-F238E27FC236}">
                <a16:creationId xmlns:a16="http://schemas.microsoft.com/office/drawing/2014/main" id="{11F92381-9D02-466F-BA46-419FD15DAD41}"/>
              </a:ext>
            </a:extLst>
          </p:cNvPr>
          <p:cNvSpPr>
            <a:spLocks noGrp="1"/>
          </p:cNvSpPr>
          <p:nvPr/>
        </p:nvSpPr>
        <p:spPr>
          <a:xfrm>
            <a:off x="2114550" y="2770847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Speech có fallback</a:t>
            </a:r>
          </a:p>
        </p:txBody>
      </p:sp>
      <p:sp>
        <p:nvSpPr>
          <p:cNvPr id="1443" name="Rectangle 1442">
            <a:extLst>
              <a:ext uri="{FF2B5EF4-FFF2-40B4-BE49-F238E27FC236}">
                <a16:creationId xmlns:a16="http://schemas.microsoft.com/office/drawing/2014/main" id="{6B5EE027-1F96-4F43-8D55-79D19CF480BF}"/>
              </a:ext>
            </a:extLst>
          </p:cNvPr>
          <p:cNvSpPr>
            <a:spLocks noGrp="1"/>
          </p:cNvSpPr>
          <p:nvPr/>
        </p:nvSpPr>
        <p:spPr>
          <a:xfrm>
            <a:off x="2114550" y="3199472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Streaming, batch và quan sát an toàn.</a:t>
            </a:r>
          </a:p>
        </p:txBody>
      </p:sp>
      <p:sp>
        <p:nvSpPr>
          <p:cNvPr id="1444" name="Rectangle 1443">
            <a:extLst>
              <a:ext uri="{FF2B5EF4-FFF2-40B4-BE49-F238E27FC236}">
                <a16:creationId xmlns:a16="http://schemas.microsoft.com/office/drawing/2014/main" id="{EB9296B6-92A4-47CD-807E-434A1B4F7AA9}"/>
              </a:ext>
            </a:extLst>
          </p:cNvPr>
          <p:cNvSpPr>
            <a:spLocks noGrp="1"/>
          </p:cNvSpPr>
          <p:nvPr/>
        </p:nvSpPr>
        <p:spPr>
          <a:xfrm>
            <a:off x="4876800" y="2751797"/>
            <a:ext cx="457200" cy="3429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50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445" name="Rectangle 1444">
            <a:extLst>
              <a:ext uri="{FF2B5EF4-FFF2-40B4-BE49-F238E27FC236}">
                <a16:creationId xmlns:a16="http://schemas.microsoft.com/office/drawing/2014/main" id="{B9D1F1DD-B568-47B4-84C8-6D96F459AF61}"/>
              </a:ext>
            </a:extLst>
          </p:cNvPr>
          <p:cNvSpPr>
            <a:spLocks noGrp="1"/>
          </p:cNvSpPr>
          <p:nvPr/>
        </p:nvSpPr>
        <p:spPr>
          <a:xfrm>
            <a:off x="5448300" y="2770847"/>
            <a:ext cx="2095500" cy="3619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238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Corpus provenance</a:t>
            </a:r>
          </a:p>
        </p:txBody>
      </p:sp>
      <p:sp>
        <p:nvSpPr>
          <p:cNvPr id="1446" name="Rectangle 1445">
            <a:extLst>
              <a:ext uri="{FF2B5EF4-FFF2-40B4-BE49-F238E27FC236}">
                <a16:creationId xmlns:a16="http://schemas.microsoft.com/office/drawing/2014/main" id="{293B4D2B-4B7C-4069-AB01-198ADCBEC5D3}"/>
              </a:ext>
            </a:extLst>
          </p:cNvPr>
          <p:cNvSpPr>
            <a:spLocks noGrp="1"/>
          </p:cNvSpPr>
          <p:nvPr/>
        </p:nvSpPr>
        <p:spPr>
          <a:xfrm>
            <a:off x="5448300" y="3199472"/>
            <a:ext cx="2095500" cy="55245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l">
              <a:buNone/>
              <a:def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13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86 rule: evidence khác blueprint.</a:t>
            </a:r>
          </a:p>
        </p:txBody>
      </p:sp>
    </p:spTree>
    <p:extLst>
      <p:ext uri="{BB962C8B-B14F-4D97-AF65-F5344CB8AC3E}">
        <p14:creationId xmlns:p14="http://schemas.microsoft.com/office/powerpoint/2010/main" val="5746264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89">
            <a:extLst>
              <a:ext uri="{FF2B5EF4-FFF2-40B4-BE49-F238E27FC236}">
                <a16:creationId xmlns:a16="http://schemas.microsoft.com/office/drawing/2014/main" id="{B80505C1-D139-4E6F-B241-4EDD8383E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6655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Giới hạn cần được đọc cùng kết quả</a:t>
            </a:r>
            <a:endParaRPr/>
          </a:p>
        </p:txBody>
      </p:sp>
      <p:sp>
        <p:nvSpPr>
          <p:cNvPr id="879" name="Google Shape;879;p89">
            <a:extLst>
              <a:ext uri="{FF2B5EF4-FFF2-40B4-BE49-F238E27FC236}">
                <a16:creationId xmlns:a16="http://schemas.microsoft.com/office/drawing/2014/main" id="{3CA5FC07-BBDC-41E9-B696-E8A20C09E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9000" y="201314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54669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Blueprint cần SME</a:t>
            </a:r>
            <a:endParaRPr/>
          </a:p>
        </p:txBody>
      </p:sp>
      <p:sp>
        <p:nvSpPr>
          <p:cNvPr id="880" name="Google Shape;880;p89">
            <a:extLst>
              <a:ext uri="{FF2B5EF4-FFF2-40B4-BE49-F238E27FC236}">
                <a16:creationId xmlns:a16="http://schemas.microsoft.com/office/drawing/2014/main" id="{EF39F8F5-6F9C-4AD1-A1A7-6AF6553B313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09025" y="248939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60 profile cần chuyên gia miền thẩm định.</a:t>
            </a:r>
            <a:endParaRPr/>
          </a:p>
        </p:txBody>
      </p:sp>
      <p:sp>
        <p:nvSpPr>
          <p:cNvPr id="881" name="Google Shape;881;p89">
            <a:extLst>
              <a:ext uri="{FF2B5EF4-FFF2-40B4-BE49-F238E27FC236}">
                <a16:creationId xmlns:a16="http://schemas.microsoft.com/office/drawing/2014/main" id="{C88A62D0-4E84-4E92-B593-050E06D733E3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953025" y="201314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62660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Chưa có field data</a:t>
            </a:r>
            <a:endParaRPr/>
          </a:p>
        </p:txBody>
      </p:sp>
      <p:sp>
        <p:nvSpPr>
          <p:cNvPr id="882" name="Google Shape;882;p89">
            <a:extLst>
              <a:ext uri="{FF2B5EF4-FFF2-40B4-BE49-F238E27FC236}">
                <a16:creationId xmlns:a16="http://schemas.microsoft.com/office/drawing/2014/main" id="{9CC2C9A1-3486-4DDC-8306-0E6DB01EB392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953125" y="248939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Chưa kết luận reliability, validity hay fairness.</a:t>
            </a:r>
            <a:endParaRPr/>
          </a:p>
        </p:txBody>
      </p:sp>
      <p:sp>
        <p:nvSpPr>
          <p:cNvPr id="883" name="Google Shape;883;p89">
            <a:extLst>
              <a:ext uri="{FF2B5EF4-FFF2-40B4-BE49-F238E27FC236}">
                <a16:creationId xmlns:a16="http://schemas.microsoft.com/office/drawing/2014/main" id="{48848221-E426-48C1-8D92-9FB117774ADA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064875" y="2013140"/>
            <a:ext cx="2126100" cy="4762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 fontScale="48534" lnSpcReduction="20000"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25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Speech cần benchmark</a:t>
            </a:r>
            <a:endParaRPr/>
          </a:p>
        </p:txBody>
      </p:sp>
      <p:sp>
        <p:nvSpPr>
          <p:cNvPr id="884" name="Google Shape;884;p89">
            <a:extLst>
              <a:ext uri="{FF2B5EF4-FFF2-40B4-BE49-F238E27FC236}">
                <a16:creationId xmlns:a16="http://schemas.microsoft.com/office/drawing/2014/main" id="{C0EDBC46-FF58-48B4-B107-BA09682687A5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064875" y="2489390"/>
            <a:ext cx="2126100" cy="8763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Chưa có mẫu tiếng Việt đại diện.</a:t>
            </a:r>
            <a:endParaRPr/>
          </a:p>
        </p:txBody>
      </p:sp>
      <p:sp>
        <p:nvSpPr>
          <p:cNvPr id="886" name="Google Shape;886;p89">
            <a:extLst>
              <a:ext uri="{FF2B5EF4-FFF2-40B4-BE49-F238E27FC236}">
                <a16:creationId xmlns:a16="http://schemas.microsoft.com/office/drawing/2014/main" id="{E3C6DD10-53BB-45CE-839E-D57514AC5269}"/>
              </a:ext>
            </a:extLst>
          </p:cNvPr>
          <p:cNvSpPr>
            <a:spLocks noGrp="1"/>
          </p:cNvSpPr>
          <p:nvPr/>
        </p:nvSpPr>
        <p:spPr>
          <a:xfrm>
            <a:off x="4608858" y="1796252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410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410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4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89">
            <a:extLst>
              <a:ext uri="{FF2B5EF4-FFF2-40B4-BE49-F238E27FC236}">
                <a16:creationId xmlns:a16="http://schemas.microsoft.com/office/drawing/2014/main" id="{24BC3697-5925-45C7-BC3D-98580AD0D4FB}"/>
              </a:ext>
            </a:extLst>
          </p:cNvPr>
          <p:cNvSpPr>
            <a:spLocks noGrp="1"/>
          </p:cNvSpPr>
          <p:nvPr/>
        </p:nvSpPr>
        <p:spPr>
          <a:xfrm>
            <a:off x="4506559" y="1693858"/>
            <a:ext cx="28773" cy="28773"/>
          </a:xfrm>
          <a:custGeom>
            <a:avLst/>
            <a:gdLst/>
            <a:ahLst/>
            <a:cxnLst/>
            <a:rect l="l" t="t" r="r" b="b"/>
            <a:pathLst>
              <a:path w="788" h="788">
                <a:moveTo>
                  <a:pt x="378" y="0"/>
                </a:moveTo>
                <a:cubicBezTo>
                  <a:pt x="189" y="0"/>
                  <a:pt x="0" y="189"/>
                  <a:pt x="0" y="410"/>
                </a:cubicBezTo>
                <a:cubicBezTo>
                  <a:pt x="0" y="630"/>
                  <a:pt x="189" y="788"/>
                  <a:pt x="378" y="788"/>
                </a:cubicBezTo>
                <a:cubicBezTo>
                  <a:pt x="599" y="788"/>
                  <a:pt x="788" y="630"/>
                  <a:pt x="788" y="410"/>
                </a:cubicBezTo>
                <a:cubicBezTo>
                  <a:pt x="788" y="189"/>
                  <a:pt x="599" y="0"/>
                  <a:pt x="3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p89">
            <a:extLst>
              <a:ext uri="{FF2B5EF4-FFF2-40B4-BE49-F238E27FC236}">
                <a16:creationId xmlns:a16="http://schemas.microsoft.com/office/drawing/2014/main" id="{E7A06639-7743-4E01-9D33-A0DD094D5D3D}"/>
              </a:ext>
            </a:extLst>
          </p:cNvPr>
          <p:cNvSpPr>
            <a:spLocks noGrp="1"/>
          </p:cNvSpPr>
          <p:nvPr/>
        </p:nvSpPr>
        <p:spPr>
          <a:xfrm>
            <a:off x="4345507" y="1533109"/>
            <a:ext cx="453177" cy="452952"/>
          </a:xfrm>
          <a:custGeom>
            <a:avLst/>
            <a:gdLst/>
            <a:ahLst/>
            <a:cxnLst/>
            <a:rect l="l" t="t" r="r" b="b"/>
            <a:pathLst>
              <a:path w="12414" h="12406">
                <a:moveTo>
                  <a:pt x="4506" y="3332"/>
                </a:moveTo>
                <a:cubicBezTo>
                  <a:pt x="5167" y="3332"/>
                  <a:pt x="5735" y="3867"/>
                  <a:pt x="5735" y="4561"/>
                </a:cubicBezTo>
                <a:cubicBezTo>
                  <a:pt x="5735" y="5222"/>
                  <a:pt x="5199" y="5821"/>
                  <a:pt x="4506" y="5821"/>
                </a:cubicBezTo>
                <a:cubicBezTo>
                  <a:pt x="3844" y="5821"/>
                  <a:pt x="3277" y="5254"/>
                  <a:pt x="3277" y="4561"/>
                </a:cubicBezTo>
                <a:cubicBezTo>
                  <a:pt x="3277" y="3899"/>
                  <a:pt x="3844" y="3332"/>
                  <a:pt x="4506" y="3332"/>
                </a:cubicBezTo>
                <a:close/>
                <a:moveTo>
                  <a:pt x="7830" y="4159"/>
                </a:moveTo>
                <a:cubicBezTo>
                  <a:pt x="7940" y="4159"/>
                  <a:pt x="8050" y="4198"/>
                  <a:pt x="8129" y="4277"/>
                </a:cubicBezTo>
                <a:cubicBezTo>
                  <a:pt x="8286" y="4435"/>
                  <a:pt x="8286" y="4718"/>
                  <a:pt x="8129" y="4876"/>
                </a:cubicBezTo>
                <a:lnTo>
                  <a:pt x="4821" y="8184"/>
                </a:lnTo>
                <a:cubicBezTo>
                  <a:pt x="4742" y="8262"/>
                  <a:pt x="4632" y="8302"/>
                  <a:pt x="4522" y="8302"/>
                </a:cubicBezTo>
                <a:cubicBezTo>
                  <a:pt x="4411" y="8302"/>
                  <a:pt x="4301" y="8262"/>
                  <a:pt x="4222" y="8184"/>
                </a:cubicBezTo>
                <a:cubicBezTo>
                  <a:pt x="4065" y="8026"/>
                  <a:pt x="4065" y="7743"/>
                  <a:pt x="4222" y="7585"/>
                </a:cubicBezTo>
                <a:lnTo>
                  <a:pt x="7530" y="4277"/>
                </a:lnTo>
                <a:cubicBezTo>
                  <a:pt x="7609" y="4198"/>
                  <a:pt x="7719" y="4159"/>
                  <a:pt x="7830" y="4159"/>
                </a:cubicBezTo>
                <a:close/>
                <a:moveTo>
                  <a:pt x="7845" y="6640"/>
                </a:moveTo>
                <a:cubicBezTo>
                  <a:pt x="8539" y="6640"/>
                  <a:pt x="9074" y="7175"/>
                  <a:pt x="9074" y="7900"/>
                </a:cubicBezTo>
                <a:cubicBezTo>
                  <a:pt x="9074" y="8562"/>
                  <a:pt x="8539" y="9129"/>
                  <a:pt x="7845" y="9129"/>
                </a:cubicBezTo>
                <a:cubicBezTo>
                  <a:pt x="7184" y="9129"/>
                  <a:pt x="6648" y="8562"/>
                  <a:pt x="6648" y="7900"/>
                </a:cubicBezTo>
                <a:cubicBezTo>
                  <a:pt x="6648" y="7239"/>
                  <a:pt x="7184" y="6640"/>
                  <a:pt x="7845" y="6640"/>
                </a:cubicBezTo>
                <a:close/>
                <a:moveTo>
                  <a:pt x="6223" y="0"/>
                </a:moveTo>
                <a:cubicBezTo>
                  <a:pt x="6113" y="0"/>
                  <a:pt x="6002" y="40"/>
                  <a:pt x="5924" y="118"/>
                </a:cubicBezTo>
                <a:lnTo>
                  <a:pt x="4348" y="1694"/>
                </a:lnTo>
                <a:lnTo>
                  <a:pt x="2111" y="1694"/>
                </a:lnTo>
                <a:cubicBezTo>
                  <a:pt x="1859" y="1694"/>
                  <a:pt x="1702" y="1883"/>
                  <a:pt x="1702" y="2072"/>
                </a:cubicBezTo>
                <a:lnTo>
                  <a:pt x="1702" y="4309"/>
                </a:lnTo>
                <a:lnTo>
                  <a:pt x="127" y="5884"/>
                </a:lnTo>
                <a:cubicBezTo>
                  <a:pt x="1" y="6041"/>
                  <a:pt x="1" y="6325"/>
                  <a:pt x="127" y="6482"/>
                </a:cubicBezTo>
                <a:lnTo>
                  <a:pt x="1702" y="8058"/>
                </a:lnTo>
                <a:lnTo>
                  <a:pt x="1702" y="10294"/>
                </a:lnTo>
                <a:cubicBezTo>
                  <a:pt x="1702" y="10547"/>
                  <a:pt x="1922" y="10704"/>
                  <a:pt x="2111" y="10704"/>
                </a:cubicBezTo>
                <a:lnTo>
                  <a:pt x="4348" y="10704"/>
                </a:lnTo>
                <a:lnTo>
                  <a:pt x="5924" y="12279"/>
                </a:lnTo>
                <a:cubicBezTo>
                  <a:pt x="6018" y="12342"/>
                  <a:pt x="6113" y="12405"/>
                  <a:pt x="6207" y="12405"/>
                </a:cubicBezTo>
                <a:cubicBezTo>
                  <a:pt x="6333" y="12405"/>
                  <a:pt x="6396" y="12342"/>
                  <a:pt x="6491" y="12279"/>
                </a:cubicBezTo>
                <a:lnTo>
                  <a:pt x="8066" y="10704"/>
                </a:lnTo>
                <a:lnTo>
                  <a:pt x="10303" y="10704"/>
                </a:lnTo>
                <a:cubicBezTo>
                  <a:pt x="10523" y="10704"/>
                  <a:pt x="10744" y="10515"/>
                  <a:pt x="10744" y="10294"/>
                </a:cubicBezTo>
                <a:lnTo>
                  <a:pt x="10744" y="8058"/>
                </a:lnTo>
                <a:lnTo>
                  <a:pt x="12319" y="6482"/>
                </a:lnTo>
                <a:cubicBezTo>
                  <a:pt x="12382" y="6419"/>
                  <a:pt x="12414" y="6293"/>
                  <a:pt x="12414" y="6199"/>
                </a:cubicBezTo>
                <a:cubicBezTo>
                  <a:pt x="12414" y="6104"/>
                  <a:pt x="12382" y="6010"/>
                  <a:pt x="12319" y="5947"/>
                </a:cubicBezTo>
                <a:lnTo>
                  <a:pt x="10744" y="4372"/>
                </a:lnTo>
                <a:lnTo>
                  <a:pt x="10744" y="2103"/>
                </a:lnTo>
                <a:cubicBezTo>
                  <a:pt x="10744" y="1851"/>
                  <a:pt x="10523" y="1694"/>
                  <a:pt x="10334" y="1694"/>
                </a:cubicBezTo>
                <a:lnTo>
                  <a:pt x="8097" y="1694"/>
                </a:lnTo>
                <a:lnTo>
                  <a:pt x="6522" y="118"/>
                </a:lnTo>
                <a:cubicBezTo>
                  <a:pt x="6443" y="40"/>
                  <a:pt x="6333" y="0"/>
                  <a:pt x="62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89">
            <a:extLst>
              <a:ext uri="{FF2B5EF4-FFF2-40B4-BE49-F238E27FC236}">
                <a16:creationId xmlns:a16="http://schemas.microsoft.com/office/drawing/2014/main" id="{85BEDD93-6C91-4096-9ADC-C8CE5B50E137}"/>
              </a:ext>
            </a:extLst>
          </p:cNvPr>
          <p:cNvSpPr>
            <a:spLocks noGrp="1"/>
          </p:cNvSpPr>
          <p:nvPr/>
        </p:nvSpPr>
        <p:spPr>
          <a:xfrm>
            <a:off x="1786474" y="1532339"/>
            <a:ext cx="460033" cy="454301"/>
          </a:xfrm>
          <a:custGeom>
            <a:avLst/>
            <a:gdLst/>
            <a:ahLst/>
            <a:cxnLst/>
            <a:rect l="l" t="t" r="r" b="b"/>
            <a:pathLst>
              <a:path w="12603" h="12446">
                <a:moveTo>
                  <a:pt x="11136" y="1"/>
                </a:moveTo>
                <a:cubicBezTo>
                  <a:pt x="11054" y="1"/>
                  <a:pt x="10975" y="1"/>
                  <a:pt x="10902" y="1"/>
                </a:cubicBezTo>
                <a:cubicBezTo>
                  <a:pt x="10429" y="1"/>
                  <a:pt x="10051" y="159"/>
                  <a:pt x="9736" y="474"/>
                </a:cubicBezTo>
                <a:lnTo>
                  <a:pt x="3561" y="6649"/>
                </a:lnTo>
                <a:lnTo>
                  <a:pt x="2301" y="6428"/>
                </a:lnTo>
                <a:cubicBezTo>
                  <a:pt x="2278" y="6423"/>
                  <a:pt x="2253" y="6420"/>
                  <a:pt x="2229" y="6420"/>
                </a:cubicBezTo>
                <a:cubicBezTo>
                  <a:pt x="2119" y="6420"/>
                  <a:pt x="2000" y="6471"/>
                  <a:pt x="1923" y="6523"/>
                </a:cubicBezTo>
                <a:lnTo>
                  <a:pt x="158" y="8319"/>
                </a:lnTo>
                <a:cubicBezTo>
                  <a:pt x="32" y="8382"/>
                  <a:pt x="1" y="8539"/>
                  <a:pt x="32" y="8697"/>
                </a:cubicBezTo>
                <a:cubicBezTo>
                  <a:pt x="95" y="8823"/>
                  <a:pt x="190" y="8949"/>
                  <a:pt x="347" y="8980"/>
                </a:cubicBezTo>
                <a:lnTo>
                  <a:pt x="2994" y="9484"/>
                </a:lnTo>
                <a:lnTo>
                  <a:pt x="3498" y="12131"/>
                </a:lnTo>
                <a:cubicBezTo>
                  <a:pt x="3561" y="12288"/>
                  <a:pt x="3624" y="12414"/>
                  <a:pt x="3782" y="12446"/>
                </a:cubicBezTo>
                <a:lnTo>
                  <a:pt x="3908" y="12446"/>
                </a:lnTo>
                <a:cubicBezTo>
                  <a:pt x="4034" y="12446"/>
                  <a:pt x="4128" y="12414"/>
                  <a:pt x="4254" y="12414"/>
                </a:cubicBezTo>
                <a:lnTo>
                  <a:pt x="6018" y="10619"/>
                </a:lnTo>
                <a:cubicBezTo>
                  <a:pt x="6144" y="10556"/>
                  <a:pt x="6176" y="10398"/>
                  <a:pt x="6144" y="10272"/>
                </a:cubicBezTo>
                <a:lnTo>
                  <a:pt x="5924" y="9012"/>
                </a:lnTo>
                <a:lnTo>
                  <a:pt x="12099" y="2837"/>
                </a:lnTo>
                <a:cubicBezTo>
                  <a:pt x="12414" y="2522"/>
                  <a:pt x="12571" y="2081"/>
                  <a:pt x="12571" y="1671"/>
                </a:cubicBezTo>
                <a:cubicBezTo>
                  <a:pt x="12571" y="1199"/>
                  <a:pt x="12603" y="600"/>
                  <a:pt x="12288" y="285"/>
                </a:cubicBezTo>
                <a:cubicBezTo>
                  <a:pt x="12025" y="22"/>
                  <a:pt x="11544" y="1"/>
                  <a:pt x="1113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89">
            <a:extLst>
              <a:ext uri="{FF2B5EF4-FFF2-40B4-BE49-F238E27FC236}">
                <a16:creationId xmlns:a16="http://schemas.microsoft.com/office/drawing/2014/main" id="{365D6EB8-6A65-4086-96D1-2A6A49F1013C}"/>
              </a:ext>
            </a:extLst>
          </p:cNvPr>
          <p:cNvSpPr>
            <a:spLocks noGrp="1"/>
          </p:cNvSpPr>
          <p:nvPr/>
        </p:nvSpPr>
        <p:spPr>
          <a:xfrm>
            <a:off x="1801132" y="1590954"/>
            <a:ext cx="255361" cy="130378"/>
          </a:xfrm>
          <a:custGeom>
            <a:avLst/>
            <a:gdLst/>
            <a:ahLst/>
            <a:cxnLst/>
            <a:rect l="l" t="t" r="r" b="b"/>
            <a:pathLst>
              <a:path w="6995" h="3570">
                <a:moveTo>
                  <a:pt x="1632" y="1"/>
                </a:moveTo>
                <a:cubicBezTo>
                  <a:pt x="1523" y="1"/>
                  <a:pt x="1407" y="57"/>
                  <a:pt x="1355" y="135"/>
                </a:cubicBezTo>
                <a:lnTo>
                  <a:pt x="158" y="1301"/>
                </a:lnTo>
                <a:cubicBezTo>
                  <a:pt x="95" y="1395"/>
                  <a:pt x="0" y="1553"/>
                  <a:pt x="32" y="1710"/>
                </a:cubicBezTo>
                <a:cubicBezTo>
                  <a:pt x="126" y="1773"/>
                  <a:pt x="189" y="1899"/>
                  <a:pt x="315" y="1931"/>
                </a:cubicBezTo>
                <a:lnTo>
                  <a:pt x="4317" y="3569"/>
                </a:lnTo>
                <a:lnTo>
                  <a:pt x="6995" y="891"/>
                </a:lnTo>
                <a:lnTo>
                  <a:pt x="1702" y="9"/>
                </a:lnTo>
                <a:cubicBezTo>
                  <a:pt x="1679" y="4"/>
                  <a:pt x="1656" y="1"/>
                  <a:pt x="163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89">
            <a:extLst>
              <a:ext uri="{FF2B5EF4-FFF2-40B4-BE49-F238E27FC236}">
                <a16:creationId xmlns:a16="http://schemas.microsoft.com/office/drawing/2014/main" id="{732BE817-7B71-4205-8905-C60886E85AE9}"/>
              </a:ext>
            </a:extLst>
          </p:cNvPr>
          <p:cNvSpPr>
            <a:spLocks noGrp="1"/>
          </p:cNvSpPr>
          <p:nvPr/>
        </p:nvSpPr>
        <p:spPr>
          <a:xfrm>
            <a:off x="2053396" y="1717324"/>
            <a:ext cx="129929" cy="253114"/>
          </a:xfrm>
          <a:custGeom>
            <a:avLst/>
            <a:gdLst/>
            <a:ahLst/>
            <a:cxnLst/>
            <a:rect l="l" t="t" r="r" b="b"/>
            <a:pathLst>
              <a:path w="3560" h="6932">
                <a:moveTo>
                  <a:pt x="2678" y="0"/>
                </a:moveTo>
                <a:lnTo>
                  <a:pt x="0" y="2678"/>
                </a:lnTo>
                <a:lnTo>
                  <a:pt x="1607" y="6679"/>
                </a:lnTo>
                <a:cubicBezTo>
                  <a:pt x="1638" y="6805"/>
                  <a:pt x="1764" y="6931"/>
                  <a:pt x="1922" y="6931"/>
                </a:cubicBezTo>
                <a:lnTo>
                  <a:pt x="1985" y="6931"/>
                </a:lnTo>
                <a:cubicBezTo>
                  <a:pt x="2111" y="6931"/>
                  <a:pt x="2206" y="6900"/>
                  <a:pt x="2269" y="6805"/>
                </a:cubicBezTo>
                <a:lnTo>
                  <a:pt x="3466" y="5640"/>
                </a:lnTo>
                <a:cubicBezTo>
                  <a:pt x="3529" y="5545"/>
                  <a:pt x="3560" y="5388"/>
                  <a:pt x="3560" y="5262"/>
                </a:cubicBezTo>
                <a:lnTo>
                  <a:pt x="267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89">
            <a:extLst>
              <a:ext uri="{FF2B5EF4-FFF2-40B4-BE49-F238E27FC236}">
                <a16:creationId xmlns:a16="http://schemas.microsoft.com/office/drawing/2014/main" id="{C2BF4F60-3943-4F53-A970-A45E64E873A2}"/>
              </a:ext>
            </a:extLst>
          </p:cNvPr>
          <p:cNvSpPr>
            <a:spLocks noGrp="1"/>
          </p:cNvSpPr>
          <p:nvPr/>
        </p:nvSpPr>
        <p:spPr>
          <a:xfrm>
            <a:off x="7275523" y="1746127"/>
            <a:ext cx="76878" cy="31583"/>
          </a:xfrm>
          <a:custGeom>
            <a:avLst/>
            <a:gdLst/>
            <a:ahLst/>
            <a:cxnLst/>
            <a:rect l="l" t="t" r="r" b="b"/>
            <a:pathLst>
              <a:path w="1766" h="725">
                <a:moveTo>
                  <a:pt x="347" y="0"/>
                </a:moveTo>
                <a:cubicBezTo>
                  <a:pt x="158" y="0"/>
                  <a:pt x="1" y="158"/>
                  <a:pt x="1" y="378"/>
                </a:cubicBezTo>
                <a:cubicBezTo>
                  <a:pt x="1" y="567"/>
                  <a:pt x="158" y="725"/>
                  <a:pt x="347" y="725"/>
                </a:cubicBezTo>
                <a:lnTo>
                  <a:pt x="1419" y="725"/>
                </a:lnTo>
                <a:cubicBezTo>
                  <a:pt x="1608" y="725"/>
                  <a:pt x="1765" y="567"/>
                  <a:pt x="1765" y="378"/>
                </a:cubicBezTo>
                <a:cubicBezTo>
                  <a:pt x="1734" y="158"/>
                  <a:pt x="1608" y="0"/>
                  <a:pt x="14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89">
            <a:extLst>
              <a:ext uri="{FF2B5EF4-FFF2-40B4-BE49-F238E27FC236}">
                <a16:creationId xmlns:a16="http://schemas.microsoft.com/office/drawing/2014/main" id="{ABB0144A-C071-4EB8-8039-4E0EAFE19BD2}"/>
              </a:ext>
            </a:extLst>
          </p:cNvPr>
          <p:cNvSpPr>
            <a:spLocks noGrp="1"/>
          </p:cNvSpPr>
          <p:nvPr/>
        </p:nvSpPr>
        <p:spPr>
          <a:xfrm>
            <a:off x="7261321" y="1796422"/>
            <a:ext cx="64515" cy="59007"/>
          </a:xfrm>
          <a:custGeom>
            <a:avLst/>
            <a:gdLst/>
            <a:ahLst/>
            <a:cxnLst/>
            <a:rect l="l" t="t" r="r" b="b"/>
            <a:pathLst>
              <a:path w="1482" h="1355">
                <a:moveTo>
                  <a:pt x="394" y="0"/>
                </a:moveTo>
                <a:cubicBezTo>
                  <a:pt x="308" y="0"/>
                  <a:pt x="221" y="32"/>
                  <a:pt x="158" y="95"/>
                </a:cubicBezTo>
                <a:cubicBezTo>
                  <a:pt x="0" y="221"/>
                  <a:pt x="0" y="410"/>
                  <a:pt x="158" y="567"/>
                </a:cubicBezTo>
                <a:lnTo>
                  <a:pt x="882" y="1260"/>
                </a:lnTo>
                <a:cubicBezTo>
                  <a:pt x="945" y="1323"/>
                  <a:pt x="1032" y="1355"/>
                  <a:pt x="1119" y="1355"/>
                </a:cubicBezTo>
                <a:cubicBezTo>
                  <a:pt x="1205" y="1355"/>
                  <a:pt x="1292" y="1323"/>
                  <a:pt x="1355" y="1260"/>
                </a:cubicBezTo>
                <a:cubicBezTo>
                  <a:pt x="1481" y="1134"/>
                  <a:pt x="1481" y="914"/>
                  <a:pt x="1355" y="788"/>
                </a:cubicBezTo>
                <a:lnTo>
                  <a:pt x="630" y="95"/>
                </a:lnTo>
                <a:cubicBezTo>
                  <a:pt x="567" y="32"/>
                  <a:pt x="481" y="0"/>
                  <a:pt x="394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89">
            <a:extLst>
              <a:ext uri="{FF2B5EF4-FFF2-40B4-BE49-F238E27FC236}">
                <a16:creationId xmlns:a16="http://schemas.microsoft.com/office/drawing/2014/main" id="{DF2157F7-89F4-49EC-A862-CAF7A0FECEBE}"/>
              </a:ext>
            </a:extLst>
          </p:cNvPr>
          <p:cNvSpPr>
            <a:spLocks noGrp="1"/>
          </p:cNvSpPr>
          <p:nvPr/>
        </p:nvSpPr>
        <p:spPr>
          <a:xfrm>
            <a:off x="7263908" y="1667178"/>
            <a:ext cx="61817" cy="60131"/>
          </a:xfrm>
          <a:custGeom>
            <a:avLst/>
            <a:gdLst/>
            <a:ahLst/>
            <a:cxnLst/>
            <a:rect l="l" t="t" r="r" b="b"/>
            <a:pathLst>
              <a:path w="1419" h="1380">
                <a:moveTo>
                  <a:pt x="1056" y="1"/>
                </a:moveTo>
                <a:cubicBezTo>
                  <a:pt x="969" y="1"/>
                  <a:pt x="882" y="32"/>
                  <a:pt x="819" y="96"/>
                </a:cubicBezTo>
                <a:lnTo>
                  <a:pt x="95" y="789"/>
                </a:lnTo>
                <a:cubicBezTo>
                  <a:pt x="0" y="915"/>
                  <a:pt x="0" y="1135"/>
                  <a:pt x="95" y="1261"/>
                </a:cubicBezTo>
                <a:cubicBezTo>
                  <a:pt x="158" y="1340"/>
                  <a:pt x="252" y="1379"/>
                  <a:pt x="343" y="1379"/>
                </a:cubicBezTo>
                <a:cubicBezTo>
                  <a:pt x="434" y="1379"/>
                  <a:pt x="520" y="1340"/>
                  <a:pt x="567" y="1261"/>
                </a:cubicBezTo>
                <a:lnTo>
                  <a:pt x="1292" y="568"/>
                </a:lnTo>
                <a:cubicBezTo>
                  <a:pt x="1418" y="442"/>
                  <a:pt x="1418" y="190"/>
                  <a:pt x="1292" y="96"/>
                </a:cubicBezTo>
                <a:cubicBezTo>
                  <a:pt x="1229" y="32"/>
                  <a:pt x="1142" y="1"/>
                  <a:pt x="105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89">
            <a:extLst>
              <a:ext uri="{FF2B5EF4-FFF2-40B4-BE49-F238E27FC236}">
                <a16:creationId xmlns:a16="http://schemas.microsoft.com/office/drawing/2014/main" id="{520530B8-9B7B-4383-A1C5-5AA50495C4F4}"/>
              </a:ext>
            </a:extLst>
          </p:cNvPr>
          <p:cNvSpPr>
            <a:spLocks noGrp="1"/>
          </p:cNvSpPr>
          <p:nvPr/>
        </p:nvSpPr>
        <p:spPr>
          <a:xfrm>
            <a:off x="6895315" y="1657842"/>
            <a:ext cx="183878" cy="182529"/>
          </a:xfrm>
          <a:custGeom>
            <a:avLst/>
            <a:gdLst/>
            <a:ahLst/>
            <a:cxnLst/>
            <a:rect l="l" t="t" r="r" b="b"/>
            <a:pathLst>
              <a:path w="4222" h="4192">
                <a:moveTo>
                  <a:pt x="2489" y="1"/>
                </a:moveTo>
                <a:cubicBezTo>
                  <a:pt x="2048" y="1"/>
                  <a:pt x="1639" y="285"/>
                  <a:pt x="1481" y="726"/>
                </a:cubicBezTo>
                <a:lnTo>
                  <a:pt x="1418" y="726"/>
                </a:lnTo>
                <a:cubicBezTo>
                  <a:pt x="662" y="726"/>
                  <a:pt x="0" y="1356"/>
                  <a:pt x="0" y="2080"/>
                </a:cubicBezTo>
                <a:cubicBezTo>
                  <a:pt x="0" y="2836"/>
                  <a:pt x="630" y="3467"/>
                  <a:pt x="1418" y="3467"/>
                </a:cubicBezTo>
                <a:lnTo>
                  <a:pt x="1481" y="3467"/>
                </a:lnTo>
                <a:cubicBezTo>
                  <a:pt x="1639" y="3845"/>
                  <a:pt x="2017" y="4191"/>
                  <a:pt x="2489" y="4191"/>
                </a:cubicBezTo>
                <a:lnTo>
                  <a:pt x="4222" y="4191"/>
                </a:lnTo>
                <a:lnTo>
                  <a:pt x="422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89">
            <a:extLst>
              <a:ext uri="{FF2B5EF4-FFF2-40B4-BE49-F238E27FC236}">
                <a16:creationId xmlns:a16="http://schemas.microsoft.com/office/drawing/2014/main" id="{C2D2A745-4F25-4478-8C1D-6ACEC9B059AB}"/>
              </a:ext>
            </a:extLst>
          </p:cNvPr>
          <p:cNvSpPr>
            <a:spLocks noGrp="1"/>
          </p:cNvSpPr>
          <p:nvPr/>
        </p:nvSpPr>
        <p:spPr>
          <a:xfrm>
            <a:off x="7184859" y="1567356"/>
            <a:ext cx="61705" cy="363598"/>
          </a:xfrm>
          <a:custGeom>
            <a:avLst/>
            <a:gdLst/>
            <a:ahLst/>
            <a:cxnLst/>
            <a:rect l="l" t="t" r="r" b="b"/>
            <a:pathLst>
              <a:path w="1418" h="8350">
                <a:moveTo>
                  <a:pt x="725" y="1"/>
                </a:moveTo>
                <a:cubicBezTo>
                  <a:pt x="315" y="1"/>
                  <a:pt x="0" y="316"/>
                  <a:pt x="0" y="694"/>
                </a:cubicBezTo>
                <a:lnTo>
                  <a:pt x="0" y="7625"/>
                </a:lnTo>
                <a:cubicBezTo>
                  <a:pt x="0" y="8034"/>
                  <a:pt x="315" y="8349"/>
                  <a:pt x="725" y="8349"/>
                </a:cubicBezTo>
                <a:cubicBezTo>
                  <a:pt x="1134" y="8286"/>
                  <a:pt x="1418" y="8003"/>
                  <a:pt x="1418" y="7625"/>
                </a:cubicBezTo>
                <a:lnTo>
                  <a:pt x="1418" y="694"/>
                </a:lnTo>
                <a:cubicBezTo>
                  <a:pt x="1418" y="316"/>
                  <a:pt x="1103" y="1"/>
                  <a:pt x="72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89">
            <a:extLst>
              <a:ext uri="{FF2B5EF4-FFF2-40B4-BE49-F238E27FC236}">
                <a16:creationId xmlns:a16="http://schemas.microsoft.com/office/drawing/2014/main" id="{2BBD6331-35B2-415E-A497-2D040CD6FA5A}"/>
              </a:ext>
            </a:extLst>
          </p:cNvPr>
          <p:cNvSpPr>
            <a:spLocks noGrp="1"/>
          </p:cNvSpPr>
          <p:nvPr/>
        </p:nvSpPr>
        <p:spPr>
          <a:xfrm>
            <a:off x="6979209" y="1840484"/>
            <a:ext cx="89242" cy="120712"/>
          </a:xfrm>
          <a:custGeom>
            <a:avLst/>
            <a:gdLst/>
            <a:ahLst/>
            <a:cxnLst/>
            <a:rect l="l" t="t" r="r" b="b"/>
            <a:pathLst>
              <a:path w="2049" h="2773">
                <a:moveTo>
                  <a:pt x="1" y="0"/>
                </a:moveTo>
                <a:lnTo>
                  <a:pt x="1" y="1764"/>
                </a:lnTo>
                <a:cubicBezTo>
                  <a:pt x="1" y="2363"/>
                  <a:pt x="473" y="2773"/>
                  <a:pt x="1040" y="2773"/>
                </a:cubicBezTo>
                <a:cubicBezTo>
                  <a:pt x="1607" y="2773"/>
                  <a:pt x="2048" y="2300"/>
                  <a:pt x="2048" y="1764"/>
                </a:cubicBezTo>
                <a:lnTo>
                  <a:pt x="2048" y="32"/>
                </a:lnTo>
                <a:lnTo>
                  <a:pt x="316" y="32"/>
                </a:lnTo>
                <a:cubicBezTo>
                  <a:pt x="253" y="32"/>
                  <a:pt x="127" y="32"/>
                  <a:pt x="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89">
            <a:extLst>
              <a:ext uri="{FF2B5EF4-FFF2-40B4-BE49-F238E27FC236}">
                <a16:creationId xmlns:a16="http://schemas.microsoft.com/office/drawing/2014/main" id="{F7F04479-C37F-4FFB-8317-F0AC590B10DF}"/>
              </a:ext>
            </a:extLst>
          </p:cNvPr>
          <p:cNvSpPr>
            <a:spLocks noGrp="1"/>
          </p:cNvSpPr>
          <p:nvPr/>
        </p:nvSpPr>
        <p:spPr>
          <a:xfrm>
            <a:off x="7082643" y="1604746"/>
            <a:ext cx="90590" cy="285483"/>
          </a:xfrm>
          <a:custGeom>
            <a:avLst/>
            <a:gdLst/>
            <a:ahLst/>
            <a:cxnLst/>
            <a:rect l="l" t="t" r="r" b="b"/>
            <a:pathLst>
              <a:path w="2080" h="6554">
                <a:moveTo>
                  <a:pt x="2080" y="0"/>
                </a:moveTo>
                <a:lnTo>
                  <a:pt x="1765" y="315"/>
                </a:lnTo>
                <a:cubicBezTo>
                  <a:pt x="1292" y="788"/>
                  <a:pt x="662" y="1071"/>
                  <a:pt x="1" y="1166"/>
                </a:cubicBezTo>
                <a:lnTo>
                  <a:pt x="1" y="5419"/>
                </a:lnTo>
                <a:cubicBezTo>
                  <a:pt x="662" y="5482"/>
                  <a:pt x="1292" y="5766"/>
                  <a:pt x="1765" y="6238"/>
                </a:cubicBezTo>
                <a:lnTo>
                  <a:pt x="2080" y="6553"/>
                </a:lnTo>
                <a:lnTo>
                  <a:pt x="208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Rectangle: Rounded Corners 900">
            <a:extLst>
              <a:ext uri="{FF2B5EF4-FFF2-40B4-BE49-F238E27FC236}">
                <a16:creationId xmlns:a16="http://schemas.microsoft.com/office/drawing/2014/main" id="{C3CD022C-5EE2-4254-847A-2AD6129DD84C}"/>
              </a:ext>
            </a:extLst>
          </p:cNvPr>
          <p:cNvSpPr>
            <a:spLocks noGrp="1"/>
          </p:cNvSpPr>
          <p:nvPr/>
        </p:nvSpPr>
        <p:spPr>
          <a:xfrm>
            <a:off x="1000125" y="4171950"/>
            <a:ext cx="714375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152400" tIns="66675" rIns="152400" bIns="66675" anchor="ctr">
            <a:normAutofit fontScale="90169"/>
          </a:bodyPr>
          <a:lstStyle/>
          <a:p>
            <a:pPr algn="ctr">
              <a:buNone/>
              <a:def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10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Kết quả hiện tại chứng minh tính nhất quán kỹ thuật — chưa chứng minh hiệu lực tuyển dụng.</a:t>
            </a:r>
          </a:p>
        </p:txBody>
      </p:sp>
    </p:spTree>
    <p:extLst>
      <p:ext uri="{BB962C8B-B14F-4D97-AF65-F5344CB8AC3E}">
        <p14:creationId xmlns:p14="http://schemas.microsoft.com/office/powerpoint/2010/main" val="5814433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91">
            <a:extLst>
              <a:ext uri="{FF2B5EF4-FFF2-40B4-BE49-F238E27FC236}">
                <a16:creationId xmlns:a16="http://schemas.microsoft.com/office/drawing/2014/main" id="{AA5FC3E1-CBE8-4BE8-B739-354116B2A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18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Bốn cổng kiểm soát trước khi mở rộng tự động hóa</a:t>
            </a:r>
            <a:endParaRPr/>
          </a:p>
        </p:txBody>
      </p:sp>
      <p:sp>
        <p:nvSpPr>
          <p:cNvPr id="949" name="Google Shape;949;p91">
            <a:extLst>
              <a:ext uri="{FF2B5EF4-FFF2-40B4-BE49-F238E27FC236}">
                <a16:creationId xmlns:a16="http://schemas.microsoft.com/office/drawing/2014/main" id="{900CE7DC-2FE5-489D-A564-2A437FD25912}"/>
              </a:ext>
            </a:extLst>
          </p:cNvPr>
          <p:cNvSpPr>
            <a:spLocks noGrp="1"/>
          </p:cNvSpPr>
          <p:nvPr/>
        </p:nvSpPr>
        <p:spPr>
          <a:xfrm>
            <a:off x="6762750" y="1821350"/>
            <a:ext cx="171450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Validity, fairness, legal review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950" name="Google Shape;950;p91">
            <a:extLst>
              <a:ext uri="{FF2B5EF4-FFF2-40B4-BE49-F238E27FC236}">
                <a16:creationId xmlns:a16="http://schemas.microsoft.com/office/drawing/2014/main" id="{BEEAB31E-9846-482A-BBC3-6EDE3334C5CD}"/>
              </a:ext>
            </a:extLst>
          </p:cNvPr>
          <p:cNvSpPr>
            <a:spLocks noGrp="1"/>
          </p:cNvSpPr>
          <p:nvPr/>
        </p:nvSpPr>
        <p:spPr>
          <a:xfrm>
            <a:off x="2667000" y="1821350"/>
            <a:ext cx="171450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  <a:def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1–2 profile có SME, BARS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951" name="Google Shape;951;p91">
            <a:extLst>
              <a:ext uri="{FF2B5EF4-FFF2-40B4-BE49-F238E27FC236}">
                <a16:creationId xmlns:a16="http://schemas.microsoft.com/office/drawing/2014/main" id="{2F706B36-FFE7-4D4F-8CF7-E1E70E547FC8}"/>
              </a:ext>
            </a:extLst>
          </p:cNvPr>
          <p:cNvSpPr>
            <a:spLocks noGrp="1"/>
          </p:cNvSpPr>
          <p:nvPr/>
        </p:nvSpPr>
        <p:spPr>
          <a:xfrm>
            <a:off x="4714875" y="3278675"/>
            <a:ext cx="1714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4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Decision support</a:t>
            </a:r>
            <a:endParaRPr sz="2400">
              <a:solidFill>
                <a:schemeClr val="dk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952" name="Google Shape;952;p91">
            <a:extLst>
              <a:ext uri="{FF2B5EF4-FFF2-40B4-BE49-F238E27FC236}">
                <a16:creationId xmlns:a16="http://schemas.microsoft.com/office/drawing/2014/main" id="{50020273-8937-464F-BBE8-37E4821F4E79}"/>
              </a:ext>
            </a:extLst>
          </p:cNvPr>
          <p:cNvSpPr>
            <a:spLocks noGrp="1"/>
          </p:cNvSpPr>
          <p:nvPr/>
        </p:nvSpPr>
        <p:spPr>
          <a:xfrm>
            <a:off x="4714875" y="3678725"/>
            <a:ext cx="171450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Evidence-first; không auto-reject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953" name="Google Shape;953;p91">
            <a:extLst>
              <a:ext uri="{FF2B5EF4-FFF2-40B4-BE49-F238E27FC236}">
                <a16:creationId xmlns:a16="http://schemas.microsoft.com/office/drawing/2014/main" id="{66B2BEBE-EBBA-4359-BB69-D808DCB73E10}"/>
              </a:ext>
            </a:extLst>
          </p:cNvPr>
          <p:cNvSpPr>
            <a:spLocks noGrp="1"/>
          </p:cNvSpPr>
          <p:nvPr/>
        </p:nvSpPr>
        <p:spPr>
          <a:xfrm>
            <a:off x="619125" y="3278675"/>
            <a:ext cx="1714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4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Practice hardening</a:t>
            </a:r>
            <a:endParaRPr sz="2400">
              <a:solidFill>
                <a:schemeClr val="dk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954" name="Google Shape;954;p91">
            <a:extLst>
              <a:ext uri="{FF2B5EF4-FFF2-40B4-BE49-F238E27FC236}">
                <a16:creationId xmlns:a16="http://schemas.microsoft.com/office/drawing/2014/main" id="{B58B84BE-A32F-4A56-A6CD-CB8EC254205F}"/>
              </a:ext>
            </a:extLst>
          </p:cNvPr>
          <p:cNvSpPr>
            <a:spLocks noGrp="1"/>
          </p:cNvSpPr>
          <p:nvPr/>
        </p:nvSpPr>
        <p:spPr>
          <a:xfrm>
            <a:off x="619125" y="3678725"/>
            <a:ext cx="171450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Security, E2E, delete, UI clarity</a:t>
            </a:r>
            <a:endParaRPr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cxnSp>
        <p:nvCxnSpPr>
          <p:cNvPr id="1143" name="Google Shape;956;p91"/>
          <p:cNvCxnSpPr>
            <a:stCxn id="957" idx="3"/>
            <a:endCxn id="958" idx="1"/>
          </p:cNvCxnSpPr>
          <p:nvPr/>
        </p:nvCxnSpPr>
        <p:spPr>
          <a:xfrm>
            <a:off x="1876425" y="2745275"/>
            <a:ext cx="1247775" cy="0"/>
          </a:xfrm>
          <a:prstGeom prst="straightConnector1">
            <a:avLst/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4" name="Google Shape;959;p91"/>
          <p:cNvCxnSpPr>
            <a:stCxn id="958" idx="3"/>
            <a:endCxn id="960" idx="1"/>
          </p:cNvCxnSpPr>
          <p:nvPr/>
        </p:nvCxnSpPr>
        <p:spPr>
          <a:xfrm>
            <a:off x="3924300" y="2745275"/>
            <a:ext cx="1247775" cy="0"/>
          </a:xfrm>
          <a:prstGeom prst="straightConnector1">
            <a:avLst/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5" name="Google Shape;961;p91"/>
          <p:cNvCxnSpPr>
            <a:stCxn id="960" idx="3"/>
            <a:endCxn id="962" idx="1"/>
          </p:cNvCxnSpPr>
          <p:nvPr/>
        </p:nvCxnSpPr>
        <p:spPr>
          <a:xfrm>
            <a:off x="5972175" y="2745275"/>
            <a:ext cx="1247775" cy="0"/>
          </a:xfrm>
          <a:prstGeom prst="straightConnector1">
            <a:avLst/>
          </a:prstGeom>
          <a:ln w="28575" cap="flat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57" name="Google Shape;957;p91">
            <a:extLst>
              <a:ext uri="{FF2B5EF4-FFF2-40B4-BE49-F238E27FC236}">
                <a16:creationId xmlns:a16="http://schemas.microsoft.com/office/drawing/2014/main" id="{F0E57F4A-C262-4BC8-BDAD-7908115439C9}"/>
              </a:ext>
            </a:extLst>
          </p:cNvPr>
          <p:cNvSpPr>
            <a:spLocks noGrp="1"/>
          </p:cNvSpPr>
          <p:nvPr/>
        </p:nvSpPr>
        <p:spPr>
          <a:xfrm>
            <a:off x="1076325" y="2402375"/>
            <a:ext cx="800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01</a:t>
            </a:r>
            <a:endParaRPr sz="35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958" name="Google Shape;958;p91">
            <a:extLst>
              <a:ext uri="{FF2B5EF4-FFF2-40B4-BE49-F238E27FC236}">
                <a16:creationId xmlns:a16="http://schemas.microsoft.com/office/drawing/2014/main" id="{E2423EA8-9916-4540-A7A7-D90EC08F18BF}"/>
              </a:ext>
            </a:extLst>
          </p:cNvPr>
          <p:cNvSpPr>
            <a:spLocks noGrp="1"/>
          </p:cNvSpPr>
          <p:nvPr/>
        </p:nvSpPr>
        <p:spPr>
          <a:xfrm>
            <a:off x="3124200" y="2402375"/>
            <a:ext cx="800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02</a:t>
            </a:r>
            <a:endParaRPr sz="35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960" name="Google Shape;960;p91">
            <a:extLst>
              <a:ext uri="{FF2B5EF4-FFF2-40B4-BE49-F238E27FC236}">
                <a16:creationId xmlns:a16="http://schemas.microsoft.com/office/drawing/2014/main" id="{271E3F0B-7A3C-4203-910D-7CA0946FE57A}"/>
              </a:ext>
            </a:extLst>
          </p:cNvPr>
          <p:cNvSpPr>
            <a:spLocks noGrp="1"/>
          </p:cNvSpPr>
          <p:nvPr/>
        </p:nvSpPr>
        <p:spPr>
          <a:xfrm>
            <a:off x="5172075" y="2402375"/>
            <a:ext cx="800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03</a:t>
            </a:r>
            <a:endParaRPr sz="35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962" name="Google Shape;962;p91">
            <a:extLst>
              <a:ext uri="{FF2B5EF4-FFF2-40B4-BE49-F238E27FC236}">
                <a16:creationId xmlns:a16="http://schemas.microsoft.com/office/drawing/2014/main" id="{380BA578-2654-4013-9B64-DDCCFAAA2C69}"/>
              </a:ext>
            </a:extLst>
          </p:cNvPr>
          <p:cNvSpPr>
            <a:spLocks noGrp="1"/>
          </p:cNvSpPr>
          <p:nvPr/>
        </p:nvSpPr>
        <p:spPr>
          <a:xfrm>
            <a:off x="7219950" y="2402375"/>
            <a:ext cx="800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04</a:t>
            </a:r>
            <a:endParaRPr sz="3500">
              <a:solidFill>
                <a:schemeClr val="accent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963" name="Google Shape;963;p91">
            <a:extLst>
              <a:ext uri="{FF2B5EF4-FFF2-40B4-BE49-F238E27FC236}">
                <a16:creationId xmlns:a16="http://schemas.microsoft.com/office/drawing/2014/main" id="{1B262B84-B534-4F3B-AF9F-C490CFB5D056}"/>
              </a:ext>
            </a:extLst>
          </p:cNvPr>
          <p:cNvSpPr>
            <a:spLocks noGrp="1"/>
          </p:cNvSpPr>
          <p:nvPr/>
        </p:nvSpPr>
        <p:spPr>
          <a:xfrm>
            <a:off x="2667000" y="1421300"/>
            <a:ext cx="1714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4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Profile pilot</a:t>
            </a:r>
            <a:endParaRPr sz="2400">
              <a:solidFill>
                <a:schemeClr val="dk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964" name="Google Shape;964;p91">
            <a:extLst>
              <a:ext uri="{FF2B5EF4-FFF2-40B4-BE49-F238E27FC236}">
                <a16:creationId xmlns:a16="http://schemas.microsoft.com/office/drawing/2014/main" id="{56EF52C0-78DB-451D-8FB8-744453A7B16D}"/>
              </a:ext>
            </a:extLst>
          </p:cNvPr>
          <p:cNvSpPr>
            <a:spLocks noGrp="1"/>
          </p:cNvSpPr>
          <p:nvPr/>
        </p:nvSpPr>
        <p:spPr>
          <a:xfrm>
            <a:off x="6762750" y="1421300"/>
            <a:ext cx="1714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425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Controlled scale</a:t>
            </a:r>
            <a:endParaRPr sz="2400">
              <a:solidFill>
                <a:schemeClr val="dk1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D981410C-8AE8-4B2A-ACC8-81F54A53AF17}"/>
              </a:ext>
            </a:extLst>
          </p:cNvPr>
          <p:cNvSpPr>
            <a:spLocks noGrp="1"/>
          </p:cNvSpPr>
          <p:nvPr/>
        </p:nvSpPr>
        <p:spPr>
          <a:xfrm>
            <a:off x="457200" y="827950"/>
            <a:ext cx="5334000" cy="266700"/>
          </a:xfrm>
          <a:prstGeom prst="rect">
            <a:avLst/>
          </a:prstGeom>
          <a:ln w="0">
            <a:prstDash val="solid"/>
          </a:ln>
        </p:spPr>
        <p:txBody>
          <a:bodyPr lIns="28575" tIns="19050" rIns="28575" bIns="19050" anchor="ctr">
            <a:normAutofit/>
          </a:bodyPr>
          <a:lstStyle/>
          <a:p>
            <a:pPr algn="ctr">
              <a:buNone/>
              <a:def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050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Mỗi giai đoạn có một gate bắt buộc trước khi tăng mức tự động hóa.</a:t>
            </a:r>
          </a:p>
        </p:txBody>
      </p:sp>
    </p:spTree>
    <p:extLst>
      <p:ext uri="{BB962C8B-B14F-4D97-AF65-F5344CB8AC3E}">
        <p14:creationId xmlns:p14="http://schemas.microsoft.com/office/powerpoint/2010/main" val="1423724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Google Shape;1160;p99">
            <a:extLst>
              <a:ext uri="{FF2B5EF4-FFF2-40B4-BE49-F238E27FC236}">
                <a16:creationId xmlns:a16="http://schemas.microsoft.com/office/drawing/2014/main" id="{532A6E4B-67D5-489F-840D-1DA96401E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50" y="657225"/>
            <a:ext cx="7524750" cy="1000125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02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InterV đã đạt nền tảng kỹ thuật khả thi</a:t>
            </a:r>
            <a:endParaRPr/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025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cho nghiên cứu và triển khai có kiểm soát</a:t>
            </a:r>
            <a:endParaRPr/>
          </a:p>
        </p:txBody>
      </p: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344DA7F6-6B12-4D0A-9C5E-76CA1B8E5458}"/>
              </a:ext>
            </a:extLst>
          </p:cNvPr>
          <p:cNvSpPr>
            <a:spLocks noGrp="1"/>
          </p:cNvSpPr>
          <p:nvPr/>
        </p:nvSpPr>
        <p:spPr>
          <a:xfrm>
            <a:off x="838200" y="1741000"/>
            <a:ext cx="1428750" cy="2286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l">
              <a:defRPr sz="788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788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KẾT LUẬN</a:t>
            </a:r>
          </a:p>
        </p:txBody>
      </p:sp>
      <p:sp>
        <p:nvSpPr>
          <p:cNvPr id="1162" name="Straight Connector 1161">
            <a:extLst>
              <a:ext uri="{FF2B5EF4-FFF2-40B4-BE49-F238E27FC236}">
                <a16:creationId xmlns:a16="http://schemas.microsoft.com/office/drawing/2014/main" id="{ECBB057D-CB7E-4836-8B72-C81CFD09C3A5}"/>
              </a:ext>
            </a:extLst>
          </p:cNvPr>
          <p:cNvSpPr>
            <a:spLocks noGrp="1"/>
          </p:cNvSpPr>
          <p:nvPr/>
        </p:nvSpPr>
        <p:spPr>
          <a:xfrm>
            <a:off x="3314700" y="1988796"/>
            <a:ext cx="0" cy="1466850"/>
          </a:xfrm>
          <a:prstGeom prst="line">
            <a:avLst/>
          </a:prstGeom>
          <a:ln w="9525">
            <a:solidFill>
              <a:srgbClr val="6C766B"/>
            </a:solidFill>
            <a:prstDash val="solid"/>
          </a:ln>
        </p:spPr>
      </p:sp>
      <p:sp>
        <p:nvSpPr>
          <p:cNvPr id="1163" name="Straight Connector 1162">
            <a:extLst>
              <a:ext uri="{FF2B5EF4-FFF2-40B4-BE49-F238E27FC236}">
                <a16:creationId xmlns:a16="http://schemas.microsoft.com/office/drawing/2014/main" id="{DDBC3918-2EF9-4CE1-9ADA-507CBA1017E5}"/>
              </a:ext>
            </a:extLst>
          </p:cNvPr>
          <p:cNvSpPr>
            <a:spLocks noGrp="1"/>
          </p:cNvSpPr>
          <p:nvPr/>
        </p:nvSpPr>
        <p:spPr>
          <a:xfrm>
            <a:off x="5829300" y="1988796"/>
            <a:ext cx="0" cy="1466850"/>
          </a:xfrm>
          <a:prstGeom prst="line">
            <a:avLst/>
          </a:prstGeom>
          <a:ln w="9525">
            <a:solidFill>
              <a:srgbClr val="6C766B"/>
            </a:solidFill>
            <a:prstDash val="solid"/>
          </a:ln>
        </p:spPr>
      </p:sp>
      <p:sp>
        <p:nvSpPr>
          <p:cNvPr id="1164" name="Rectangle 1163">
            <a:extLst>
              <a:ext uri="{FF2B5EF4-FFF2-40B4-BE49-F238E27FC236}">
                <a16:creationId xmlns:a16="http://schemas.microsoft.com/office/drawing/2014/main" id="{D54C4A90-138D-4EED-9610-2C79FE557C27}"/>
              </a:ext>
            </a:extLst>
          </p:cNvPr>
          <p:cNvSpPr>
            <a:spLocks noGrp="1"/>
          </p:cNvSpPr>
          <p:nvPr/>
        </p:nvSpPr>
        <p:spPr>
          <a:xfrm>
            <a:off x="914400" y="2007846"/>
            <a:ext cx="2190750" cy="3619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65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65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01</a:t>
            </a:r>
          </a:p>
        </p:txBody>
      </p:sp>
      <p:sp>
        <p:nvSpPr>
          <p:cNvPr id="1165" name="Rectangle 1164">
            <a:extLst>
              <a:ext uri="{FF2B5EF4-FFF2-40B4-BE49-F238E27FC236}">
                <a16:creationId xmlns:a16="http://schemas.microsoft.com/office/drawing/2014/main" id="{63F8DFA4-3F11-4B0D-9978-F4E17A4C568A}"/>
              </a:ext>
            </a:extLst>
          </p:cNvPr>
          <p:cNvSpPr>
            <a:spLocks noGrp="1"/>
          </p:cNvSpPr>
          <p:nvPr/>
        </p:nvSpPr>
        <p:spPr>
          <a:xfrm>
            <a:off x="914400" y="2436471"/>
            <a:ext cx="2190750" cy="4572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Grounded LLM</a:t>
            </a:r>
          </a:p>
        </p:txBody>
      </p:sp>
      <p:sp>
        <p:nvSpPr>
          <p:cNvPr id="1166" name="Rectangle 1165">
            <a:extLst>
              <a:ext uri="{FF2B5EF4-FFF2-40B4-BE49-F238E27FC236}">
                <a16:creationId xmlns:a16="http://schemas.microsoft.com/office/drawing/2014/main" id="{8328A4A8-9C97-4BE2-BF22-8CD33258E370}"/>
              </a:ext>
            </a:extLst>
          </p:cNvPr>
          <p:cNvSpPr>
            <a:spLocks noGrp="1"/>
          </p:cNvSpPr>
          <p:nvPr/>
        </p:nvSpPr>
        <p:spPr>
          <a:xfrm>
            <a:off x="990600" y="2960346"/>
            <a:ext cx="2038350" cy="4762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Evidence IDs • schema</a:t>
            </a:r>
          </a:p>
          <a:p>
            <a:pPr algn="ctr"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• grounding allow-list</a:t>
            </a:r>
          </a:p>
        </p:txBody>
      </p:sp>
      <p:sp>
        <p:nvSpPr>
          <p:cNvPr id="1167" name="Rectangle 1166">
            <a:extLst>
              <a:ext uri="{FF2B5EF4-FFF2-40B4-BE49-F238E27FC236}">
                <a16:creationId xmlns:a16="http://schemas.microsoft.com/office/drawing/2014/main" id="{CB047424-8A8F-48D9-9402-964FD692480B}"/>
              </a:ext>
            </a:extLst>
          </p:cNvPr>
          <p:cNvSpPr>
            <a:spLocks noGrp="1"/>
          </p:cNvSpPr>
          <p:nvPr/>
        </p:nvSpPr>
        <p:spPr>
          <a:xfrm>
            <a:off x="3476625" y="2007846"/>
            <a:ext cx="2190750" cy="3619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65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65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1168" name="Rectangle 1167">
            <a:extLst>
              <a:ext uri="{FF2B5EF4-FFF2-40B4-BE49-F238E27FC236}">
                <a16:creationId xmlns:a16="http://schemas.microsoft.com/office/drawing/2014/main" id="{686E7F36-78AB-4AD6-9317-D65FD97FFAC3}"/>
              </a:ext>
            </a:extLst>
          </p:cNvPr>
          <p:cNvSpPr>
            <a:spLocks noGrp="1"/>
          </p:cNvSpPr>
          <p:nvPr/>
        </p:nvSpPr>
        <p:spPr>
          <a:xfrm>
            <a:off x="3476625" y="2436471"/>
            <a:ext cx="2190750" cy="4572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Typed contracts</a:t>
            </a:r>
          </a:p>
          <a:p>
            <a:pPr algn="ctr"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+ fallback</a:t>
            </a:r>
          </a:p>
        </p:txBody>
      </p:sp>
      <p:sp>
        <p:nvSpPr>
          <p:cNvPr id="1169" name="Rectangle 1168">
            <a:extLst>
              <a:ext uri="{FF2B5EF4-FFF2-40B4-BE49-F238E27FC236}">
                <a16:creationId xmlns:a16="http://schemas.microsoft.com/office/drawing/2014/main" id="{2E67E584-7291-4882-A085-0E8C4AADBF69}"/>
              </a:ext>
            </a:extLst>
          </p:cNvPr>
          <p:cNvSpPr>
            <a:spLocks noGrp="1"/>
          </p:cNvSpPr>
          <p:nvPr/>
        </p:nvSpPr>
        <p:spPr>
          <a:xfrm>
            <a:off x="3552825" y="2960346"/>
            <a:ext cx="2038350" cy="4762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BFF ↔ gRPC • schema</a:t>
            </a:r>
          </a:p>
          <a:p>
            <a:pPr algn="ctr"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• provider fallback</a:t>
            </a:r>
          </a:p>
        </p:txBody>
      </p:sp>
      <p:sp>
        <p:nvSpPr>
          <p:cNvPr id="1170" name="Rectangle 1169">
            <a:extLst>
              <a:ext uri="{FF2B5EF4-FFF2-40B4-BE49-F238E27FC236}">
                <a16:creationId xmlns:a16="http://schemas.microsoft.com/office/drawing/2014/main" id="{BB80A725-155F-4089-BB75-5A4846BD35FB}"/>
              </a:ext>
            </a:extLst>
          </p:cNvPr>
          <p:cNvSpPr>
            <a:spLocks noGrp="1"/>
          </p:cNvSpPr>
          <p:nvPr/>
        </p:nvSpPr>
        <p:spPr>
          <a:xfrm>
            <a:off x="6000750" y="2007846"/>
            <a:ext cx="2190750" cy="3619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65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165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1171" name="Rectangle 1170">
            <a:extLst>
              <a:ext uri="{FF2B5EF4-FFF2-40B4-BE49-F238E27FC236}">
                <a16:creationId xmlns:a16="http://schemas.microsoft.com/office/drawing/2014/main" id="{67050FDD-FB88-4A1B-A928-BA4B7555CDA4}"/>
              </a:ext>
            </a:extLst>
          </p:cNvPr>
          <p:cNvSpPr>
            <a:spLocks noGrp="1"/>
          </p:cNvSpPr>
          <p:nvPr/>
        </p:nvSpPr>
        <p:spPr>
          <a:xfrm>
            <a:off x="6000750" y="2436471"/>
            <a:ext cx="2190750" cy="4572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Human-in-the-loop</a:t>
            </a:r>
          </a:p>
          <a:p>
            <a:pPr algn="ctr">
              <a:def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defRPr>
            </a:pPr>
            <a:r>
              <a:rPr sz="1050" b="1">
                <a:solidFill>
                  <a:srgbClr val="111410"/>
                </a:solidFill>
                <a:latin typeface="Montserrat"/>
                <a:ea typeface="Montserrat"/>
                <a:cs typeface="Montserrat"/>
              </a:rPr>
              <a:t>rollout</a:t>
            </a:r>
          </a:p>
        </p:txBody>
      </p:sp>
      <p:sp>
        <p:nvSpPr>
          <p:cNvPr id="1172" name="Rectangle 1171">
            <a:extLst>
              <a:ext uri="{FF2B5EF4-FFF2-40B4-BE49-F238E27FC236}">
                <a16:creationId xmlns:a16="http://schemas.microsoft.com/office/drawing/2014/main" id="{E0A5D550-42E1-47DF-95B8-97B0D6C7C369}"/>
              </a:ext>
            </a:extLst>
          </p:cNvPr>
          <p:cNvSpPr>
            <a:spLocks noGrp="1"/>
          </p:cNvSpPr>
          <p:nvPr/>
        </p:nvSpPr>
        <p:spPr>
          <a:xfrm>
            <a:off x="6076950" y="2960346"/>
            <a:ext cx="2038350" cy="47625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AI hỗ trợ bằng chứng;</a:t>
            </a:r>
          </a:p>
          <a:p>
            <a:pPr algn="ctr">
              <a:def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788" b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con người quyết định</a:t>
            </a:r>
          </a:p>
        </p:txBody>
      </p:sp>
      <p:sp>
        <p:nvSpPr>
          <p:cNvPr id="1173" name="Rectangle: Rounded Corners 1172">
            <a:extLst>
              <a:ext uri="{FF2B5EF4-FFF2-40B4-BE49-F238E27FC236}">
                <a16:creationId xmlns:a16="http://schemas.microsoft.com/office/drawing/2014/main" id="{01A1DFA6-C7EF-438F-A788-F0A3F71F1DB2}"/>
              </a:ext>
            </a:extLst>
          </p:cNvPr>
          <p:cNvSpPr>
            <a:spLocks noGrp="1"/>
          </p:cNvSpPr>
          <p:nvPr/>
        </p:nvSpPr>
        <p:spPr>
          <a:xfrm>
            <a:off x="1562100" y="3798546"/>
            <a:ext cx="6019800" cy="45720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3335">
            <a:solidFill>
              <a:srgbClr val="4B8D17"/>
            </a:solidFill>
            <a:prstDash val="solid"/>
          </a:ln>
        </p:spPr>
        <p:txBody>
          <a:bodyPr lIns="95250" tIns="66675" rIns="95250" bIns="66675" anchor="ctr">
            <a:normAutofit/>
          </a:bodyPr>
          <a:lstStyle/>
          <a:p>
            <a:pPr algn="ctr">
              <a:def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defRPr>
            </a:pPr>
            <a:r>
              <a:rPr sz="863" b="1">
                <a:solidFill>
                  <a:srgbClr val="4B8D17"/>
                </a:solidFill>
                <a:latin typeface="Montserrat"/>
                <a:ea typeface="Montserrat"/>
                <a:cs typeface="Montserrat"/>
              </a:rPr>
              <a:t>Bước tiếp theo: kiểm thử với SME và triển khai theo các gate kiểm soát.</a:t>
            </a:r>
          </a:p>
        </p:txBody>
      </p:sp>
    </p:spTree>
    <p:extLst>
      <p:ext uri="{BB962C8B-B14F-4D97-AF65-F5344CB8AC3E}">
        <p14:creationId xmlns:p14="http://schemas.microsoft.com/office/powerpoint/2010/main" val="10184629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123">
            <a:extLst>
              <a:ext uri="{FF2B5EF4-FFF2-40B4-BE49-F238E27FC236}">
                <a16:creationId xmlns:a16="http://schemas.microsoft.com/office/drawing/2014/main" id="{DBD0216F-CDFA-47B9-84FB-51A2B45D2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0" y="1200150"/>
            <a:ext cx="4572000" cy="74295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111410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111410"/>
                </a:solidFill>
                <a:latin typeface="Cambria"/>
                <a:ea typeface="Cambria"/>
                <a:cs typeface="Cambria"/>
              </a:rPr>
              <a:t>Cảm ơn Hội đồng</a:t>
            </a:r>
            <a:endParaRPr/>
          </a:p>
        </p:txBody>
      </p:sp>
      <p:sp>
        <p:nvSpPr>
          <p:cNvPr id="1569" name="Google Shape;1569;p123">
            <a:extLst>
              <a:ext uri="{FF2B5EF4-FFF2-40B4-BE49-F238E27FC236}">
                <a16:creationId xmlns:a16="http://schemas.microsoft.com/office/drawing/2014/main" id="{658C6DB3-B8B9-4F37-A102-C974A97344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1250" y="1892400"/>
            <a:ext cx="4381500" cy="5334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defRPr sz="127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127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Em </a:t>
            </a:r>
            <a:r>
              <a:rPr sz="1275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xin</a:t>
            </a:r>
            <a:r>
              <a:rPr sz="127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275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tiếp</a:t>
            </a:r>
            <a:r>
              <a:rPr sz="127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275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nhận</a:t>
            </a:r>
            <a:r>
              <a:rPr sz="127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275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câu</a:t>
            </a:r>
            <a:r>
              <a:rPr sz="127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275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hỏi</a:t>
            </a:r>
            <a:r>
              <a:rPr sz="127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275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và</a:t>
            </a:r>
            <a:r>
              <a:rPr sz="127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275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góp</a:t>
            </a:r>
            <a:r>
              <a:rPr sz="127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ý.</a:t>
            </a:r>
            <a:endParaRPr dirty="0"/>
          </a:p>
        </p:txBody>
      </p:sp>
      <p:sp>
        <p:nvSpPr>
          <p:cNvPr id="1570" name="Rectangle: Rounded Corners 1569">
            <a:extLst>
              <a:ext uri="{FF2B5EF4-FFF2-40B4-BE49-F238E27FC236}">
                <a16:creationId xmlns:a16="http://schemas.microsoft.com/office/drawing/2014/main" id="{7B744195-86F5-423D-B69D-732D1FD21A1F}"/>
              </a:ext>
            </a:extLst>
          </p:cNvPr>
          <p:cNvSpPr>
            <a:spLocks noGrp="1"/>
          </p:cNvSpPr>
          <p:nvPr/>
        </p:nvSpPr>
        <p:spPr>
          <a:xfrm>
            <a:off x="3143250" y="2521765"/>
            <a:ext cx="2857500" cy="895350"/>
          </a:xfrm>
          <a:prstGeom prst="roundRect">
            <a:avLst>
              <a:gd name="adj" fmla="val 50000"/>
            </a:avLst>
          </a:prstGeom>
          <a:solidFill>
            <a:srgbClr val="DFF0D6"/>
          </a:solidFill>
          <a:ln w="17145">
            <a:solidFill>
              <a:srgbClr val="4B8D17"/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4B8D17"/>
                </a:solidFill>
                <a:latin typeface="Cambria"/>
                <a:ea typeface="Cambria"/>
                <a:cs typeface="Cambria"/>
              </a:defRPr>
            </a:pPr>
            <a:r>
              <a:rPr sz="2550" b="1">
                <a:solidFill>
                  <a:srgbClr val="4B8D17"/>
                </a:solidFill>
                <a:latin typeface="Cambria"/>
                <a:ea typeface="Cambria"/>
                <a:cs typeface="Cambria"/>
              </a:rPr>
              <a:t>Q&amp;A</a:t>
            </a:r>
          </a:p>
        </p:txBody>
      </p:sp>
      <p:sp>
        <p:nvSpPr>
          <p:cNvPr id="1571" name="Rectangle 1570">
            <a:extLst>
              <a:ext uri="{FF2B5EF4-FFF2-40B4-BE49-F238E27FC236}">
                <a16:creationId xmlns:a16="http://schemas.microsoft.com/office/drawing/2014/main" id="{E1860632-87FC-4C1C-9B59-F77B060C67ED}"/>
              </a:ext>
            </a:extLst>
          </p:cNvPr>
          <p:cNvSpPr>
            <a:spLocks noGrp="1"/>
          </p:cNvSpPr>
          <p:nvPr/>
        </p:nvSpPr>
        <p:spPr>
          <a:xfrm>
            <a:off x="2857500" y="3683815"/>
            <a:ext cx="3429000" cy="266700"/>
          </a:xfrm>
          <a:prstGeom prst="rect">
            <a:avLst/>
          </a:prstGeom>
          <a:ln w="0"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825" b="0">
                <a:solidFill>
                  <a:srgbClr val="526052"/>
                </a:solidFill>
                <a:latin typeface="Montserrat"/>
                <a:ea typeface="Montserrat"/>
                <a:cs typeface="Montserrat"/>
              </a:defRPr>
            </a:pPr>
            <a:r>
              <a:rPr sz="825" b="0" dirty="0" err="1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InterV</a:t>
            </a:r>
            <a:r>
              <a:rPr sz="82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• Lê Minh Duy</a:t>
            </a:r>
            <a:r>
              <a:rPr lang="vi-VN" sz="825" b="0" dirty="0">
                <a:solidFill>
                  <a:srgbClr val="526052"/>
                </a:solidFill>
                <a:latin typeface="Montserrat"/>
                <a:ea typeface="Montserrat"/>
                <a:cs typeface="Montserrat"/>
              </a:rPr>
              <a:t> • @leemjnnkdzuy</a:t>
            </a:r>
            <a:endParaRPr sz="825" b="0" dirty="0">
              <a:solidFill>
                <a:srgbClr val="526052"/>
              </a:solidFill>
              <a:latin typeface="Montserrat"/>
              <a:ea typeface="Montserrat"/>
              <a:cs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2127925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E3F1E2"/>
      </a:lt1>
      <a:dk2>
        <a:srgbClr val="000000"/>
      </a:dk2>
      <a:lt2>
        <a:srgbClr val="E3F1E2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E3F1E2"/>
      </a:lt1>
      <a:dk2>
        <a:srgbClr val="000000"/>
      </a:dk2>
      <a:lt2>
        <a:srgbClr val="E3F1E2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2968</Words>
  <Application>Microsoft Office PowerPoint</Application>
  <DocSecurity>0</DocSecurity>
  <PresentationFormat>On-screen Show (16:9)</PresentationFormat>
  <Paragraphs>578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32</vt:i4>
      </vt:variant>
    </vt:vector>
  </HeadingPairs>
  <TitlesOfParts>
    <vt:vector size="48" baseType="lpstr">
      <vt:lpstr>Mako</vt:lpstr>
      <vt:lpstr>Open Sans</vt:lpstr>
      <vt:lpstr>Russo One</vt:lpstr>
      <vt:lpstr>Arial</vt:lpstr>
      <vt:lpstr>Josefin Sans</vt:lpstr>
      <vt:lpstr>Open Sans SemiBold</vt:lpstr>
      <vt:lpstr>Proxima Nova Semibold</vt:lpstr>
      <vt:lpstr>Cambria</vt:lpstr>
      <vt:lpstr>Lato</vt:lpstr>
      <vt:lpstr>Merriweather Light</vt:lpstr>
      <vt:lpstr>Crimson Text</vt:lpstr>
      <vt:lpstr>Proxima Nova</vt:lpstr>
      <vt:lpstr>Montserrat</vt:lpstr>
      <vt:lpstr>Minimalist Business Slides XL by Slidesgo</vt:lpstr>
      <vt:lpstr>Slidesgo Final Pages</vt:lpstr>
      <vt:lpstr>Slidesgo Final Pages</vt:lpstr>
      <vt:lpstr>XÂY DỰNG HỆ THỐNG PHỎNG VẤN VÀ LUYỆN TẬP PHỎNG VẤN TÍCH HỢP TRÍ TUỆ NHÂN TẠO</vt:lpstr>
      <vt:lpstr>Lộ trình trình bày</vt:lpstr>
      <vt:lpstr>Bài toán: chuẩn hóa mà không loại bỏ phán đoán con người</vt:lpstr>
      <vt:lpstr>Ba nhóm người dùng, ba ranh giới trách nhiệm</vt:lpstr>
      <vt:lpstr>Mục tiêu và câu hỏi nghiên cứu</vt:lpstr>
      <vt:lpstr>Phạm vi đề tài được khóa bằng bốn nguyên tắc</vt:lpstr>
      <vt:lpstr>Phương pháp tách rõ “chạy đúng” và “đo lường có hiệu lực”</vt:lpstr>
      <vt:lpstr>Lý thuyết được chuyển thành cơ chế phần mềm</vt:lpstr>
      <vt:lpstr>Kiến trúc InterV: các biên trách nhiệm có hợp đồng</vt:lpstr>
      <vt:lpstr>Mô hình dữ liệu giữ ownership và provenance</vt:lpstr>
      <vt:lpstr>Use case phản ánh đúng quyền sở hữu</vt:lpstr>
      <vt:lpstr>PowerPoint Presentation</vt:lpstr>
      <vt:lpstr>PowerPoint Presentation</vt:lpstr>
      <vt:lpstr>Vòng đời tài liệu RAG có provenance</vt:lpstr>
      <vt:lpstr>Pipeline tiếng nói nhiều tầng</vt:lpstr>
      <vt:lpstr>An toàn, quan sát và khả năng phục hồi</vt:lpstr>
      <vt:lpstr>Hợp đồng typed giữ TypeScript ↔ Python nhất quán</vt:lpstr>
      <vt:lpstr>Phân rã module theo ranh giới nghiệp vụ</vt:lpstr>
      <vt:lpstr>RBAC giữ quyền quyết định ở đúng actor</vt:lpstr>
      <vt:lpstr>State machine giữ phiên luyện tập nhất quán</vt:lpstr>
      <vt:lpstr>Vòng đời tuyển dụng tách mời, phiên và đánh giá</vt:lpstr>
      <vt:lpstr>Fallback giữ phiên tiếp tục khi provider lỗi</vt:lpstr>
      <vt:lpstr>Stack công nghệ theo ranh giới trách nhiệm</vt:lpstr>
      <vt:lpstr>PowerPoint Presentation</vt:lpstr>
      <vt:lpstr>Xác minh kỹ thuật đạt; hiệu lực tuyển dụng chưa được chứng minh</vt:lpstr>
      <vt:lpstr>DeepSeek/RAG được kiểm soát ở ba điểm</vt:lpstr>
      <vt:lpstr>Bất biến an toàn của SenseVoice</vt:lpstr>
      <vt:lpstr>Bốn đóng góp chính</vt:lpstr>
      <vt:lpstr>Giới hạn cần được đọc cùng kết quả</vt:lpstr>
      <vt:lpstr>Bốn cổng kiểm soát trước khi mở rộng tự động hóa</vt:lpstr>
      <vt:lpstr>InterV đã đạt nền tảng kỹ thuật khả thi cho nghiên cứu và triển khai có kiểm soát</vt:lpstr>
      <vt:lpstr>Cảm ơn Hội đồng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Duy Lê</cp:lastModifiedBy>
  <cp:revision>4</cp:revision>
  <dcterms:created xsi:type="dcterms:W3CDTF">2026-08-14T17:29:12Z</dcterms:created>
  <dcterms:modified xsi:type="dcterms:W3CDTF">2026-08-14T17:35:19Z</dcterms:modified>
</cp:coreProperties>
</file>