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41"/>
  </p:notesMasterIdLst>
  <p:sldIdLst>
    <p:sldId id="256" r:id="rId4"/>
    <p:sldId id="257" r:id="rId5"/>
    <p:sldId id="293" r:id="rId6"/>
    <p:sldId id="258" r:id="rId7"/>
    <p:sldId id="259" r:id="rId8"/>
    <p:sldId id="260" r:id="rId9"/>
    <p:sldId id="261" r:id="rId10"/>
    <p:sldId id="292" r:id="rId11"/>
    <p:sldId id="262" r:id="rId12"/>
    <p:sldId id="263" r:id="rId13"/>
    <p:sldId id="291" r:id="rId14"/>
    <p:sldId id="264" r:id="rId15"/>
    <p:sldId id="265" r:id="rId16"/>
    <p:sldId id="266" r:id="rId17"/>
    <p:sldId id="267" r:id="rId18"/>
    <p:sldId id="268" r:id="rId19"/>
    <p:sldId id="269" r:id="rId20"/>
    <p:sldId id="270" r:id="rId21"/>
    <p:sldId id="271" r:id="rId22"/>
    <p:sldId id="272" r:id="rId23"/>
    <p:sldId id="290" r:id="rId24"/>
    <p:sldId id="274" r:id="rId25"/>
    <p:sldId id="275" r:id="rId26"/>
    <p:sldId id="276" r:id="rId27"/>
    <p:sldId id="277" r:id="rId28"/>
    <p:sldId id="278" r:id="rId29"/>
    <p:sldId id="289" r:id="rId30"/>
    <p:sldId id="279" r:id="rId31"/>
    <p:sldId id="280" r:id="rId32"/>
    <p:sldId id="281" r:id="rId33"/>
    <p:sldId id="282" r:id="rId34"/>
    <p:sldId id="288" r:id="rId35"/>
    <p:sldId id="283" r:id="rId36"/>
    <p:sldId id="284" r:id="rId37"/>
    <p:sldId id="285" r:id="rId38"/>
    <p:sldId id="286" r:id="rId39"/>
    <p:sldId id="287" r:id="rId40"/>
  </p:sldIdLst>
  <p:sldSz cx="9144000" cy="5143500" type="screen16x9"/>
  <p:notesSz cx="6858000" cy="9144000"/>
  <p:embeddedFontLst>
    <p:embeddedFont>
      <p:font typeface="Cambria" panose="02040503050406030204" pitchFamily="18" charset="0"/>
      <p:regular r:id="rId42"/>
      <p:bold r:id="rId43"/>
      <p:italic r:id="rId44"/>
      <p:boldItalic r:id="rId45"/>
    </p:embeddedFont>
    <p:embeddedFont>
      <p:font typeface="Crimson Text" panose="020B0604020202020204" charset="0"/>
      <p:regular r:id="rId46"/>
      <p:bold r:id="rId47"/>
      <p:italic r:id="rId48"/>
      <p:boldItalic r:id="rId49"/>
    </p:embeddedFont>
    <p:embeddedFont>
      <p:font typeface="Josefin Sans" pitchFamily="2" charset="0"/>
      <p:regular r:id="rId50"/>
      <p:bold r:id="rId51"/>
    </p:embeddedFont>
    <p:embeddedFont>
      <p:font typeface="Lato" panose="020F0502020204030203" pitchFamily="34" charset="0"/>
      <p:regular r:id="rId52"/>
      <p:bold r:id="rId53"/>
      <p:italic r:id="rId54"/>
      <p:boldItalic r:id="rId55"/>
    </p:embeddedFont>
    <p:embeddedFont>
      <p:font typeface="Mako" panose="020B0604020202020204" charset="0"/>
      <p:regular r:id="rId56"/>
    </p:embeddedFont>
    <p:embeddedFont>
      <p:font typeface="Merriweather Light" panose="00000400000000000000" pitchFamily="2" charset="0"/>
      <p:regular r:id="rId57"/>
      <p:bold r:id="rId58"/>
      <p:italic r:id="rId59"/>
      <p:boldItalic r:id="rId60"/>
    </p:embeddedFont>
    <p:embeddedFont>
      <p:font typeface="Montserrat" pitchFamily="2" charset="0"/>
      <p:regular r:id="rId61"/>
      <p:bold r:id="rId62"/>
      <p:italic r:id="rId63"/>
      <p:boldItalic r:id="rId64"/>
    </p:embeddedFont>
    <p:embeddedFont>
      <p:font typeface="Open Sans" panose="020B0606030504020204" pitchFamily="34" charset="0"/>
      <p:regular r:id="rId65"/>
      <p:bold r:id="rId66"/>
      <p:italic r:id="rId67"/>
      <p:boldItalic r:id="rId68"/>
    </p:embeddedFont>
    <p:embeddedFont>
      <p:font typeface="Open Sans SemiBold" panose="020B0706030804020204" pitchFamily="34" charset="0"/>
      <p:regular r:id="rId69"/>
      <p:bold r:id="rId70"/>
      <p:italic r:id="rId71"/>
      <p:boldItalic r:id="rId72"/>
    </p:embeddedFont>
    <p:embeddedFont>
      <p:font typeface="Proxima Nova" panose="020B0604020202020204" charset="0"/>
      <p:regular r:id="rId73"/>
      <p:bold r:id="rId74"/>
      <p:italic r:id="rId75"/>
      <p:boldItalic r:id="rId76"/>
    </p:embeddedFont>
    <p:embeddedFont>
      <p:font typeface="Proxima Nova Semibold" panose="020B0604020202020204" charset="0"/>
      <p:regular r:id="rId77"/>
      <p:bold r:id="rId78"/>
      <p:boldItalic r:id="rId79"/>
    </p:embeddedFont>
    <p:embeddedFont>
      <p:font typeface="Russo One" panose="020B0604020202020204" charset="0"/>
      <p:regular r:id="rId80"/>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font" Target="fonts/font1.fntdata"/><Relationship Id="rId47" Type="http://schemas.openxmlformats.org/officeDocument/2006/relationships/font" Target="fonts/font6.fntdata"/><Relationship Id="rId63" Type="http://schemas.openxmlformats.org/officeDocument/2006/relationships/font" Target="fonts/font22.fntdata"/><Relationship Id="rId68" Type="http://schemas.openxmlformats.org/officeDocument/2006/relationships/font" Target="fonts/font27.fntdata"/><Relationship Id="rId84"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font" Target="fonts/font12.fntdata"/><Relationship Id="rId58" Type="http://schemas.openxmlformats.org/officeDocument/2006/relationships/font" Target="fonts/font17.fntdata"/><Relationship Id="rId74" Type="http://schemas.openxmlformats.org/officeDocument/2006/relationships/font" Target="fonts/font33.fntdata"/><Relationship Id="rId79" Type="http://schemas.openxmlformats.org/officeDocument/2006/relationships/font" Target="fonts/font38.fntdata"/><Relationship Id="rId5" Type="http://schemas.openxmlformats.org/officeDocument/2006/relationships/slide" Target="slides/slide2.xml"/><Relationship Id="rId61" Type="http://schemas.openxmlformats.org/officeDocument/2006/relationships/font" Target="fonts/font20.fntdata"/><Relationship Id="rId82"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font" Target="fonts/font23.fntdata"/><Relationship Id="rId69" Type="http://schemas.openxmlformats.org/officeDocument/2006/relationships/font" Target="fonts/font28.fntdata"/><Relationship Id="rId77" Type="http://schemas.openxmlformats.org/officeDocument/2006/relationships/font" Target="fonts/font36.fntdata"/><Relationship Id="rId8" Type="http://schemas.openxmlformats.org/officeDocument/2006/relationships/slide" Target="slides/slide5.xml"/><Relationship Id="rId51" Type="http://schemas.openxmlformats.org/officeDocument/2006/relationships/font" Target="fonts/font10.fntdata"/><Relationship Id="rId72" Type="http://schemas.openxmlformats.org/officeDocument/2006/relationships/font" Target="fonts/font31.fntdata"/><Relationship Id="rId80" Type="http://schemas.openxmlformats.org/officeDocument/2006/relationships/font" Target="fonts/font39.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font" Target="fonts/font26.fntdata"/><Relationship Id="rId20" Type="http://schemas.openxmlformats.org/officeDocument/2006/relationships/slide" Target="slides/slide17.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font" Target="fonts/font21.fntdata"/><Relationship Id="rId70" Type="http://schemas.openxmlformats.org/officeDocument/2006/relationships/font" Target="fonts/font29.fntdata"/><Relationship Id="rId75" Type="http://schemas.openxmlformats.org/officeDocument/2006/relationships/font" Target="fonts/font34.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font" Target="fonts/font24.fntdata"/><Relationship Id="rId73" Type="http://schemas.openxmlformats.org/officeDocument/2006/relationships/font" Target="fonts/font32.fntdata"/><Relationship Id="rId78" Type="http://schemas.openxmlformats.org/officeDocument/2006/relationships/font" Target="fonts/font37.fntdata"/><Relationship Id="rId8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font" Target="fonts/font9.fntdata"/><Relationship Id="rId55" Type="http://schemas.openxmlformats.org/officeDocument/2006/relationships/font" Target="fonts/font14.fntdata"/><Relationship Id="rId76" Type="http://schemas.openxmlformats.org/officeDocument/2006/relationships/font" Target="fonts/font35.fntdata"/><Relationship Id="rId7" Type="http://schemas.openxmlformats.org/officeDocument/2006/relationships/slide" Target="slides/slide4.xml"/><Relationship Id="rId71" Type="http://schemas.openxmlformats.org/officeDocument/2006/relationships/font" Target="fonts/font30.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font" Target="fonts/font4.fntdata"/><Relationship Id="rId66"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endParaRPr/>
          </a:p>
          <a:p>
            <a:r>
              <a:t>Lời nói:</a:t>
            </a:r>
          </a:p>
          <a:p>
            <a:r>
              <a:t>"Kính thưa quý Thầy Cô trong Hội đồng chấm khóa luận tốt nghiệp. Em tên là Lê Minh Duy, sinh viên thực hiện đề tài khóa luận: 'Nghiên cứu thiết kế và phát triển kiến trúc hệ thống phỏng vấn năng lực tự động tích hợp xử lý giọng nói đa tầng, truy xuất tri thức tăng cường (RAG) và mô hình ngôn ngữ lớn' (InterV), dưới sự hướng dẫn tận tình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endParaRPr/>
          </a:p>
          <a:p>
            <a:r>
              <a:t>Lời nói:</a:t>
            </a:r>
          </a:p>
          <a:p>
            <a:r>
              <a:t>"Nội dung trình bày gồm 6 phần chính: 01 Bài toán, 02 Phương pháp, 03 Thiết kế, 04 Sản phẩm, 05 Bằng chứng, và 06 Kết luận.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[00:50 - 00:55] PHẦN 01: BÀI TOÁN &amp; MỤC TIÊU</a:t>
            </a:r>
          </a:p>
          <a:p>
            <a:endParaRPr/>
          </a:p>
          <a:p>
            <a:r>
              <a:t>Lời nói:</a:t>
            </a:r>
          </a:p>
          <a:p>
            <a:r>
              <a:t>"Sau đây, em xin phép bắt đầu với Phần 1: Bài toán thực tế, ba nhóm người dùng và các ranh giới thiết kế cốt lõi của InterV."</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[00:55 - 01:15] SLIDE 4: BÀI TOÁN &amp; THỰC TRẠNG</a:t>
            </a:r>
          </a:p>
          <a:p>
            <a:endParaRPr/>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5: BA NHÓM NGƯỜI DÙNG &amp; RANH GIỚI TRÁCH NHIỆM</a:t>
            </a:r>
          </a:p>
          <a:p>
            <a:endParaRPr/>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[01:30 - 01:45] SLIDE 6: MỤC TIÊU NGHIÊN CỨU</a:t>
            </a:r>
          </a:p>
          <a:p>
            <a:endParaRPr/>
          </a:p>
          <a:p>
            <a:r>
              <a:t>Lời nói:</a:t>
            </a:r>
          </a:p>
          <a:p>
            <a:r>
              <a:t>"Sáu mục tiêu thiết kế: Tách 2 chế độ, Grounded LLM, Speech an toàn dạng Coaching, Quản trị Provenance, Xác minh kỹ thuật toàn diện, và Không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7: BỐN NGUYÊN TẮC KHÓA PHẠM VI</a:t>
            </a:r>
          </a:p>
          <a:p>
            <a:endParaRPr/>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[02:00 - 02:05] PHẦN 02: PHƯƠNG PHÁP NGHIÊN CỨU</a:t>
            </a:r>
          </a:p>
          <a:p>
            <a:endParaRPr/>
          </a:p>
          <a:p>
            <a:r>
              <a:t>Lời nói:</a:t>
            </a:r>
          </a:p>
          <a:p>
            <a:r>
              <a:t>"Tiếp theo là Phần 2: Phương pháp nghiên cứu và cách thức chuyển hóa các khung lý thuyết chuẩn thành mã nguồn."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[02:05 - 02:20] SLIDE 9: PHƯƠNG PHÁP NGHIÊN CỨU</a:t>
            </a:r>
          </a:p>
          <a:p>
            <a:endParaRPr/>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[02:20 - 02:35] SLIDE 10: ÁNH XẠ LÝ THUYẾT VÀO HỆ THỐNG</a:t>
            </a:r>
          </a:p>
          <a:p>
            <a:endParaRPr/>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[02:35 - 02:40] PHẦN 03: THIẾT KẾ KIẾN TRÚC &amp; PIPELINE</a:t>
            </a:r>
          </a:p>
          <a:p>
            <a:endParaRPr/>
          </a:p>
          <a:p>
            <a:r>
              <a:t>Lời nói:</a:t>
            </a:r>
          </a:p>
          <a:p>
            <a:r>
              <a:t>"Sau đây là Phần 3 - Trọng tâm bài thuyết trình: Thiết kế Kiến trúc và Pipeline Cốt lõi của InterV."</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[02:40 - 03:05] SLIDE 12: KIẾN TRÚC TỔNG THỂ 2 TẦNG</a:t>
            </a:r>
          </a:p>
          <a:p>
            <a:endParaRPr/>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[03:05 - 03:20] SLIDE 13: MÔ HÌNH DỮ LIỆU &amp; PROVENANCE</a:t>
            </a:r>
          </a:p>
          <a:p>
            <a:endParaRPr/>
          </a:p>
          <a:p>
            <a:r>
              <a:t>Lời nói:</a:t>
            </a:r>
          </a:p>
          <a:p>
            <a:r>
              <a:t>"19 Mongoose models liên kết chặt chẽ theo vòng đời: User, Job, Invitation, Session, Run, Audio (BSON binary) và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[03:20 - 03:35] SLIDE 14: USE CASE THEO QUYỀN SỞ HỮU</a:t>
            </a:r>
          </a:p>
          <a:p>
            <a:endParaRPr/>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[03:35 - 05:30] SLIDE 15: LOOKAHEAD ADAPTIVE QUESTION ENGINE (TRỌNG TÂM)</a:t>
            </a:r>
          </a:p>
          <a:p>
            <a:endParaRPr/>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16: GROUNDED GENERATION &amp; CƠ CHẾ KIỂM SOÁT</a:t>
            </a:r>
          </a:p>
          <a:p>
            <a:endParaRPr/>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17: VÒNG ĐỜI TÀI LIỆU RAG &amp; HYBRID RETRIEVAL</a:t>
            </a:r>
          </a:p>
          <a:p>
            <a:endParaRPr/>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18: PIPELINE TIẾNG NÓI ĐA TẦNG (REALTIME &amp; HẬU KỲ)</a:t>
            </a:r>
          </a:p>
          <a:p>
            <a:endParaRPr/>
          </a:p>
          <a:p>
            <a:r>
              <a:t>Lời nói:</a:t>
            </a:r>
          </a:p>
          <a:p>
            <a:r>
              <a:t>"Kính thưa Thầy Cô, pipeline tiếng nói của InterV được thiết kế chuyên biệt theo 2 pha rõ rệt:</a:t>
            </a:r>
          </a:p>
          <a:p>
            <a:endParaRPr/>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endParaRPr/>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19: AN TOÀN, QUAN SÁT &amp; KHẢ NĂNG PHỤC HỒI</a:t>
            </a:r>
          </a:p>
          <a:p>
            <a:endParaRPr/>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20: HỢP ĐỒNG TYPED gRPC</a:t>
            </a:r>
          </a:p>
          <a:p>
            <a:endParaRPr/>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[10:45 - 10:50] PHẦN 04: SẢN PHẨM &amp; TRẢI NGHIỆM</a:t>
            </a:r>
          </a:p>
          <a:p>
            <a:endParaRPr/>
          </a:p>
          <a:p>
            <a:r>
              <a:t>Lời nói:</a:t>
            </a:r>
          </a:p>
          <a:p>
            <a:r>
              <a:t>"Tiếp theo là Phần 4: Sản phẩm và các luồng trải nghiệm thực tế trên hệ thống InterV."</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[10:50 - 11:10] SLIDE 22: MA TRẬN PHÂN QUYỀN RBAC</a:t>
            </a:r>
          </a:p>
          <a:p>
            <a:endParaRPr/>
          </a:p>
          <a:p>
            <a:r>
              <a:t>Lời nói:</a:t>
            </a:r>
          </a:p>
          <a:p>
            <a:r>
              <a:t>"Candidate, Recruiter, Admin. Ba vai trò phân quyền độc lập, AI tuyệt đối không có quyền tự động ra quyết định tuyển dụng hay loại bỏ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[11:10 - 11:30] SLIDE 23: STATE MACHINE PHIÊN LUYỆN TẬP</a:t>
            </a:r>
          </a:p>
          <a:p>
            <a:endParaRPr/>
          </a:p>
          <a:p>
            <a:r>
              <a:t>Lời nói:</a:t>
            </a:r>
          </a:p>
          <a:p>
            <a:r>
              <a:t>"Vòng đời nghiêm ngặt: Draft -&gt; Ready -&gt; Recording -&gt; Processing -&gt; Reviewed -&gt; Completed. Có cơ chế resume an toàn khi gặp sự cố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[11:30 - 11:45] SLIDE 24: VÒNG ĐỜI TUYỂN DỤNG RECRUITER</a:t>
            </a:r>
          </a:p>
          <a:p>
            <a:endParaRPr/>
          </a:p>
          <a:p>
            <a:r>
              <a:t>Lời nói:</a:t>
            </a:r>
          </a:p>
          <a:p>
            <a:r>
              <a:t>"Job -&gt; Campaign -&gt; Invitation -&gt; Interview -&gt; Evidence -&gt; Human Final Review. Recruiter sở hữu toàn quyền quyết định cuối cùng."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[11:45 - 12:00] SLIDE 25: CƠ CHẾ FALLBACK TOÀN DIỆN</a:t>
            </a:r>
          </a:p>
          <a:p>
            <a:endParaRPr/>
          </a:p>
          <a:p>
            <a:r>
              <a:t>Lời nói:</a:t>
            </a:r>
          </a:p>
          <a:p>
            <a:r>
              <a:t>"Minh họa đường đi chính (Primary) và đường dự phòng (Fallback) tại mọi điểm trọng yếu: RAG fallback baseline, STT fallback Faster-Whisper, Audio fallback text-only."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[12:00 - 12:20] SLIDE 26: STACK CÔNG NGHỆ</a:t>
            </a:r>
          </a:p>
          <a:p>
            <a:endParaRPr/>
          </a:p>
          <a:p>
            <a:r>
              <a:t>Lời nói:</a:t>
            </a:r>
          </a:p>
          <a:p>
            <a:r>
              <a:t>"Next.js 15, TypeScript, Tailwind v4, MongoDB ReplicaSet, Python gRPC (16 RPCs), DeepSeek, Qdrant RAG, AssemblyAI, Faster-Whisper, SenseVoice, Edge/Vbee TTS."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[12:20 - 12:25] PHẦN 05: BẰNG CHỨNG &amp; XÁC MINH</a:t>
            </a:r>
          </a:p>
          <a:p>
            <a:endParaRPr/>
          </a:p>
          <a:p>
            <a:r>
              <a:t>Lời nói:</a:t>
            </a:r>
          </a:p>
          <a:p>
            <a:r>
              <a:t>"Tiếp theo là Phần 5: Các bằng chứng kỹ thuật, quy mô hiện vật và kết quả kiểm thử toàn diện."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[12:25 - 13:10] SLIDE 28: QUY MÔ HIỆN VẬT TRIỂN KHAI</a:t>
            </a:r>
          </a:p>
          <a:p>
            <a:endParaRPr/>
          </a:p>
          <a:p>
            <a:r>
              <a:t>Lời nói:</a:t>
            </a:r>
          </a:p>
          <a:p>
            <a:r>
              <a:t>"Con số thực tế từ repository:</a:t>
            </a:r>
          </a:p>
          <a:p>
            <a:r>
              <a:t>• Hơn 72.000 dòng mã nguồn logic.</a:t>
            </a:r>
          </a:p>
          <a:p>
            <a:r>
              <a:t>• 61 route files, 74 HTTP methods, 38 trang frontend.</a:t>
            </a:r>
          </a:p>
          <a:p>
            <a:r>
              <a:t>• 19 Mongoose models, 16 gRPC RPCs, 86 Rule files (15 ngành, 60 profile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[13:10 - 13:40] SLIDE 29: XÁC MINH KỸ THUẬT ĐẠT 100%</a:t>
            </a:r>
          </a:p>
          <a:p>
            <a:endParaRPr/>
          </a:p>
          <a:p>
            <a:r>
              <a:t>Lời nói:</a:t>
            </a:r>
          </a:p>
          <a:p>
            <a:r>
              <a:t>"Toàn bộ 51/51 Backend tests đạt 100% trong 3.28 giây, 16/16 RPC contract tests pass, Next.js build đạt production-ready,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[13:40 - 13:55] SLIDE 30: BA ĐIỂM KIỂM SOÁT DEEPSEEK</a:t>
            </a:r>
          </a:p>
          <a:p>
            <a:endParaRPr/>
          </a:p>
          <a:p>
            <a:r>
              <a:t>Lời nói:</a:t>
            </a:r>
          </a:p>
          <a:p>
            <a:r>
              <a:t>"Kiểm soát Trước - Trong - Sau khi sinh: Pre-generation Context Grounding, In-generation JSON Schema, Post-generation Citation Gate &amp; 1-shot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[13:55 - 14:15] SLIDE 31: BẤT BIẾN AN TOÀN SENSEVOICE</a:t>
            </a:r>
          </a:p>
          <a:p>
            <a:endParaRPr/>
          </a:p>
          <a:p>
            <a:r>
              <a:t>Lời nói:</a:t>
            </a:r>
          </a:p>
          <a:p>
            <a:r>
              <a:t>"Observation-only (chỉ coaching, không chẩn đoán tâm lý), Neutral Default 50 nếu thiếu tín hiệu, không bao giờ tự ý trừ điểm của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[14:15 - 14:20] PHẦN 06: KẾT LUẬN &amp; ĐÓNG GÓP</a:t>
            </a:r>
          </a:p>
          <a:p>
            <a:endParaRPr/>
          </a:p>
          <a:p>
            <a:r>
              <a:t>Lời nói:</a:t>
            </a:r>
          </a:p>
          <a:p>
            <a:r>
              <a:t>"Cuối cùng là Phần 6: Đóng góp chính, giới hạn nghiên cứu và lộ trình kiểm soát của InterV."</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[14:20 - 14:35] SLIDE 33: BỐN ĐÓNG GÓP CHÍNH</a:t>
            </a:r>
          </a:p>
          <a:p>
            <a:endParaRPr/>
          </a:p>
          <a:p>
            <a:r>
              <a:t>Lời nói:</a:t>
            </a:r>
          </a:p>
          <a:p>
            <a:r>
              <a:t>"1. Kiến trúc Lookahead thời gian thực 0ms latency.</a:t>
            </a:r>
          </a:p>
          <a:p>
            <a:r>
              <a:t>2. Grounded Generation 3 cổng loại bỏ hoàn toàn ảo giác.</a:t>
            </a:r>
          </a:p>
          <a:p>
            <a:r>
              <a:t>3. Multimodal Speech Pipeline 2 pha an toàn, có fallback.</a:t>
            </a:r>
          </a:p>
          <a:p>
            <a:r>
              <a:t>4. Hệ thống Provenance &amp; Rule Catalog 86 files chuẩn hóa theo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[14:35 - 14:50] SLIDE 34: GIỚI HẠN NGHIÊN CỨU</a:t>
            </a:r>
          </a:p>
          <a:p>
            <a:endParaRPr/>
          </a:p>
          <a:p>
            <a:r>
              <a:t>Lời nói:</a:t>
            </a:r>
          </a:p>
          <a:p>
            <a:r>
              <a:t>"Đề tài trung thực xác nhận: Đạt tính nhất quán và vững chắc kỹ thuật, nhưng cần đánh giá Validity/Fairness thực nghiệm trên tập mẫu lớn trước khi triển khai tuyển dụng diện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[14:50 - 14:55] SLIDE 35: BỐN CỔNG KIỂM SOÁT TRIỂN KHAI</a:t>
            </a:r>
          </a:p>
          <a:p>
            <a:endParaRPr/>
          </a:p>
          <a:p>
            <a:r>
              <a:t>Lời nói:</a:t>
            </a:r>
          </a:p>
          <a:p>
            <a:r>
              <a:t>"Lộ trình mở rộng qua 4 gates: Practice Playground -&gt; Shadow Scoring -&gt; Human-overridden Pilot -&gt; Restricted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[14:55 - 14:58] SLIDE 36: KẾT LUẬN</a:t>
            </a:r>
          </a:p>
          <a:p>
            <a:endParaRPr/>
          </a:p>
          <a:p>
            <a:r>
              <a:t>Lời nói:</a:t>
            </a:r>
          </a:p>
          <a:p>
            <a:r>
              <a:t>"InterV đã đạt nền tảng kỹ thuật khả thi, an toàn và sẵn sàng phục vụ luyện tập và hỗ trợ tuyển dụng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[14:58 - 15:00] SLIDE 37: CẢM ƠN &amp; TIẾP NHẬN PHẢN BIỆN</a:t>
            </a:r>
          </a:p>
          <a:p>
            <a:endParaRPr/>
          </a:p>
          <a:p>
            <a:r>
              <a:t>Lời nói:</a:t>
            </a:r>
          </a:p>
          <a:p>
            <a:r>
              <a:t>"Em xin trân trọng cảm ơn Thầy ThS. Đặng Văn Lực và quý Thầy Cô trong Hội đồng đã chú ý theo dõi. Em xin phép được tiếp nhận câu hỏi phản biện!"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5.xml"/><Relationship Id="rId1"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BÀI TOÁN</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01</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Bối cảnh, đối tượng, mục tiêu và 4 nguyên tắc khóa phạm vi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dirty="0">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endParaRP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554" name="TextBox 55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
        <p:nvSpPr>
          <p:cNvPr id="2" name="Rectangle 1">
            <a:extLst>
              <a:ext uri="{FF2B5EF4-FFF2-40B4-BE49-F238E27FC236}">
                <a16:creationId xmlns:a16="http://schemas.microsoft.com/office/drawing/2014/main" id="{1BA04A6B-B562-11F9-0659-BFD1DFBF5EBA}"/>
              </a:ext>
            </a:extLst>
          </p:cNvPr>
          <p:cNvSpPr>
            <a:spLocks noGrp="1"/>
          </p:cNvSpPr>
          <p:nvPr/>
        </p:nvSpPr>
        <p:spPr>
          <a:xfrm>
            <a:off x="6153150" y="1163715"/>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lang="vi-VN" sz="1650" b="1">
                <a:solidFill>
                  <a:srgbClr val="4B8D17"/>
                </a:solidFill>
                <a:latin typeface="Montserrat"/>
                <a:ea typeface="Montserrat"/>
                <a:cs typeface="Montserrat"/>
              </a:rPr>
              <a:t>03</a:t>
            </a:r>
            <a:endParaRPr sz="1650" b="1" dirty="0">
              <a:solidFill>
                <a:srgbClr val="4B8D17"/>
              </a:solidFill>
              <a:latin typeface="Montserrat"/>
              <a:ea typeface="Montserrat"/>
              <a:cs typeface="Montserrat"/>
            </a:endParaRP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#01</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PHƯƠNG PHÁP</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02</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Nền tảng lý thuyết, xác minh kỹ thuật và ánh xạ vào hệ thống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1324" name="TextBox 132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#02</a:t>
            </a: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#02</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THIẾT KẾ</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03</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Kiến trúc 2 tầng, Lookahead 0ms, RAG Hybrid Grounding, Pipeline tiếng nói 2 pha &amp; Typed gRPC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
        <p:nvSpPr>
          <p:cNvPr id="1740" name="TextBox 1739"/>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
        <p:nvSpPr>
          <p:cNvPr id="1102" name="TextBox 11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cxnSpLocks/>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cxnSpLocks/>
            <a:stCxn id="876" idx="1"/>
            <a:endCxn id="873" idx="3"/>
          </p:cNvCxnSpPr>
          <p:nvPr/>
        </p:nvCxnSpPr>
        <p:spPr>
          <a:xfrm flipH="1">
            <a:off x="3762375" y="1428750"/>
            <a:ext cx="238125" cy="115252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
        <p:nvSpPr>
          <p:cNvPr id="1061" name="TextBox 1060"/>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endParaRP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
        <p:nvSpPr>
          <p:cNvPr id="53" name="TextBox 52"/>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endParaRP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
        <p:nvSpPr>
          <p:cNvPr id="32" name="TextBox 3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
        <p:nvSpPr>
          <p:cNvPr id="697" name="TextBox 69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
        <p:nvSpPr>
          <p:cNvPr id="698" name="TextBox 697"/>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
        <p:nvSpPr>
          <p:cNvPr id="755" name="TextBox 754"/>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
        <p:nvSpPr>
          <p:cNvPr id="638" name="TextBox 637"/>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#03</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SẢN PHẨM</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04</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Ma trận RBAC, State Machine luyện tập, Vòng đời tuyển dụng Recruiter &amp; Graceful Fallback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
        <p:nvSpPr>
          <p:cNvPr id="1534" name="TextBox 153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
        <p:nvSpPr>
          <p:cNvPr id="1706" name="TextBox 1705"/>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
        <p:nvSpPr>
          <p:cNvPr id="1752" name="TextBox 175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
        <p:nvSpPr>
          <p:cNvPr id="843" name="TextBox 842"/>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
        <p:nvSpPr>
          <p:cNvPr id="557" name="TextBox 55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#04</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BẰNG CHỨNG</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05</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Quy mô hiện vật 72.000+ LOC, 51/51 Backend tests đạt 100%, 3 điểm kiểm soát LLM &amp; Bất biến SenseVoice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
        <p:nvSpPr>
          <p:cNvPr id="17" name="TextBox 1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
        <p:nvSpPr>
          <p:cNvPr id="1392" name="TextBox 139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#05</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000" y="2100000"/>
            <a:ext cx="7000000" cy="800000"/>
          </a:xfrm>
        </p:spPr>
        <p:txBody>
          <a:bodyPr lIns="0" rIns="0"/>
          <a:lstStyle/>
          <a:p>
            <a:pPr algn="ctr">
              <a:defRPr sz="2800" b="1">
                <a:solidFill>
                  <a:srgbClr val="111410"/>
                </a:solidFill>
                <a:latin typeface="Cambria"/>
              </a:defRPr>
            </a:pPr>
            <a:r>
              <a:t>KẾT LUẬN</a:t>
            </a:r>
          </a:p>
        </p:txBody>
      </p:sp>
      <p:sp>
        <p:nvSpPr>
          <p:cNvPr id="3" name="Title 2"/>
          <p:cNvSpPr>
            <a:spLocks noGrp="1"/>
          </p:cNvSpPr>
          <p:nvPr>
            <p:ph type="title" idx="2"/>
          </p:nvPr>
        </p:nvSpPr>
        <p:spPr>
          <a:xfrm>
            <a:off x="1072000" y="1300000"/>
            <a:ext cx="7000000" cy="800000"/>
          </a:xfrm>
        </p:spPr>
        <p:txBody>
          <a:bodyPr lIns="0" rIns="0"/>
          <a:lstStyle/>
          <a:p>
            <a:pPr algn="ctr">
              <a:defRPr sz="4400" b="1">
                <a:solidFill>
                  <a:srgbClr val="4B8D17"/>
                </a:solidFill>
                <a:latin typeface="Cambria"/>
              </a:defRPr>
            </a:pPr>
            <a:r>
              <a:t>06</a:t>
            </a:r>
          </a:p>
        </p:txBody>
      </p:sp>
      <p:sp>
        <p:nvSpPr>
          <p:cNvPr id="4" name="Subtitle 3"/>
          <p:cNvSpPr>
            <a:spLocks noGrp="1"/>
          </p:cNvSpPr>
          <p:nvPr>
            <p:ph type="subTitle" idx="1"/>
          </p:nvPr>
        </p:nvSpPr>
        <p:spPr>
          <a:xfrm>
            <a:off x="572000" y="3050000"/>
            <a:ext cx="8000000" cy="900000"/>
          </a:xfrm>
        </p:spPr>
        <p:txBody>
          <a:bodyPr wrap="square" lIns="0" tIns="0" rIns="0" bIns="0"/>
          <a:lstStyle/>
          <a:p>
            <a:pPr algn="ctr">
              <a:defRPr sz="1300">
                <a:solidFill>
                  <a:srgbClr val="526052"/>
                </a:solidFill>
                <a:latin typeface="Montserrat"/>
              </a:defRPr>
            </a:pPr>
            <a:r>
              <a:t>4 đóng góp then chốt, giới hạn nghiên cứu, 4 cổng kiểm soát triển khai &amp; Lời cảm ơn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
        <p:nvSpPr>
          <p:cNvPr id="1447" name="TextBox 1446"/>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
        <p:nvSpPr>
          <p:cNvPr id="902" name="TextBox 90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
        <p:nvSpPr>
          <p:cNvPr id="1146" name="TextBox 1145"/>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
        <p:nvSpPr>
          <p:cNvPr id="1174" name="TextBox 1173"/>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
        <p:nvSpPr>
          <p:cNvPr id="1572" name="TextBox 1571"/>
          <p:cNvSpPr txBox="1"/>
          <p:nvPr/>
        </p:nvSpPr>
        <p:spPr>
          <a:xfrm>
            <a:off x="274100" y="0"/>
            <a:ext cx="1000000" cy="274100"/>
          </a:xfrm>
          <a:prstGeom prst="rect">
            <a:avLst/>
          </a:prstGeom>
          <a:noFill/>
        </p:spPr>
        <p:txBody>
          <a:bodyPr wrap="none" lIns="0" tIns="0" rIns="0" bIns="0" anchor="ctr">
            <a:spAutoFit/>
          </a:bodyPr>
          <a:lstStyle/>
          <a:p>
            <a:pPr algn="l">
              <a:defRPr sz="1100" b="1">
                <a:solidFill>
                  <a:srgbClr val="4B8D17"/>
                </a:solidFill>
                <a:latin typeface="Montserrat"/>
              </a:defRPr>
            </a:pPr>
            <a:r>
              <a:t>#06</a:t>
            </a: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TotalTime>
  <Words>4913</Words>
  <Application>Microsoft Office PowerPoint</Application>
  <DocSecurity>0</DocSecurity>
  <PresentationFormat>On-screen Show (16:9)</PresentationFormat>
  <Paragraphs>671</Paragraphs>
  <Slides>37</Slides>
  <Notes>37</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37</vt:i4>
      </vt:variant>
    </vt:vector>
  </HeadingPairs>
  <TitlesOfParts>
    <vt:vector size="53" baseType="lpstr">
      <vt:lpstr>Russo One</vt:lpstr>
      <vt:lpstr>Mako</vt:lpstr>
      <vt:lpstr>Open Sans SemiBold</vt:lpstr>
      <vt:lpstr>Arial</vt:lpstr>
      <vt:lpstr>Crimson Text</vt:lpstr>
      <vt:lpstr>Proxima Nova Semibold</vt:lpstr>
      <vt:lpstr>Cambria</vt:lpstr>
      <vt:lpstr>Open Sans</vt:lpstr>
      <vt:lpstr>Montserrat</vt:lpstr>
      <vt:lpstr>Josefin Sans</vt:lpstr>
      <vt:lpstr>Lato</vt:lpstr>
      <vt:lpstr>Merriweather Light</vt:lpstr>
      <vt:lpstr>Proxima Nova</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vt:lpstr>
      <vt:lpstr>Phương pháp tách rõ “chạy đúng” và “đo lường có hiệu lực”</vt:lpstr>
      <vt:lpstr>Lý thuyết được chuyển thành cơ chế phần mềm</vt:lpstr>
      <vt:lpstr>THIẾT KẾ</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SẢN PHẨM</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BẰNG CHỨNG</vt:lpstr>
      <vt:lpstr>PowerPoint Presentation</vt:lpstr>
      <vt:lpstr>Xác minh kỹ thuật đạt; hiệu lực tuyển dụng chưa được chứng minh</vt:lpstr>
      <vt:lpstr>DeepSeek/RAG được kiểm soát ở ba điểm</vt:lpstr>
      <vt:lpstr>Bất biến an toàn của SenseVoice</vt:lpstr>
      <vt:lpstr>KẾT LUẬN</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13</cp:revision>
  <dcterms:created xsi:type="dcterms:W3CDTF">2026-08-14T17:29:12Z</dcterms:created>
  <dcterms:modified xsi:type="dcterms:W3CDTF">2026-08-24T21:55:40Z</dcterms:modified>
</cp:coreProperties>
</file>