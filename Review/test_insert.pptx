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36"/>
  </p:notesMasterIdLst>
  <p:sldIdLst>
    <p:sldId id="256" r:id="rId4"/>
    <p:sldId id="257" r:id="rId5"/>
    <p:sldId id="288" r:id="rId21"/>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5143500" type="screen16x9"/>
  <p:notesSz cx="6858000" cy="9144000"/>
  <p:embeddedFontLst>
    <p:embeddedFont>
      <p:font typeface="Cambria" panose="02040503050406030204" pitchFamily="18" charset="0"/>
      <p:regular r:id="rId37"/>
      <p:bold r:id="rId38"/>
      <p:italic r:id="rId39"/>
      <p:boldItalic r:id="rId40"/>
    </p:embeddedFont>
    <p:embeddedFont>
      <p:font typeface="Crimson Text" panose="020B0604020202020204" charset="0"/>
      <p:regular r:id="rId41"/>
      <p:bold r:id="rId42"/>
      <p:italic r:id="rId43"/>
      <p:boldItalic r:id="rId44"/>
    </p:embeddedFont>
    <p:embeddedFont>
      <p:font typeface="Josefin Sans" pitchFamily="2" charset="0"/>
      <p:regular r:id="rId45"/>
      <p:bold r:id="rId46"/>
    </p:embeddedFont>
    <p:embeddedFont>
      <p:font typeface="Lato" panose="020F0502020204030203" pitchFamily="34" charset="0"/>
      <p:regular r:id="rId47"/>
      <p:bold r:id="rId48"/>
      <p:italic r:id="rId49"/>
      <p:boldItalic r:id="rId50"/>
    </p:embeddedFont>
    <p:embeddedFont>
      <p:font typeface="Mako" panose="020B0604020202020204" charset="0"/>
      <p:regular r:id="rId51"/>
    </p:embeddedFont>
    <p:embeddedFont>
      <p:font typeface="Merriweather Light" panose="00000400000000000000" pitchFamily="2" charset="0"/>
      <p:regular r:id="rId52"/>
      <p:bold r:id="rId53"/>
      <p:italic r:id="rId54"/>
      <p:boldItalic r:id="rId55"/>
    </p:embeddedFont>
    <p:embeddedFont>
      <p:font typeface="Montserrat"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Open Sans SemiBold" panose="020B0706030804020204" pitchFamily="34"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Proxima Nova Semibold" panose="020B0604020202020204" charset="0"/>
      <p:regular r:id="rId72"/>
      <p:bold r:id="rId73"/>
      <p:boldItalic r:id="rId74"/>
    </p:embeddedFont>
    <p:embeddedFont>
      <p:font typeface="Russo One" panose="020B0604020202020204" charset="0"/>
      <p:regular r:id="rId75"/>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89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32.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 Id="rId45" Type="http://schemas.openxmlformats.org/officeDocument/2006/relationships/font" Target="fonts/font9.fntdata"/><Relationship Id="rId46" Type="http://schemas.openxmlformats.org/officeDocument/2006/relationships/font" Target="fonts/font10.fntdata"/><Relationship Id="rId47" Type="http://schemas.openxmlformats.org/officeDocument/2006/relationships/font" Target="fonts/font11.fntdata"/><Relationship Id="rId48" Type="http://schemas.openxmlformats.org/officeDocument/2006/relationships/font" Target="fonts/font12.fntdata"/><Relationship Id="rId49" Type="http://schemas.openxmlformats.org/officeDocument/2006/relationships/font" Target="fonts/font13.fntdata"/><Relationship Id="rId50" Type="http://schemas.openxmlformats.org/officeDocument/2006/relationships/font" Target="fonts/font14.fntdata"/><Relationship Id="rId51" Type="http://schemas.openxmlformats.org/officeDocument/2006/relationships/font" Target="fonts/font15.fntdata"/><Relationship Id="rId52" Type="http://schemas.openxmlformats.org/officeDocument/2006/relationships/font" Target="fonts/font16.fntdata"/><Relationship Id="rId53" Type="http://schemas.openxmlformats.org/officeDocument/2006/relationships/font" Target="fonts/font17.fntdata"/><Relationship Id="rId54" Type="http://schemas.openxmlformats.org/officeDocument/2006/relationships/font" Target="fonts/font18.fntdata"/><Relationship Id="rId55" Type="http://schemas.openxmlformats.org/officeDocument/2006/relationships/font" Target="fonts/font19.fntdata"/><Relationship Id="rId56" Type="http://schemas.openxmlformats.org/officeDocument/2006/relationships/font" Target="fonts/font20.fntdata"/><Relationship Id="rId57" Type="http://schemas.openxmlformats.org/officeDocument/2006/relationships/font" Target="fonts/font21.fntdata"/><Relationship Id="rId58" Type="http://schemas.openxmlformats.org/officeDocument/2006/relationships/font" Target="fonts/font22.fntdata"/><Relationship Id="rId59" Type="http://schemas.openxmlformats.org/officeDocument/2006/relationships/font" Target="fonts/font23.fntdata"/><Relationship Id="rId60" Type="http://schemas.openxmlformats.org/officeDocument/2006/relationships/font" Target="fonts/font24.fntdata"/><Relationship Id="rId61" Type="http://schemas.openxmlformats.org/officeDocument/2006/relationships/font" Target="fonts/font25.fntdata"/><Relationship Id="rId62" Type="http://schemas.openxmlformats.org/officeDocument/2006/relationships/font" Target="fonts/font26.fntdata"/><Relationship Id="rId63" Type="http://schemas.openxmlformats.org/officeDocument/2006/relationships/font" Target="fonts/font27.fntdata"/><Relationship Id="rId64" Type="http://schemas.openxmlformats.org/officeDocument/2006/relationships/font" Target="fonts/font28.fntdata"/><Relationship Id="rId65" Type="http://schemas.openxmlformats.org/officeDocument/2006/relationships/font" Target="fonts/font29.fntdata"/><Relationship Id="rId66" Type="http://schemas.openxmlformats.org/officeDocument/2006/relationships/font" Target="fonts/font30.fntdata"/><Relationship Id="rId67" Type="http://schemas.openxmlformats.org/officeDocument/2006/relationships/font" Target="fonts/font31.fntdata"/><Relationship Id="rId68" Type="http://schemas.openxmlformats.org/officeDocument/2006/relationships/font" Target="fonts/font32.fntdata"/><Relationship Id="rId69" Type="http://schemas.openxmlformats.org/officeDocument/2006/relationships/font" Target="fonts/font33.fntdata"/><Relationship Id="rId70" Type="http://schemas.openxmlformats.org/officeDocument/2006/relationships/font" Target="fonts/font34.fntdata"/><Relationship Id="rId71" Type="http://schemas.openxmlformats.org/officeDocument/2006/relationships/font" Target="fonts/font35.fntdata"/><Relationship Id="rId72" Type="http://schemas.openxmlformats.org/officeDocument/2006/relationships/font" Target="fonts/font36.fntdata"/><Relationship Id="rId73" Type="http://schemas.openxmlformats.org/officeDocument/2006/relationships/font" Target="fonts/font37.fntdata"/><Relationship Id="rId74" Type="http://schemas.openxmlformats.org/officeDocument/2006/relationships/font" Target="fonts/font38.fntdata"/><Relationship Id="rId75" Type="http://schemas.openxmlformats.org/officeDocument/2006/relationships/font" Target="fonts/font39.fnt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p>
            <a:r>
              <a:t>Lời nói:</a:t>
            </a:r>
          </a:p>
          <a:p>
            <a:r>
              <a:t>"Kính thưa quý Thầy Cô trong Hội đồng. Em tên là Lê Minh Duy, sinh viên thực hiện khóa luận tốt nghiệp: 'Xây dựng hệ thống phỏng vấn và luyện tập phỏng vấn tích hợp Trí tuệ Nhân tạo - InterV', dưới sự hướng dẫn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p>
            <a:r>
              <a:t>Lời nói:</a:t>
            </a:r>
          </a:p>
          <a:p>
            <a:r>
              <a:t>"Nội dung trình bày gồm 6 phần chính.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[00:50 - 01:15] SLIDE 3: BÀI TOÁN &amp; THỰC TRẠNG</a:t>
            </a:r>
          </a:p>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4: BA NHÓM NGƯỜI DÙNG &amp; RANH GIỚI TRÁCH NHIỆM</a:t>
            </a:r>
          </a:p>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[01:30 - 01:45] SLIDE 5: MỤC TIÊU NGHIÊN CỨU</a:t>
            </a:r>
          </a:p>
          <a:p/>
          <a:p>
            <a:r>
              <a:t>Lời nói:</a:t>
            </a:r>
          </a:p>
          <a:p>
            <a:r>
              <a:t>"Sáu mục tiêu thiết kế: Tách 2 chế độ, Grounded LLM, Speech an toàn dạng Coaching, Quản trị Provenance, Xác minh kỹ thuật toàn diện, và Không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6: BỐN NGUYÊN TẮC KHÓA PHẠM VI</a:t>
            </a:r>
          </a:p>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[02:00 - 02:15] SLIDE 7: PHƯƠNG PHÁP NGHIÊN CỨU</a:t>
            </a:r>
          </a:p>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[02:15 - 02:30] SLIDE 8: ÁNH XẠ LÝ THUYẾT VÀO HỆ THỐNG</a:t>
            </a:r>
          </a:p>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[02:30 - 03:00] SLIDE 9: KIẾN TRÚC TỔNG THỂ 2 TẦNG</a:t>
            </a:r>
          </a:p>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[03:00 - 03:15] SLIDE 10: MÔ HÌNH DỮ LIỆU &amp; PROVENANCE</a:t>
            </a:r>
          </a:p>
          <a:p/>
          <a:p>
            <a:r>
              <a:t>Lời nói:</a:t>
            </a:r>
          </a:p>
          <a:p>
            <a:r>
              <a:t>"19 Mongoose models liên kết chặt chẽ theo vòng đời: User, Job, Invitation, Session, Run, Audio (BSON binary) và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[03:15 - 03:30] SLIDE 11: USE CASE THEO QUYỀN SỞ HỮU</a:t>
            </a:r>
          </a:p>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[03:30 - 05:30] SLIDE 12: LOOKAHEAD ADAPTIVE QUESTION ENGINE (TRỌNG TÂM)</a:t>
            </a:r>
          </a:p>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13: GROUNDED GENERATION &amp; CƠ CHẾ KIỂM SOÁT</a:t>
            </a:r>
          </a:p>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14: VÒNG ĐỜI TÀI LIỆU RAG &amp; HYBRID RETRIEVAL</a:t>
            </a:r>
          </a:p>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15: PIPELINE TIẾNG NÓI ĐA TẦNG (REALTIME &amp; HẬU KỲ)</a:t>
            </a:r>
          </a:p>
          <a:p/>
          <a:p>
            <a:r>
              <a:t>Lời nói:</a:t>
            </a:r>
          </a:p>
          <a:p>
            <a:r>
              <a:t>"Kính thưa Thầy Cô, pipeline tiếng nói của InterV được thiết kế chuyên biệt theo 2 pha rõ rệt:</a:t>
            </a:r>
          </a:p>
          <a:p/>
          <a:p>
            <a:r>
              <a:t>1. PHA 1: LUỒNG REALTIME TRONG PHỎNG VẤN (TƯƠNG TÁC MƯỢT MÀ, KHÔNG RỜI RẠC)</a:t>
            </a:r>
          </a:p>
          <a:p>
            <a:r>
              <a:t>• Luồng âm thanh từ microphone được AudioWorklet thu và truyền trực tiếp qua WebSocket tới AssemblyAI để thực hiện STT theo thời gian thực.</a:t>
            </a:r>
          </a:p>
          <a:p>
            <a:r>
              <a:t>• Cơ chế Fallback cục bộ: Khi gặp sự cố mạng hoặc lỗi API, hệ thống tự động fallback về model Faster-Whisper chạy trực tiếp trên Python backend.</a:t>
            </a:r>
          </a:p>
          <a:p>
            <a:r>
              <a:t>• Mục đích: Luôn bảo đảm có dữ liệu transcript tức thời cho AI Provider (DeepSeek) tiếp tục hiểu ngữ cảnh, nói tiếp qua TTS và sinh các câu hỏi thích ứng (Lookahead Engine) liền mạch, không làm câu hỏi bị rời rạc hay ngắt quãng phiên phỏng vấn.</a:t>
            </a:r>
          </a:p>
          <a:p/>
          <a:p>
            <a:r>
              <a:t>2. PHA 2: LUỒNG XỬ LÝ HẬU KỲ SAU PHỎNG VẤN (ĐÁNH GIÁ CHUYÊN SÂU &amp; COACHING)</a:t>
            </a:r>
          </a:p>
          <a:p>
            <a:r>
              <a:t>• Sau khi phỏng vấn xong, toàn bộ các đoạn audio gốc đã lưu sẽ được xử lý tuần tự (sequential batch) bằng Faster-Whisper để tái tạo STT chính xác cao nhất.</a:t>
            </a:r>
          </a:p>
          <a:p>
            <a:r>
              <a:t>• Hệ thống áp dụng các thuật toán xử lý tín hiệu âm thanh để đo lường khách quan nhịp độ, tốc độ nói (WPM), và các khoảng trống/khoảng lặng (pause duration) trong câu nói.</a:t>
            </a:r>
          </a:p>
          <a:p>
            <a:r>
              <a:t>• Tiếp theo, audio được đưa qua mô hình SenseVoice theo nguyên tắc 'Observation only' để bóc tách: LID (ngôn ngữ), SER (cảm xúc giọng nói), và AED (sự kiện âm thanh: tiếng cười, tiếng ho, thở dài, từ đệm/filler words).</a:t>
            </a:r>
          </a:p>
          <a:p>
            <a:r>
              <a:t>• Dữ liệu này được tổng hợp để đánh giá khách quan mức độ tự tin, tính lưu loát, và phong thái diễn đạt nhằm hỗ trợ coaching cho ứng viên mà không suy diễn tâm lý tùy tiện."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16: AN TOÀN, QUAN SÁT &amp; KHẢ NĂNG PHỤC HỒI</a:t>
            </a:r>
          </a:p>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17: HỢP ĐỒNG TYPED gRPC</a:t>
            </a:r>
          </a:p>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[10:45 - 11:05] SLIDE 18: MA TRẬN PHÂN QUYỀN RBAC</a:t>
            </a:r>
          </a:p>
          <a:p/>
          <a:p>
            <a:r>
              <a:t>Lời nói:</a:t>
            </a:r>
          </a:p>
          <a:p>
            <a:r>
              <a:t>"Candidate, Recruiter, Admin. Ba vai trò phân quyền độc lập, AI tuyệt đối không có quyền tự động ra quyết định tuyển dụng hay loại bỏ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[11:05 - 11:25] SLIDE 19: STATE MACHINE PHIÊN LUYỆN TẬP</a:t>
            </a:r>
          </a:p>
          <a:p/>
          <a:p>
            <a:r>
              <a:t>Lời nói:</a:t>
            </a:r>
          </a:p>
          <a:p>
            <a:r>
              <a:t>"Vòng đời nghiêm ngặt: Draft -&gt; Ready -&gt; Recording -&gt; Processing -&gt; Reviewed -&gt; Completed. Có cơ chế resume an toàn khi gặp sự cố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[11:25 - 11:45] SLIDE 20: VÒNG ĐỜI TUYỂN DỤNG RECRUITER</a:t>
            </a:r>
          </a:p>
          <a:p/>
          <a:p>
            <a:r>
              <a:t>Lời nói:</a:t>
            </a:r>
          </a:p>
          <a:p>
            <a:r>
              <a:t>"Job -&gt; Campaign -&gt; Invitation -&gt; Interview -&gt; Evidence -&gt; Human Final Review. Recruiter sở hữu toàn quyền quyết định cuối cùng."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[11:45 - 12:00] SLIDE 21: CƠ CHẾ FALLBACK TOÀN DIỆN</a:t>
            </a:r>
          </a:p>
          <a:p/>
          <a:p>
            <a:r>
              <a:t>Lời nói:</a:t>
            </a:r>
          </a:p>
          <a:p>
            <a:r>
              <a:t>"Minh họa đường đi chính (Primary) và đường dự phòng (Fallback) tại mọi điểm trọng yếu: RAG fallback baseline, STT fallback Faster-Whisper, Audio fallback text-only."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[12:00 - 12:25] SLIDE 22: STACK CÔNG NGHỆ</a:t>
            </a:r>
          </a:p>
          <a:p/>
          <a:p>
            <a:r>
              <a:t>Lời nói:</a:t>
            </a:r>
          </a:p>
          <a:p>
            <a:r>
              <a:t>"Next.js 15, TypeScript, Tailwind v4, MongoDB ReplicaSet, Python gRPC (16 RPCs), DeepSeek, Qdrant RAG, AssemblyAI, Faster-Whisper, SenseVoice, Edge/Vbee TTS."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[12:25 - 13:10] SLIDE 23: QUY MÔ HIỆN VẬT TRIỂN KHAI</a:t>
            </a:r>
          </a:p>
          <a:p/>
          <a:p>
            <a:r>
              <a:t>Lời nói:</a:t>
            </a:r>
          </a:p>
          <a:p>
            <a:r>
              <a:t>"Con số thực tế từ repository:</a:t>
            </a:r>
          </a:p>
          <a:p>
            <a:r>
              <a:t>• Hơn 72.000 dòng mã nguồn logic.</a:t>
            </a:r>
          </a:p>
          <a:p>
            <a:r>
              <a:t>• 61 route files, 74 HTTP methods, 38 trang frontend.</a:t>
            </a:r>
          </a:p>
          <a:p>
            <a:r>
              <a:t>• 19 Mongoose models, 16 gRPC RPCs, 86 Rule files (15 ngành, 60 profile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[13:10 - 13:40] SLIDE 24: XÁC MINH KỸ THUẬT ĐẠT 100%</a:t>
            </a:r>
          </a:p>
          <a:p/>
          <a:p>
            <a:r>
              <a:t>Lời nói:</a:t>
            </a:r>
          </a:p>
          <a:p>
            <a:r>
              <a:t>"Toàn bộ 51/51 Backend tests đạt 100% trong 3.28 giây, 16/16 RPC contract tests pass, Next.js build đạt production-ready,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[13:40 - 13:55] SLIDE 25: BA ĐIỂM KIỂM SOÁT DEEPSEEK</a:t>
            </a:r>
          </a:p>
          <a:p/>
          <a:p>
            <a:r>
              <a:t>Lời nói:</a:t>
            </a:r>
          </a:p>
          <a:p>
            <a:r>
              <a:t>"Kiểm soát Trước - Trong - Sau khi sinh: Pre-generation Context Grounding, In-generation JSON Schema, Post-generation Citation Gate &amp; 1-shot Repair."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[13:55 - 14:15] SLIDE 26: BẤT BIẾN AN TOÀN SENSEVOICE</a:t>
            </a:r>
          </a:p>
          <a:p/>
          <a:p>
            <a:r>
              <a:t>Lời nói:</a:t>
            </a:r>
          </a:p>
          <a:p>
            <a:r>
              <a:t>"Observation-only (chỉ coaching, không chẩn đoán tâm lý), Neutral Default 50 nếu thiếu tín hiệu, không bao giờ tự ý trừ điểm của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[14:15 - 14:30] SLIDE 27: BỐN ĐÓNG GÓP CHÍNH</a:t>
            </a:r>
          </a:p>
          <a:p/>
          <a:p>
            <a:r>
              <a:t>Lời nói:</a:t>
            </a:r>
          </a:p>
          <a:p>
            <a:r>
              <a:t>"1. Kiến trúc Lookahead thời gian thực 0ms latency.</a:t>
            </a:r>
          </a:p>
          <a:p>
            <a:r>
              <a:t>2. Grounded Generation 3 cổng loại bỏ hoàn toàn ảo giác.</a:t>
            </a:r>
          </a:p>
          <a:p>
            <a:r>
              <a:t>3. Multimodal Speech Pipeline 2 pha an toàn, có fallback.</a:t>
            </a:r>
          </a:p>
          <a:p>
            <a:r>
              <a:t>4. Hệ thống Provenance &amp; Rule Catalog 86 files chuẩn hóa theo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[14:30 - 14:45] SLIDE 28: GIỚI HẠN NGHIÊN CỨU</a:t>
            </a:r>
          </a:p>
          <a:p/>
          <a:p>
            <a:r>
              <a:t>Lời nói:</a:t>
            </a:r>
          </a:p>
          <a:p>
            <a:r>
              <a:t>"Đề tài trung thực xác nhận: Đạt tính nhất quán và vững chắc kỹ thuật, nhưng cần đánh giá Validity/Fairness thực nghiệm trên tập mẫu lớn trước khi triển khai tuyển dụng diện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[14:45 - 14:50] SLIDE 29: BỐN CỔNG KIỂM SOÁT TRIỂN KHAI</a:t>
            </a:r>
          </a:p>
          <a:p/>
          <a:p>
            <a:r>
              <a:t>Lời nói:</a:t>
            </a:r>
          </a:p>
          <a:p>
            <a:r>
              <a:t>"Lộ trình mở rộng qua 4 gates: Practice Playground -&gt; Shadow Scoring -&gt; Human-overridden Pilot -&gt; Restricted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[14:50 - 14:55] SLIDE 30: KẾT LUẬN</a:t>
            </a:r>
          </a:p>
          <a:p/>
          <a:p>
            <a:r>
              <a:t>Lời nói:</a:t>
            </a:r>
          </a:p>
          <a:p>
            <a:r>
              <a:t>"InterV đã đạt nền tảng kỹ thuật khả thi, an toàn và sẵn sàng phục vụ luyện tập và hỗ trợ tuyển dụng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[14:55 - 15:00] SLIDE 31: CẢM ƠN &amp; TIẾP NHẬN PHẢN BIỆN</a:t>
            </a:r>
          </a:p>
          <a:p/>
          <a:p>
            <a:r>
              <a:t>Lời nói:</a:t>
            </a:r>
          </a:p>
          <a:p>
            <a:r>
              <a:t>"Em xin trân trọng cảm ơn Thầy ThS. Đặng Văn Lực và quý Thầy Cô trong Hội đồng đã chú ý theo dõi. Em xin phép được tiếp nhận câu hỏi phản biện!"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431148"/>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rPr lang="vi-VN" dirty="0"/>
              <a:t>NGHIÊN CỨU THIẾT KẾ VÀ PHÁT TRIỂN KIẾN TRÚC HỆ THỐNG PHỎNG VẤN NĂNG LỰC TỰ ĐỘNG TÍCH HỢP XỬ LÝ GIỌNG NÓI ĐA TẦNG, TRUY XUẤT TRI THỨC TĂNG CƯỜNG (RAG) VÀ MÔ HÌNH NGÔN NGỮ LỚN</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546852"/>
            <a:ext cx="7064100" cy="702013"/>
          </a:xfrm>
          <a:prstGeom prst="rect">
            <a:avLst/>
          </a:prstGeom>
        </p:spPr>
        <p:txBody>
          <a:bodyPr spcFirstLastPara="1" wrap="square" lIns="91425" tIns="91425" rIns="91425" bIns="91425" anchor="ctr">
            <a:noAutofit/>
          </a:bodyPr>
          <a:lstStyle/>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Sinh </a:t>
            </a:r>
            <a:r>
              <a:rPr sz="1400" b="0" dirty="0" err="1">
                <a:solidFill>
                  <a:srgbClr val="526052"/>
                </a:solidFill>
                <a:latin typeface="Montserrat"/>
                <a:ea typeface="Montserrat"/>
                <a:cs typeface="Montserrat"/>
              </a:rPr>
              <a:t>viên</a:t>
            </a:r>
            <a:r>
              <a:rPr sz="1400" b="0" dirty="0">
                <a:solidFill>
                  <a:srgbClr val="526052"/>
                </a:solidFill>
                <a:latin typeface="Montserrat"/>
                <a:ea typeface="Montserrat"/>
                <a:cs typeface="Montserrat"/>
              </a:rPr>
              <a:t>: Lê Minh Duy </a:t>
            </a:r>
            <a:r>
              <a:rPr lang="vi-VN" sz="1400" b="0" dirty="0">
                <a:solidFill>
                  <a:srgbClr val="526052"/>
                </a:solidFill>
                <a:latin typeface="Montserrat"/>
                <a:ea typeface="Montserrat"/>
                <a:cs typeface="Montserrat"/>
              </a:rPr>
              <a:t>-</a:t>
            </a:r>
            <a:r>
              <a:rPr sz="1400" b="0" dirty="0">
                <a:solidFill>
                  <a:srgbClr val="526052"/>
                </a:solidFill>
                <a:latin typeface="Montserrat"/>
                <a:ea typeface="Montserrat"/>
                <a:cs typeface="Montserrat"/>
              </a:rPr>
              <a:t> MSSV: 221A011220</a:t>
            </a:r>
            <a:endParaRPr sz="1400" dirty="0"/>
          </a:p>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GVHD: </a:t>
            </a:r>
            <a:r>
              <a:rPr sz="1400" b="0" dirty="0" err="1">
                <a:solidFill>
                  <a:srgbClr val="526052"/>
                </a:solidFill>
                <a:latin typeface="Montserrat"/>
                <a:ea typeface="Montserrat"/>
                <a:cs typeface="Montserrat"/>
              </a:rPr>
              <a:t>ThS</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Đặng</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Lực</a:t>
            </a:r>
            <a:r>
              <a:rPr sz="1400" b="0" dirty="0">
                <a:solidFill>
                  <a:srgbClr val="526052"/>
                </a:solidFill>
                <a:latin typeface="Montserrat"/>
                <a:ea typeface="Montserrat"/>
                <a:cs typeface="Montserrat"/>
              </a:rPr>
              <a:t> • </a:t>
            </a:r>
            <a:r>
              <a:rPr sz="1400" b="0" dirty="0" err="1">
                <a:solidFill>
                  <a:srgbClr val="526052"/>
                </a:solidFill>
                <a:latin typeface="Montserrat"/>
                <a:ea typeface="Montserrat"/>
                <a:cs typeface="Montserrat"/>
              </a:rPr>
              <a:t>Trường</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Đại</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học</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Hiến</a:t>
            </a:r>
            <a:r>
              <a:rPr sz="1400" b="0" dirty="0">
                <a:solidFill>
                  <a:srgbClr val="526052"/>
                </a:solidFill>
                <a:latin typeface="Montserrat"/>
                <a:ea typeface="Montserrat"/>
                <a:cs typeface="Montserrat"/>
              </a:rPr>
              <a:t> • 2026</a:t>
            </a:r>
            <a:endParaRPr sz="1400"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dirty="0">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Phương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pháp</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tách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rõ</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chạy</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đúng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đo</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lường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có</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lực</a:t>
            </a:r>
            <a:r>
              <a:rPr sz="1875" b="1" dirty="0">
                <a:solidFill>
                  <a:srgbClr val="111410"/>
                </a:solidFill>
                <a:latin typeface="Cambria"/>
                <a:ea typeface="Cambria"/>
                <a:cs typeface="Cambria"/>
              </a:rPr>
              <a:t>”</a:t>
            </a:r>
            <a:endParaRPr dirty="0"/>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dirty="0" err="1">
                <a:solidFill>
                  <a:srgbClr val="111410"/>
                </a:solidFill>
                <a:latin typeface="Montserrat"/>
                <a:ea typeface="Montserrat"/>
                <a:cs typeface="Montserrat"/>
              </a:rPr>
              <a:t>Tổng</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quan</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tài</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liệu</a:t>
            </a:r>
            <a:endParaRPr sz="2400" dirty="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dirty="0">
                <a:solidFill>
                  <a:srgbClr val="526052"/>
                </a:solidFill>
                <a:latin typeface="Montserrat"/>
                <a:ea typeface="Montserrat"/>
                <a:cs typeface="Montserrat"/>
              </a:rPr>
              <a:t>Structured interview, STAR, BARS, AI governance</a:t>
            </a:r>
            <a:endParaRPr dirty="0">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Mô</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hình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dữ</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giữ</a:t>
            </a:r>
            <a:r>
              <a:rPr sz="1875" b="1" dirty="0">
                <a:solidFill>
                  <a:srgbClr val="111410"/>
                </a:solidFill>
                <a:latin typeface="Cambria"/>
                <a:ea typeface="Cambria"/>
                <a:cs typeface="Cambria"/>
              </a:rPr>
              <a:t> ownership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provenance</a:t>
            </a:r>
            <a:endParaRPr dirty="0"/>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556369" y="2710387"/>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dirty="0">
                <a:solidFill>
                  <a:srgbClr val="526052"/>
                </a:solidFill>
                <a:latin typeface="Montserrat"/>
                <a:ea typeface="Montserrat"/>
                <a:cs typeface="Montserrat"/>
              </a:rPr>
              <a:t>Ba actor </a:t>
            </a:r>
            <a:r>
              <a:rPr sz="975" b="0" dirty="0" err="1">
                <a:solidFill>
                  <a:srgbClr val="526052"/>
                </a:solidFill>
                <a:latin typeface="Montserrat"/>
                <a:ea typeface="Montserrat"/>
                <a:cs typeface="Montserrat"/>
              </a:rPr>
              <a:t>dùng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chung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tảng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nhưng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không</a:t>
            </a:r>
            <a:r>
              <a:rPr sz="975" b="0" dirty="0">
                <a:solidFill>
                  <a:srgbClr val="526052"/>
                </a:solidFill>
                <a:latin typeface="Montserrat"/>
                <a:ea typeface="Montserrat"/>
                <a:cs typeface="Montserrat"/>
              </a:rPr>
              <a:t> chia </a:t>
            </a:r>
            <a:r>
              <a:rPr sz="975" b="0" dirty="0" err="1">
                <a:solidFill>
                  <a:srgbClr val="526052"/>
                </a:solidFill>
                <a:latin typeface="Montserrat"/>
                <a:ea typeface="Montserrat"/>
                <a:cs typeface="Montserrat"/>
              </a:rPr>
              <a:t>sẻ</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quyết</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định</a:t>
            </a:r>
            <a:r>
              <a:rPr sz="975" b="0" dirty="0">
                <a:solidFill>
                  <a:srgbClr val="526052"/>
                </a:solidFill>
                <a:latin typeface="Montserrat"/>
                <a:ea typeface="Montserrat"/>
                <a:cs typeface="Montserrat"/>
              </a:rPr>
              <a:t>; AI </a:t>
            </a:r>
            <a:r>
              <a:rPr sz="975" b="0" dirty="0" err="1">
                <a:solidFill>
                  <a:srgbClr val="526052"/>
                </a:solidFill>
                <a:latin typeface="Montserrat"/>
                <a:ea typeface="Montserrat"/>
                <a:cs typeface="Montserrat"/>
              </a:rPr>
              <a:t>nằm</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ngoài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tuyển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dụng</a:t>
            </a:r>
            <a:r>
              <a:rPr sz="975" b="0" dirty="0">
                <a:solidFill>
                  <a:srgbClr val="526052"/>
                </a:solidFill>
                <a:latin typeface="Montserrat"/>
                <a:ea typeface="Montserrat"/>
                <a:cs typeface="Montserrat"/>
              </a:rPr>
              <a:t>.</a:t>
            </a:r>
            <a:endParaRPr dirty="0"/>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stCxn id="876" idx="1"/>
            <a:endCxn id="873" idx="0"/>
          </p:cNvCxnSpPr>
          <p:nvPr/>
        </p:nvCxnSpPr>
        <p:spPr>
          <a:xfrm flipH="1">
            <a:off x="3048000" y="1428750"/>
            <a:ext cx="952500" cy="71437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785812" y="872502"/>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err="1">
                <a:solidFill>
                  <a:srgbClr val="526052"/>
                </a:solidFill>
                <a:latin typeface="Montserrat"/>
                <a:ea typeface="Montserrat"/>
                <a:cs typeface="Montserrat"/>
              </a:rPr>
              <a:t>Luyện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tập</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tham</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gia</a:t>
            </a:r>
            <a:endParaRPr sz="750" b="0" dirty="0">
              <a:solidFill>
                <a:srgbClr val="526052"/>
              </a:solidFill>
              <a:latin typeface="Montserrat"/>
              <a:ea typeface="Montserrat"/>
              <a:cs typeface="Montserrat"/>
            </a:endParaRP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604837" y="393382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JD / </a:t>
            </a:r>
            <a:r>
              <a:rPr sz="750" b="0" dirty="0" err="1">
                <a:solidFill>
                  <a:srgbClr val="526052"/>
                </a:solidFill>
                <a:latin typeface="Montserrat"/>
                <a:ea typeface="Montserrat"/>
                <a:cs typeface="Montserrat"/>
              </a:rPr>
              <a:t>chiến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dịch</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đánh</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giá</a:t>
            </a:r>
            <a:endParaRPr sz="750" b="0" dirty="0">
              <a:solidFill>
                <a:srgbClr val="526052"/>
              </a:solidFill>
              <a:latin typeface="Montserrat"/>
              <a:ea typeface="Montserrat"/>
              <a:cs typeface="Montserrat"/>
            </a:endParaRP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62375" y="393382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AI </a:t>
            </a:r>
            <a:r>
              <a:rPr sz="750" b="0" dirty="0" err="1">
                <a:solidFill>
                  <a:srgbClr val="526052"/>
                </a:solidFill>
                <a:latin typeface="Montserrat"/>
                <a:ea typeface="Montserrat"/>
                <a:cs typeface="Montserrat"/>
              </a:rPr>
              <a:t>không</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giữ</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quyền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tuyển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dụng</a:t>
            </a:r>
            <a:endParaRPr sz="750" b="0" dirty="0">
              <a:solidFill>
                <a:srgbClr val="526052"/>
              </a:solidFill>
              <a:latin typeface="Montserrat"/>
              <a:ea typeface="Montserrat"/>
              <a:cs typeface="Montserrat"/>
            </a:endParaRPr>
          </a:p>
        </p:txBody>
      </p:sp>
      <p:sp>
        <p:nvSpPr>
          <p:cNvPr id="2" name="Rectangle 1">
            <a:extLst>
              <a:ext uri="{FF2B5EF4-FFF2-40B4-BE49-F238E27FC236}">
                <a16:creationId xmlns:a16="http://schemas.microsoft.com/office/drawing/2014/main" id="{98446D93-5C0D-6D3C-644B-B0F97DAC9F3B}"/>
              </a:ext>
            </a:extLst>
          </p:cNvPr>
          <p:cNvSpPr>
            <a:spLocks noGrp="1"/>
          </p:cNvSpPr>
          <p:nvPr/>
        </p:nvSpPr>
        <p:spPr>
          <a:xfrm>
            <a:off x="5636999" y="1834087"/>
            <a:ext cx="3013501" cy="876300"/>
          </a:xfrm>
          <a:prstGeom prst="rect">
            <a:avLst/>
          </a:prstGeom>
          <a:ln w="0">
            <a:prstDash val="solid"/>
          </a:ln>
        </p:spPr>
        <p:txBody>
          <a:bodyPr lIns="19050" tIns="9525" rIns="19050" bIns="9525" anchor="ctr">
            <a:noAutofit/>
          </a:bodyPr>
          <a:lstStyle/>
          <a:p>
            <a:pPr algn="l">
              <a:buNone/>
              <a:defRPr sz="2363" b="0">
                <a:solidFill>
                  <a:srgbClr val="111410"/>
                </a:solidFill>
                <a:latin typeface="Cambria"/>
                <a:ea typeface="Cambria"/>
                <a:cs typeface="Cambria"/>
              </a:defRPr>
            </a:pPr>
            <a:r>
              <a:rPr lang="vi-VN" sz="2800" b="0" dirty="0">
                <a:solidFill>
                  <a:srgbClr val="111410"/>
                </a:solidFill>
                <a:latin typeface="Cambria" panose="02040503050406030204" pitchFamily="18" charset="0"/>
                <a:ea typeface="Cambria" panose="02040503050406030204" pitchFamily="18" charset="0"/>
                <a:cs typeface="Cambria"/>
              </a:rPr>
              <a:t>Use case phản ánh đúng quyền sở hữu</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dirty="0">
                <a:solidFill>
                  <a:srgbClr val="111410"/>
                </a:solidFill>
                <a:latin typeface="Cambria" panose="02040503050406030204" pitchFamily="18" charset="0"/>
                <a:ea typeface="Cambria" panose="02040503050406030204" pitchFamily="18" charset="0"/>
                <a:cs typeface="Cambria"/>
              </a:rPr>
              <a:t>Lookahead </a:t>
            </a:r>
            <a:r>
              <a:rPr sz="2363" b="0" dirty="0" err="1">
                <a:solidFill>
                  <a:srgbClr val="111410"/>
                </a:solidFill>
                <a:latin typeface="Cambria" panose="02040503050406030204" pitchFamily="18" charset="0"/>
                <a:ea typeface="Cambria" panose="02040503050406030204" pitchFamily="18" charset="0"/>
                <a:cs typeface="Cambria"/>
              </a:rPr>
              <a:t>thích</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ứng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câu</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hỏi</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mà</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không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ngắt</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phiên</a:t>
            </a:r>
            <a:endParaRPr sz="2363" b="0" dirty="0">
              <a:solidFill>
                <a:srgbClr val="111410"/>
              </a:solidFill>
              <a:latin typeface="Cambria" panose="02040503050406030204" pitchFamily="18" charset="0"/>
              <a:ea typeface="Cambria" panose="02040503050406030204" pitchFamily="18" charset="0"/>
              <a:cs typeface="Cambria"/>
            </a:endParaRP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r>
              <a:rPr sz="2100" b="1">
                <a:solidFill>
                  <a:srgbClr val="4B8D17"/>
                </a:solidFill>
                <a:latin typeface="Montserrat"/>
                <a:ea typeface="Montserrat"/>
                <a:cs typeface="Montserrat"/>
              </a:rPr>
              <a:t>01</a:t>
            </a: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dirty="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lang="vi-VN" sz="2025" b="1" dirty="0">
                <a:solidFill>
                  <a:srgbClr val="111410"/>
                </a:solidFill>
              </a:rPr>
              <a:t>Vòng đời tài liệu RAG có provenance</a:t>
            </a:r>
            <a:endParaRPr lang="vi-VN" dirty="0"/>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dirty="0" err="1">
                <a:solidFill>
                  <a:srgbClr val="526052"/>
                </a:solidFill>
                <a:latin typeface="Montserrat"/>
                <a:ea typeface="Montserrat"/>
                <a:cs typeface="Montserrat"/>
              </a:rPr>
              <a:t>Mỗi</a:t>
            </a:r>
            <a:r>
              <a:rPr sz="975" b="0" dirty="0">
                <a:solidFill>
                  <a:srgbClr val="526052"/>
                </a:solidFill>
                <a:latin typeface="Montserrat"/>
                <a:ea typeface="Montserrat"/>
                <a:cs typeface="Montserrat"/>
              </a:rPr>
              <a:t> evidence ID </a:t>
            </a:r>
            <a:r>
              <a:rPr sz="975" b="0" dirty="0" err="1">
                <a:solidFill>
                  <a:srgbClr val="526052"/>
                </a:solidFill>
                <a:latin typeface="Montserrat"/>
                <a:ea typeface="Montserrat"/>
                <a:cs typeface="Montserrat"/>
              </a:rPr>
              <a:t>truy</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về</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nguồn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phiên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bản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và</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trạng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thái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lưu</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giữ</a:t>
            </a:r>
            <a:r>
              <a:rPr sz="975" b="0" dirty="0">
                <a:solidFill>
                  <a:srgbClr val="526052"/>
                </a:solidFill>
                <a:latin typeface="Montserrat"/>
                <a:ea typeface="Montserrat"/>
                <a:cs typeface="Montserrat"/>
              </a:rPr>
              <a:t>.</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dirty="0" err="1">
                <a:solidFill>
                  <a:srgbClr val="111410"/>
                </a:solidFill>
                <a:latin typeface="Montserrat"/>
                <a:ea typeface="Montserrat"/>
                <a:cs typeface="Montserrat"/>
              </a:rPr>
              <a:t>Quản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trị</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phiên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bản</a:t>
            </a:r>
            <a:endParaRPr sz="938" b="1" dirty="0">
              <a:solidFill>
                <a:srgbClr val="111410"/>
              </a:solidFill>
              <a:latin typeface="Montserrat"/>
              <a:ea typeface="Montserrat"/>
              <a:cs typeface="Montserrat"/>
            </a:endParaRP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527670"/>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100" b="1">
                <a:solidFill>
                  <a:srgbClr val="111410"/>
                </a:solidFill>
                <a:latin typeface="Cambria"/>
                <a:ea typeface="Cambria"/>
                <a:cs typeface="Cambria"/>
              </a:defRPr>
            </a:pPr>
            <a:r>
              <a:rPr dirty="0"/>
              <a:t>Pipeline </a:t>
            </a:r>
            <a:r>
              <a:rPr dirty="0" err="1"/>
              <a:t>tiếng</a:t>
            </a:r>
            <a:r>
              <a:rPr dirty="0"/>
              <a:t> </a:t>
            </a:r>
            <a:r>
              <a:rPr dirty="0" err="1"/>
              <a:t>nói</a:t>
            </a:r>
            <a:r>
              <a:rPr dirty="0"/>
              <a:t> </a:t>
            </a:r>
            <a:r>
              <a:rPr dirty="0" err="1"/>
              <a:t>nhiều</a:t>
            </a:r>
            <a:r>
              <a:rPr dirty="0"/>
              <a:t> </a:t>
            </a:r>
            <a:r>
              <a:rPr dirty="0" err="1"/>
              <a:t>tầng</a:t>
            </a:r>
            <a:r>
              <a:rPr dirty="0"/>
              <a:t>: Realtime &amp; </a:t>
            </a:r>
            <a:r>
              <a:rPr dirty="0" err="1"/>
              <a:t>Hậu</a:t>
            </a:r>
            <a:r>
              <a:rPr dirty="0"/>
              <a:t> </a:t>
            </a:r>
            <a:r>
              <a:rPr dirty="0" err="1"/>
              <a:t>kỳ</a:t>
            </a:r>
            <a:r>
              <a:rPr dirty="0"/>
              <a:t> </a:t>
            </a:r>
            <a:r>
              <a:rPr dirty="0" err="1"/>
              <a:t>phỏng</a:t>
            </a:r>
            <a:r>
              <a:rPr dirty="0"/>
              <a:t> </a:t>
            </a:r>
            <a:r>
              <a:rPr dirty="0" err="1"/>
              <a:t>vấn</a:t>
            </a:r>
            <a:endParaRPr dirty="0"/>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565770"/>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r>
              <a:rPr sz="2025" b="1" dirty="0">
                <a:solidFill>
                  <a:srgbClr val="4B8D17"/>
                </a:solidFill>
                <a:latin typeface="Cambria"/>
                <a:ea typeface="Cambria"/>
                <a:cs typeface="Cambria"/>
              </a:rPr>
              <a:t>03</a:t>
            </a:r>
            <a:endParaRPr dirty="0"/>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285013"/>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dirty="0" err="1"/>
              <a:t>AssemblyAI</a:t>
            </a:r>
            <a:r>
              <a:rPr dirty="0"/>
              <a:t> streaming • Faster-Whisper fallback &amp; batch • </a:t>
            </a:r>
            <a:r>
              <a:rPr dirty="0" err="1"/>
              <a:t>SenseVoice</a:t>
            </a:r>
            <a:r>
              <a:rPr dirty="0"/>
              <a:t> LID/SER/AED</a:t>
            </a: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4" y="1615741"/>
            <a:ext cx="4011887"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1. LUỒNG REALTIME TRONG PHỎNG VẤN (TƯƠNG TÁC LIỀN MẠCH)</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139741"/>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endParaRP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4" y="3139741"/>
            <a:ext cx="3929385"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2. LUỒNG XỬ LÝ HẬU KỲ SAU PHỎNG VẤN (ĐÁNH GIÁ CHUYÊN SÂU)</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996741"/>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50" b="1">
                <a:solidFill>
                  <a:srgbClr val="111410"/>
                </a:solidFill>
                <a:latin typeface="Montserrat"/>
                <a:ea typeface="Montserrat"/>
                <a:cs typeface="Montserrat"/>
              </a:defRPr>
            </a:pPr>
            <a:r>
              <a:rPr dirty="0"/>
              <a:t>Microphone</a:t>
            </a:r>
          </a:p>
          <a:p>
            <a:pPr algn="ctr">
              <a:defRPr sz="825">
                <a:solidFill>
                  <a:srgbClr val="526052"/>
                </a:solidFill>
                <a:latin typeface="Montserrat"/>
              </a:defRPr>
            </a:pPr>
            <a:r>
              <a:rPr dirty="0"/>
              <a:t>Thu </a:t>
            </a:r>
            <a:r>
              <a:rPr dirty="0" err="1"/>
              <a:t>âm</a:t>
            </a:r>
            <a:r>
              <a:rPr dirty="0"/>
              <a:t> </a:t>
            </a:r>
            <a:r>
              <a:rPr dirty="0" err="1"/>
              <a:t>AudioWorklet</a:t>
            </a:r>
            <a:r>
              <a:rPr dirty="0"/>
              <a:t> (16kHz PCM)</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996741"/>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AssemblyAI</a:t>
            </a:r>
            <a:r>
              <a:rPr dirty="0"/>
              <a:t> Streaming</a:t>
            </a:r>
            <a:endParaRPr sz="975" b="1" dirty="0">
              <a:solidFill>
                <a:srgbClr val="111410"/>
              </a:solidFill>
              <a:latin typeface="Montserrat"/>
              <a:ea typeface="Montserrat"/>
              <a:cs typeface="Montserrat"/>
            </a:endParaRPr>
          </a:p>
          <a:p>
            <a:pPr algn="ctr">
              <a:lnSpc>
                <a:spcPct val="150000"/>
              </a:lnSpc>
              <a:defRPr sz="800">
                <a:solidFill>
                  <a:srgbClr val="4B8D17"/>
                </a:solidFill>
                <a:latin typeface="Montserrat"/>
              </a:defRPr>
            </a:pPr>
            <a:r>
              <a:rPr dirty="0"/>
              <a:t>STT </a:t>
            </a:r>
            <a:r>
              <a:rPr dirty="0" err="1"/>
              <a:t>thời</a:t>
            </a:r>
            <a:r>
              <a:rPr dirty="0"/>
              <a:t> </a:t>
            </a:r>
            <a:r>
              <a:rPr dirty="0" err="1"/>
              <a:t>gian</a:t>
            </a:r>
            <a:r>
              <a:rPr dirty="0"/>
              <a:t> </a:t>
            </a:r>
            <a:r>
              <a:rPr dirty="0" err="1"/>
              <a:t>thực</a:t>
            </a:r>
            <a:r>
              <a:rPr dirty="0"/>
              <a:t> (WebSocket)</a:t>
            </a:r>
            <a:br>
              <a:rPr dirty="0"/>
            </a:br>
            <a:r>
              <a:rPr dirty="0"/>
              <a:t>[</a:t>
            </a:r>
            <a:r>
              <a:rPr dirty="0" err="1"/>
              <a:t>Lỗi</a:t>
            </a:r>
            <a:r>
              <a:rPr dirty="0"/>
              <a:t> → Faster-Whisper fallback]</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996741"/>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fontScale="92500" lnSpcReduction="10000"/>
          </a:bodyPr>
          <a:lstStyle/>
          <a:p>
            <a:pPr algn="ctr">
              <a:lnSpc>
                <a:spcPct val="150000"/>
              </a:lnSpc>
              <a:buNone/>
              <a:defRPr sz="950" b="1">
                <a:solidFill>
                  <a:srgbClr val="111410"/>
                </a:solidFill>
                <a:latin typeface="Montserrat"/>
                <a:ea typeface="Montserrat"/>
                <a:cs typeface="Montserrat"/>
              </a:defRPr>
            </a:pPr>
            <a:r>
              <a:rPr dirty="0"/>
              <a:t>AI Provider (</a:t>
            </a:r>
            <a:r>
              <a:rPr dirty="0" err="1"/>
              <a:t>DeepSeek</a:t>
            </a:r>
            <a:r>
              <a:rPr dirty="0"/>
              <a:t>)</a:t>
            </a:r>
          </a:p>
          <a:p>
            <a:pPr algn="ctr">
              <a:lnSpc>
                <a:spcPct val="150000"/>
              </a:lnSpc>
              <a:defRPr sz="800">
                <a:solidFill>
                  <a:srgbClr val="526052"/>
                </a:solidFill>
                <a:latin typeface="Montserrat"/>
              </a:defRPr>
            </a:pPr>
            <a:r>
              <a:rPr dirty="0" err="1"/>
              <a:t>Có</a:t>
            </a:r>
            <a:r>
              <a:rPr dirty="0"/>
              <a:t> text </a:t>
            </a:r>
            <a:r>
              <a:rPr dirty="0" err="1"/>
              <a:t>tức</a:t>
            </a:r>
            <a:r>
              <a:rPr dirty="0"/>
              <a:t> </a:t>
            </a:r>
            <a:r>
              <a:rPr dirty="0" err="1"/>
              <a:t>thời</a:t>
            </a:r>
            <a:r>
              <a:rPr dirty="0"/>
              <a:t> → Sinh </a:t>
            </a:r>
            <a:r>
              <a:rPr dirty="0" err="1"/>
              <a:t>câu</a:t>
            </a:r>
            <a:r>
              <a:rPr dirty="0"/>
              <a:t> </a:t>
            </a:r>
            <a:r>
              <a:rPr dirty="0" err="1"/>
              <a:t>hỏi</a:t>
            </a:r>
            <a:r>
              <a:rPr dirty="0"/>
              <a:t> </a:t>
            </a:r>
            <a:r>
              <a:rPr dirty="0" err="1"/>
              <a:t>thích</a:t>
            </a:r>
            <a:r>
              <a:rPr dirty="0"/>
              <a:t> </a:t>
            </a:r>
            <a:r>
              <a:rPr dirty="0" err="1"/>
              <a:t>ứng</a:t>
            </a:r>
            <a:r>
              <a:rPr dirty="0"/>
              <a:t> &amp; TTS </a:t>
            </a:r>
            <a:r>
              <a:rPr dirty="0" err="1"/>
              <a:t>mượt</a:t>
            </a:r>
            <a:r>
              <a:rPr dirty="0"/>
              <a:t> </a:t>
            </a:r>
            <a:r>
              <a:rPr dirty="0" err="1"/>
              <a:t>mà</a:t>
            </a:r>
            <a:r>
              <a:rPr dirty="0"/>
              <a:t>, </a:t>
            </a:r>
            <a:r>
              <a:rPr dirty="0" err="1"/>
              <a:t>không</a:t>
            </a:r>
            <a:r>
              <a:rPr dirty="0"/>
              <a:t> </a:t>
            </a:r>
            <a:r>
              <a:rPr dirty="0" err="1"/>
              <a:t>rời</a:t>
            </a:r>
            <a:r>
              <a:rPr dirty="0"/>
              <a:t> </a:t>
            </a:r>
            <a:r>
              <a:rPr dirty="0" err="1"/>
              <a:t>rạc</a:t>
            </a:r>
            <a:endParaRPr dirty="0"/>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520741"/>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fontScale="92500" lnSpcReduction="20000"/>
          </a:bodyPr>
          <a:lstStyle/>
          <a:p>
            <a:pPr algn="ctr">
              <a:lnSpc>
                <a:spcPct val="150000"/>
              </a:lnSpc>
              <a:buNone/>
              <a:defRPr sz="950" b="1">
                <a:solidFill>
                  <a:srgbClr val="111410"/>
                </a:solidFill>
                <a:latin typeface="Montserrat"/>
                <a:ea typeface="Montserrat"/>
                <a:cs typeface="Montserrat"/>
              </a:defRPr>
            </a:pPr>
            <a:r>
              <a:rPr dirty="0"/>
              <a:t>Faster-Whisper </a:t>
            </a:r>
            <a:r>
              <a:rPr dirty="0" err="1"/>
              <a:t>tuần</a:t>
            </a:r>
            <a:r>
              <a:rPr dirty="0"/>
              <a:t> </a:t>
            </a:r>
            <a:r>
              <a:rPr dirty="0" err="1"/>
              <a:t>tự</a:t>
            </a:r>
            <a:endParaRPr sz="825" b="1" dirty="0">
              <a:solidFill>
                <a:srgbClr val="111410"/>
              </a:solidFill>
              <a:latin typeface="Montserrat"/>
              <a:ea typeface="Montserrat"/>
              <a:cs typeface="Montserrat"/>
            </a:endParaRPr>
          </a:p>
          <a:p>
            <a:pPr algn="ctr">
              <a:lnSpc>
                <a:spcPct val="150000"/>
              </a:lnSpc>
              <a:defRPr sz="800">
                <a:solidFill>
                  <a:srgbClr val="526052"/>
                </a:solidFill>
                <a:latin typeface="Montserrat"/>
              </a:defRPr>
            </a:pPr>
            <a:r>
              <a:rPr dirty="0"/>
              <a:t>STT </a:t>
            </a:r>
            <a:r>
              <a:rPr dirty="0" err="1"/>
              <a:t>chính</a:t>
            </a:r>
            <a:r>
              <a:rPr dirty="0"/>
              <a:t> </a:t>
            </a:r>
            <a:r>
              <a:rPr dirty="0" err="1"/>
              <a:t>xác</a:t>
            </a:r>
            <a:r>
              <a:rPr dirty="0"/>
              <a:t> </a:t>
            </a:r>
            <a:r>
              <a:rPr dirty="0" err="1"/>
              <a:t>cao</a:t>
            </a:r>
            <a:r>
              <a:rPr dirty="0"/>
              <a:t> + </a:t>
            </a:r>
            <a:r>
              <a:rPr dirty="0" err="1"/>
              <a:t>Thuật</a:t>
            </a:r>
            <a:r>
              <a:rPr dirty="0"/>
              <a:t> </a:t>
            </a:r>
            <a:r>
              <a:rPr dirty="0" err="1"/>
              <a:t>toán</a:t>
            </a:r>
            <a:r>
              <a:rPr dirty="0"/>
              <a:t>: </a:t>
            </a:r>
            <a:r>
              <a:rPr dirty="0" err="1"/>
              <a:t>nhịp</a:t>
            </a:r>
            <a:r>
              <a:rPr dirty="0"/>
              <a:t> </a:t>
            </a:r>
            <a:r>
              <a:rPr dirty="0" err="1"/>
              <a:t>độ</a:t>
            </a:r>
            <a:r>
              <a:rPr dirty="0"/>
              <a:t>, </a:t>
            </a:r>
            <a:r>
              <a:rPr dirty="0" err="1"/>
              <a:t>tốc</a:t>
            </a:r>
            <a:r>
              <a:rPr dirty="0"/>
              <a:t> </a:t>
            </a:r>
            <a:r>
              <a:rPr dirty="0" err="1"/>
              <a:t>độ</a:t>
            </a:r>
            <a:r>
              <a:rPr dirty="0"/>
              <a:t> (WPM), </a:t>
            </a:r>
            <a:r>
              <a:rPr dirty="0" err="1"/>
              <a:t>khoảng</a:t>
            </a:r>
            <a:r>
              <a:rPr dirty="0"/>
              <a:t> </a:t>
            </a:r>
            <a:r>
              <a:rPr dirty="0" err="1"/>
              <a:t>lặng</a:t>
            </a:r>
            <a:endParaRPr dirty="0"/>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520741"/>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lnSpc>
                <a:spcPct val="150000"/>
              </a:lnSpc>
              <a:buNone/>
              <a:defRPr sz="900" b="1">
                <a:solidFill>
                  <a:srgbClr val="111410"/>
                </a:solidFill>
                <a:latin typeface="Montserrat"/>
                <a:ea typeface="Montserrat"/>
                <a:cs typeface="Montserrat"/>
              </a:defRPr>
            </a:pPr>
            <a:r>
              <a:rPr dirty="0" err="1"/>
              <a:t>SenseVoice</a:t>
            </a:r>
            <a:r>
              <a:rPr dirty="0"/>
              <a:t> (Observation only)</a:t>
            </a:r>
          </a:p>
          <a:p>
            <a:pPr algn="ctr">
              <a:lnSpc>
                <a:spcPct val="150000"/>
              </a:lnSpc>
              <a:defRPr sz="800">
                <a:solidFill>
                  <a:srgbClr val="526052"/>
                </a:solidFill>
                <a:latin typeface="Montserrat"/>
              </a:defRPr>
            </a:pPr>
            <a:r>
              <a:rPr lang="vi-VN" dirty="0"/>
              <a:t>LID/SER/AED</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520741"/>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Đánh</a:t>
            </a:r>
            <a:r>
              <a:rPr dirty="0"/>
              <a:t> </a:t>
            </a:r>
            <a:r>
              <a:rPr dirty="0" err="1"/>
              <a:t>giá</a:t>
            </a:r>
            <a:r>
              <a:rPr dirty="0"/>
              <a:t> </a:t>
            </a:r>
            <a:r>
              <a:rPr dirty="0" err="1"/>
              <a:t>phong</a:t>
            </a:r>
            <a:r>
              <a:rPr dirty="0"/>
              <a:t> </a:t>
            </a:r>
            <a:r>
              <a:rPr dirty="0" err="1"/>
              <a:t>thái</a:t>
            </a:r>
            <a:endParaRPr dirty="0"/>
          </a:p>
          <a:p>
            <a:pPr algn="ctr">
              <a:lnSpc>
                <a:spcPct val="150000"/>
              </a:lnSpc>
              <a:defRPr sz="800">
                <a:solidFill>
                  <a:srgbClr val="4B8D17"/>
                </a:solidFill>
                <a:latin typeface="Montserrat"/>
              </a:defRPr>
            </a:pPr>
            <a:r>
              <a:rPr dirty="0" err="1"/>
              <a:t>Mức</a:t>
            </a:r>
            <a:r>
              <a:rPr dirty="0"/>
              <a:t> </a:t>
            </a:r>
            <a:r>
              <a:rPr dirty="0" err="1"/>
              <a:t>độ</a:t>
            </a:r>
            <a:r>
              <a:rPr dirty="0"/>
              <a:t> </a:t>
            </a:r>
            <a:r>
              <a:rPr dirty="0" err="1"/>
              <a:t>tự</a:t>
            </a:r>
            <a:r>
              <a:rPr dirty="0"/>
              <a:t> tin, </a:t>
            </a:r>
            <a:r>
              <a:rPr dirty="0" err="1"/>
              <a:t>lưu</a:t>
            </a:r>
            <a:r>
              <a:rPr dirty="0"/>
              <a:t> </a:t>
            </a:r>
            <a:r>
              <a:rPr dirty="0" err="1"/>
              <a:t>loát</a:t>
            </a:r>
            <a:r>
              <a:rPr dirty="0"/>
              <a:t>, </a:t>
            </a:r>
            <a:r>
              <a:rPr dirty="0" err="1"/>
              <a:t>nhịp</a:t>
            </a:r>
            <a:r>
              <a:rPr dirty="0"/>
              <a:t> </a:t>
            </a:r>
            <a:r>
              <a:rPr dirty="0" err="1"/>
              <a:t>điệu</a:t>
            </a:r>
            <a:r>
              <a:rPr dirty="0"/>
              <a:t> </a:t>
            </a:r>
            <a:r>
              <a:rPr dirty="0" err="1"/>
              <a:t>diễn</a:t>
            </a:r>
            <a:r>
              <a:rPr dirty="0"/>
              <a:t> </a:t>
            </a:r>
            <a:r>
              <a:rPr dirty="0" err="1"/>
              <a:t>đạt</a:t>
            </a:r>
            <a:r>
              <a:rPr dirty="0"/>
              <a:t> </a:t>
            </a:r>
            <a:r>
              <a:rPr dirty="0" err="1"/>
              <a:t>hỗ</a:t>
            </a:r>
            <a:r>
              <a:rPr dirty="0"/>
              <a:t> </a:t>
            </a:r>
            <a:r>
              <a:rPr dirty="0" err="1"/>
              <a:t>trợ</a:t>
            </a:r>
            <a:r>
              <a:rPr dirty="0"/>
              <a:t> coaching</a:t>
            </a:r>
          </a:p>
        </p:txBody>
      </p:sp>
      <p:cxnSp>
        <p:nvCxnSpPr>
          <p:cNvPr id="693" name="Straight Arrow Connector 624"/>
          <p:cNvCxnSpPr>
            <a:stCxn id="585" idx="3"/>
            <a:endCxn id="586" idx="1"/>
          </p:cNvCxnSpPr>
          <p:nvPr/>
        </p:nvCxnSpPr>
        <p:spPr>
          <a:xfrm>
            <a:off x="2809875" y="2425366"/>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425366"/>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2809875" y="3930316"/>
            <a:ext cx="857250" cy="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853991"/>
            <a:ext cx="0" cy="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930316"/>
            <a:ext cx="857250" cy="0"/>
          </a:xfrm>
          <a:prstGeom prst="straightConnector1">
            <a:avLst/>
          </a:prstGeom>
          <a:ln w="16193">
            <a:solidFill>
              <a:srgbClr val="4B8D17"/>
            </a:solidFill>
            <a:prstDash val="dash"/>
            <a:tailEnd type="triangle" w="sm" len="sm"/>
          </a:ln>
        </p:spPr>
      </p:cxn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dirty="0">
                <a:solidFill>
                  <a:srgbClr val="111410"/>
                </a:solidFill>
                <a:latin typeface="Cambria"/>
                <a:ea typeface="Cambria"/>
                <a:cs typeface="Cambria"/>
              </a:rPr>
              <a:t>RBAC </a:t>
            </a:r>
            <a:r>
              <a:rPr sz="2700" b="1" dirty="0" err="1">
                <a:solidFill>
                  <a:srgbClr val="111410"/>
                </a:solidFill>
                <a:latin typeface="Cambria"/>
                <a:ea typeface="Cambria"/>
                <a:cs typeface="Cambria"/>
              </a:rPr>
              <a:t>giữ</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quyền</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quyết</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định</a:t>
            </a:r>
            <a:r>
              <a:rPr sz="2700" b="1" dirty="0">
                <a:solidFill>
                  <a:srgbClr val="111410"/>
                </a:solidFill>
                <a:latin typeface="Cambria"/>
                <a:ea typeface="Cambria"/>
                <a:cs typeface="Cambria"/>
              </a:rPr>
              <a:t> ở </a:t>
            </a:r>
            <a:r>
              <a:rPr sz="2700" b="1" dirty="0" err="1">
                <a:solidFill>
                  <a:srgbClr val="111410"/>
                </a:solidFill>
                <a:latin typeface="Cambria"/>
                <a:ea typeface="Cambria"/>
                <a:cs typeface="Cambria"/>
              </a:rPr>
              <a:t>đúng</a:t>
            </a:r>
            <a:r>
              <a:rPr sz="2700" b="1" dirty="0">
                <a:solidFill>
                  <a:srgbClr val="111410"/>
                </a:solidFill>
                <a:latin typeface="Cambria"/>
                <a:ea typeface="Cambria"/>
                <a:cs typeface="Cambria"/>
              </a:rPr>
              <a:t> actor</a:t>
            </a:r>
            <a:endParaRPr dirty="0"/>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87678"/>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568" name="Google Shape;1568;p123">
            <a:extLst>
              <a:ext uri="{FF2B5EF4-FFF2-40B4-BE49-F238E27FC236}">
                <a16:creationId xmlns:a16="http://schemas.microsoft.com/office/drawing/2014/main" id="{DBD0216F-CDFA-47B9-84FB-51A2B45D2449}"/>
              </a:ext>
            </a:extLst>
          </p:cNvPr>
          <p:cNvSpPr>
            <a:spLocks noGrp="1"/>
          </p:cNvSpPr>
          <p:nvPr>
            <p:ph type="title"/>
          </p:nvPr>
        </p:nvSpPr>
        <p:spPr>
          <a:xfrm>
            <a:off x="2286000" y="1200150"/>
            <a:ext cx="4572000" cy="74295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Cảm ơn Hội đồng</a:t>
            </a:r>
            <a:endParaRPr/>
          </a:p>
        </p:txBody>
      </p:sp>
      <p:sp>
        <p:nvSpPr>
          <p:cNvPr id="1569" name="Google Shape;1569;p123">
            <a:extLst>
              <a:ext uri="{FF2B5EF4-FFF2-40B4-BE49-F238E27FC236}">
                <a16:creationId xmlns:a16="http://schemas.microsoft.com/office/drawing/2014/main" id="{658C6DB3-B8B9-4F37-A102-C974A9734432}"/>
              </a:ext>
            </a:extLst>
          </p:cNvPr>
          <p:cNvSpPr>
            <a:spLocks noGrp="1"/>
          </p:cNvSpPr>
          <p:nvPr>
            <p:ph type="subTitle" idx="1"/>
          </p:nvPr>
        </p:nvSpPr>
        <p:spPr>
          <a:xfrm>
            <a:off x="2381250" y="1892400"/>
            <a:ext cx="4381500" cy="53340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1275" b="0">
                <a:solidFill>
                  <a:srgbClr val="526052"/>
                </a:solidFill>
                <a:latin typeface="Montserrat"/>
                <a:ea typeface="Montserrat"/>
                <a:cs typeface="Montserrat"/>
              </a:defRPr>
            </a:pPr>
            <a:r>
              <a:rPr sz="1275" b="0" dirty="0">
                <a:solidFill>
                  <a:srgbClr val="526052"/>
                </a:solidFill>
                <a:latin typeface="Montserrat"/>
                <a:ea typeface="Montserrat"/>
                <a:cs typeface="Montserrat"/>
              </a:rPr>
              <a:t>Em </a:t>
            </a:r>
            <a:r>
              <a:rPr sz="1275" b="0" dirty="0" err="1">
                <a:solidFill>
                  <a:srgbClr val="526052"/>
                </a:solidFill>
                <a:latin typeface="Montserrat"/>
                <a:ea typeface="Montserrat"/>
                <a:cs typeface="Montserrat"/>
              </a:rPr>
              <a:t>xin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tiếp</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nhận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câu</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hỏi</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và</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góp</a:t>
            </a:r>
            <a:r>
              <a:rPr sz="1275" b="0" dirty="0">
                <a:solidFill>
                  <a:srgbClr val="526052"/>
                </a:solidFill>
                <a:latin typeface="Montserrat"/>
                <a:ea typeface="Montserrat"/>
                <a:cs typeface="Montserrat"/>
              </a:rPr>
              <a:t> ý.</a:t>
            </a:r>
            <a:endParaRPr dirty="0"/>
          </a:p>
        </p:txBody>
      </p:sp>
      <p:sp>
        <p:nvSpPr>
          <p:cNvPr id="1570" name="Rectangle: Rounded Corners 1569">
            <a:extLst>
              <a:ext uri="{FF2B5EF4-FFF2-40B4-BE49-F238E27FC236}">
                <a16:creationId xmlns:a16="http://schemas.microsoft.com/office/drawing/2014/main" id="{7B744195-86F5-423D-B69D-732D1FD21A1F}"/>
              </a:ext>
            </a:extLst>
          </p:cNvPr>
          <p:cNvSpPr>
            <a:spLocks noGrp="1"/>
          </p:cNvSpPr>
          <p:nvPr/>
        </p:nvSpPr>
        <p:spPr>
          <a:xfrm>
            <a:off x="3143250" y="2521765"/>
            <a:ext cx="2857500" cy="895350"/>
          </a:xfrm>
          <a:prstGeom prst="roundRect">
            <a:avLst>
              <a:gd name="adj" fmla="val 50000"/>
            </a:avLst>
          </a:prstGeom>
          <a:solidFill>
            <a:srgbClr val="DFF0D6"/>
          </a:solidFill>
          <a:ln w="17145">
            <a:solidFill>
              <a:srgbClr val="4B8D17"/>
            </a:solidFill>
            <a:prstDash val="solid"/>
          </a:ln>
        </p:spPr>
        <p:txBody>
          <a:bodyPr anchor="ctr"/>
          <a:lstStyle/>
          <a:p>
            <a:pPr algn="ctr">
              <a:defRPr sz="2550" b="1">
                <a:solidFill>
                  <a:srgbClr val="4B8D17"/>
                </a:solidFill>
                <a:latin typeface="Cambria"/>
                <a:ea typeface="Cambria"/>
                <a:cs typeface="Cambria"/>
              </a:defRPr>
            </a:pPr>
            <a:r>
              <a:rPr sz="2550" b="1">
                <a:solidFill>
                  <a:srgbClr val="4B8D17"/>
                </a:solidFill>
                <a:latin typeface="Cambria"/>
                <a:ea typeface="Cambria"/>
                <a:cs typeface="Cambria"/>
              </a:rPr>
              <a:t>Q&amp;A</a:t>
            </a:r>
          </a:p>
        </p:txBody>
      </p:sp>
      <p:sp>
        <p:nvSpPr>
          <p:cNvPr id="1571" name="Rectangle 1570">
            <a:extLst>
              <a:ext uri="{FF2B5EF4-FFF2-40B4-BE49-F238E27FC236}">
                <a16:creationId xmlns:a16="http://schemas.microsoft.com/office/drawing/2014/main" id="{E1860632-87FC-4C1C-9B59-F77B060C67ED}"/>
              </a:ext>
            </a:extLst>
          </p:cNvPr>
          <p:cNvSpPr>
            <a:spLocks noGrp="1"/>
          </p:cNvSpPr>
          <p:nvPr/>
        </p:nvSpPr>
        <p:spPr>
          <a:xfrm>
            <a:off x="2857500" y="3683815"/>
            <a:ext cx="3429000" cy="266700"/>
          </a:xfrm>
          <a:prstGeom prst="rect">
            <a:avLst/>
          </a:prstGeom>
          <a:ln w="0">
            <a:prstDash val="solid"/>
          </a:ln>
        </p:spPr>
        <p:txBody>
          <a:bodyPr lIns="19050" tIns="19050" rIns="19050" bIns="19050" anchor="ctr">
            <a:normAutofit/>
          </a:bodyPr>
          <a:lstStyle/>
          <a:p>
            <a:pPr algn="ctr">
              <a:defRPr sz="825" b="0">
                <a:solidFill>
                  <a:srgbClr val="526052"/>
                </a:solidFill>
                <a:latin typeface="Montserrat"/>
                <a:ea typeface="Montserrat"/>
                <a:cs typeface="Montserrat"/>
              </a:defRPr>
            </a:pPr>
            <a:r>
              <a:rPr sz="825" b="0" dirty="0" err="1">
                <a:solidFill>
                  <a:srgbClr val="526052"/>
                </a:solidFill>
                <a:latin typeface="Montserrat"/>
                <a:ea typeface="Montserrat"/>
                <a:cs typeface="Montserrat"/>
              </a:rPr>
              <a:t>InterV</a:t>
            </a:r>
            <a:r>
              <a:rPr sz="825" b="0" dirty="0">
                <a:solidFill>
                  <a:srgbClr val="526052"/>
                </a:solidFill>
                <a:latin typeface="Montserrat"/>
                <a:ea typeface="Montserrat"/>
                <a:cs typeface="Montserrat"/>
              </a:rPr>
              <a:t> • Lê Minh Duy</a:t>
            </a:r>
            <a:r>
              <a:rPr lang="vi-VN" sz="825" b="0" dirty="0">
                <a:solidFill>
                  <a:srgbClr val="526052"/>
                </a:solidFill>
                <a:latin typeface="Montserrat"/>
                <a:ea typeface="Montserrat"/>
                <a:cs typeface="Montserrat"/>
              </a:rPr>
              <a:t> • @leemjnnkdzuy</a:t>
            </a:r>
            <a:endParaRPr sz="825" b="0" dirty="0">
              <a:solidFill>
                <a:srgbClr val="526052"/>
              </a:solidFill>
              <a:latin typeface="Montserrat"/>
              <a:ea typeface="Montserrat"/>
              <a:cs typeface="Montserrat"/>
            </a:endParaRPr>
          </a:p>
        </p:txBody>
      </p:sp>
    </p:spTree>
    <p:extLst>
      <p:ext uri="{BB962C8B-B14F-4D97-AF65-F5344CB8AC3E}">
        <p14:creationId xmlns:p14="http://schemas.microsoft.com/office/powerpoint/2010/main" val="1212792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4440</Words>
  <Application>Microsoft Office PowerPoint</Application>
  <DocSecurity>0</DocSecurity>
  <PresentationFormat>On-screen Show (16:9)</PresentationFormat>
  <Paragraphs>617</Paragraphs>
  <Slides>32</Slides>
  <Notes>32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Open Sans SemiBold</vt:lpstr>
      <vt:lpstr>Merriweather Light</vt:lpstr>
      <vt:lpstr>Open Sans</vt:lpstr>
      <vt:lpstr>Russo One</vt:lpstr>
      <vt:lpstr>Montserrat</vt:lpstr>
      <vt:lpstr>Arial</vt:lpstr>
      <vt:lpstr>Mako</vt:lpstr>
      <vt:lpstr>Proxima Nova</vt:lpstr>
      <vt:lpstr>Cambria</vt:lpstr>
      <vt:lpstr>Proxima Nova Semibold</vt:lpstr>
      <vt:lpstr>Crimson Text</vt:lpstr>
      <vt:lpstr>Josefin Sans</vt:lpstr>
      <vt:lpstr>Lato</vt:lpstr>
      <vt:lpstr>Minimalist Business Slides XL by Slidesgo</vt:lpstr>
      <vt:lpstr>Slidesgo Final Pages</vt:lpstr>
      <vt:lpstr>Slidesgo Final Pages</vt:lpstr>
      <vt:lpstr>NGHIÊN CỨU THIẾT KẾ VÀ PHÁT TRIỂN KIẾN TRÚC HỆ THỐNG PHỎNG VẤN NĂNG LỰC TỰ ĐỘNG TÍCH HỢP XỬ LÝ GIỌNG NÓI ĐA TẦNG, TRUY XUẤT TRI THỨC TĂNG CƯỜNG (RAG) VÀ MÔ HÌNH NGÔN NGỮ LỚN</vt:lpstr>
      <vt:lpstr>Lộ trình trình bày</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 tách rõ “chạy đúng” và “đo lường có hiệu lực”</vt:lpstr>
      <vt:lpstr>Lý thuyết được chuyển thành cơ chế phần mềm</vt:lpstr>
      <vt:lpstr>Kiến trúc InterV: các biên trách nhiệm có hợp đồng</vt:lpstr>
      <vt:lpstr>Mô hình dữ liệu giữ ownership và provenance</vt:lpstr>
      <vt:lpstr>PowerPoint Presentation</vt:lpstr>
      <vt:lpstr>PowerPoint Presentation</vt:lpstr>
      <vt:lpstr>PowerPoint Presentation</vt:lpstr>
      <vt:lpstr>Vòng đời tài liệu RAG có provenance</vt:lpstr>
      <vt:lpstr>Pipeline tiếng nói nhiều tầng: Realtime &amp; Hậu kỳ phỏng vấn</vt:lpstr>
      <vt:lpstr>An toàn, quan sát và khả năng phục hồi</vt:lpstr>
      <vt:lpstr>Hợp đồng typed giữ TypeScript ↔ Python nhất quán</vt:lpstr>
      <vt:lpstr>Phân rã module theo ranh giới nghiệp vụ</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PowerPoint Presentation</vt:lpstr>
      <vt:lpstr>Xác minh kỹ thuật đạt; hiệu lực tuyển dụng chưa được chứng minh</vt:lpstr>
      <vt:lpstr>DeepSeek/RAG được kiểm soát ở ba điểm</vt:lpstr>
      <vt:lpstr>Bất biến an toàn của SenseVoice</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11</cp:revision>
  <dcterms:created xsi:type="dcterms:W3CDTF">2026-08-14T17:29:12Z</dcterms:created>
  <dcterms:modified xsi:type="dcterms:W3CDTF">2026-08-24T20:34:04Z</dcterms:modified>
</cp:coreProperties>
</file>