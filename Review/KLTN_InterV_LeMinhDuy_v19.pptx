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5143500" type="screen16x9"/>
  <p:notesSz cx="6858000" cy="9144000"/>
  <p:embeddedFontLst>
    <p:embeddedFont>
      <p:font typeface="Cambria" panose="02040503050406030204" pitchFamily="18" charset="0"/>
      <p:regular r:id="rId37"/>
      <p:bold r:id="rId38"/>
      <p:italic r:id="rId39"/>
      <p:boldItalic r:id="rId40"/>
    </p:embeddedFont>
    <p:embeddedFont>
      <p:font typeface="Crimson Text" panose="020B0604020202020204" charset="0"/>
      <p:regular r:id="rId41"/>
      <p:bold r:id="rId42"/>
      <p:italic r:id="rId43"/>
      <p:boldItalic r:id="rId44"/>
    </p:embeddedFont>
    <p:embeddedFont>
      <p:font typeface="Josefin Sans" pitchFamily="2" charset="0"/>
      <p:regular r:id="rId45"/>
      <p:bold r:id="rId46"/>
    </p:embeddedFont>
    <p:embeddedFont>
      <p:font typeface="Lato" panose="020F0502020204030203" pitchFamily="34" charset="0"/>
      <p:regular r:id="rId47"/>
      <p:bold r:id="rId48"/>
      <p:italic r:id="rId49"/>
      <p:boldItalic r:id="rId50"/>
    </p:embeddedFont>
    <p:embeddedFont>
      <p:font typeface="Mako" panose="020B0604020202020204" charset="0"/>
      <p:regular r:id="rId51"/>
    </p:embeddedFont>
    <p:embeddedFont>
      <p:font typeface="Merriweather Light" panose="00000400000000000000" pitchFamily="2" charset="0"/>
      <p:regular r:id="rId52"/>
      <p:bold r:id="rId53"/>
      <p:italic r:id="rId54"/>
      <p:boldItalic r:id="rId55"/>
    </p:embeddedFont>
    <p:embeddedFont>
      <p:font typeface="Montserrat"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Open Sans SemiBold" panose="020B0706030804020204" pitchFamily="34"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Proxima Nova Semibold" panose="020B0604020202020204" charset="0"/>
      <p:regular r:id="rId72"/>
      <p:bold r:id="rId73"/>
      <p:boldItalic r:id="rId74"/>
    </p:embeddedFont>
    <p:embeddedFont>
      <p:font typeface="Russo One" panose="020B0604020202020204" charset="0"/>
      <p:regular r:id="rId75"/>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80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font" Target="fonts/font6.fntdata"/><Relationship Id="rId47" Type="http://schemas.openxmlformats.org/officeDocument/2006/relationships/font" Target="fonts/font11.fntdata"/><Relationship Id="rId63" Type="http://schemas.openxmlformats.org/officeDocument/2006/relationships/font" Target="fonts/font27.fntdata"/><Relationship Id="rId68" Type="http://schemas.openxmlformats.org/officeDocument/2006/relationships/font" Target="fonts/font32.fntdata"/><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66" Type="http://schemas.openxmlformats.org/officeDocument/2006/relationships/font" Target="fonts/font30.fntdata"/><Relationship Id="rId74" Type="http://schemas.openxmlformats.org/officeDocument/2006/relationships/font" Target="fonts/font38.fntdata"/><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2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64" Type="http://schemas.openxmlformats.org/officeDocument/2006/relationships/font" Target="fonts/font28.fntdata"/><Relationship Id="rId69" Type="http://schemas.openxmlformats.org/officeDocument/2006/relationships/font" Target="fonts/font33.fntdata"/><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font" Target="fonts/font15.fntdata"/><Relationship Id="rId72" Type="http://schemas.openxmlformats.org/officeDocument/2006/relationships/font" Target="fonts/font36.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 Id="rId67" Type="http://schemas.openxmlformats.org/officeDocument/2006/relationships/font" Target="fonts/font31.fntdata"/><Relationship Id="rId20" Type="http://schemas.openxmlformats.org/officeDocument/2006/relationships/slide" Target="slides/slide17.xml"/><Relationship Id="rId41" Type="http://schemas.openxmlformats.org/officeDocument/2006/relationships/font" Target="fonts/font5.fntdata"/><Relationship Id="rId54" Type="http://schemas.openxmlformats.org/officeDocument/2006/relationships/font" Target="fonts/font18.fntdata"/><Relationship Id="rId62" Type="http://schemas.openxmlformats.org/officeDocument/2006/relationships/font" Target="fonts/font26.fntdata"/><Relationship Id="rId70" Type="http://schemas.openxmlformats.org/officeDocument/2006/relationships/font" Target="fonts/font34.fntdata"/><Relationship Id="rId75" Type="http://schemas.openxmlformats.org/officeDocument/2006/relationships/font" Target="fonts/font39.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font" Target="fonts/font2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font" Target="fonts/font24.fntdata"/><Relationship Id="rId65" Type="http://schemas.openxmlformats.org/officeDocument/2006/relationships/font" Target="fonts/font29.fntdata"/><Relationship Id="rId73" Type="http://schemas.openxmlformats.org/officeDocument/2006/relationships/font" Target="fonts/font37.fntdata"/><Relationship Id="rId78"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font" Target="fonts/font3.fntdata"/><Relationship Id="rId34" Type="http://schemas.openxmlformats.org/officeDocument/2006/relationships/slide" Target="slides/slide31.xml"/><Relationship Id="rId50" Type="http://schemas.openxmlformats.org/officeDocument/2006/relationships/font" Target="fonts/font14.fntdata"/><Relationship Id="rId55" Type="http://schemas.openxmlformats.org/officeDocument/2006/relationships/font" Target="fonts/font19.fntdata"/><Relationship Id="rId7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font" Target="fonts/font35.fntdata"/><Relationship Id="rId2" Type="http://schemas.openxmlformats.org/officeDocument/2006/relationships/slideMaster" Target="slideMasters/slideMaster2.xml"/><Relationship Id="rId2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endParaRPr/>
          </a:p>
          <a:p>
            <a:r>
              <a:t>Lời nói:</a:t>
            </a:r>
          </a:p>
          <a:p>
            <a:r>
              <a:t>"Kính thưa quý Thầy Cô trong Hội đồng. Em tên là Lê Minh Duy, sinh viên thực hiện khóa luận tốt nghiệp: 'Xây dựng hệ thống phỏng vấn và luyện tập phỏng vấn tích hợp Trí tuệ Nhân tạo - InterV', dưới sự hướng dẫn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endParaRPr/>
          </a:p>
          <a:p>
            <a:r>
              <a:t>Lời nói:</a:t>
            </a:r>
          </a:p>
          <a:p>
            <a:r>
              <a:t>"Nội dung trình bày gồm 6 phần chính.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[00:50 - 01:15] SLIDE 3: BÀI TOÁN &amp; THỰC TRẠNG</a:t>
            </a:r>
          </a:p>
          <a:p>
            <a:endParaRPr/>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4: BA NHÓM NGƯỜI DÙNG &amp; RANH GIỚI TRÁCH NHIỆM</a:t>
            </a:r>
          </a:p>
          <a:p>
            <a:endParaRPr/>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[01:30 - 01:45] SLIDE 5: MỤC TIÊU NGHIÊN CỨU</a:t>
            </a:r>
          </a:p>
          <a:p>
            <a:endParaRPr/>
          </a:p>
          <a:p>
            <a:r>
              <a:t>Lời nói:</a:t>
            </a:r>
          </a:p>
          <a:p>
            <a:r>
              <a:t>"Sáu mục tiêu thiết kế: Tách 2 chế độ, Grounded LLM, Speech an toàn dạng Coaching, Quản trị Provenance, Xác minh kỹ thuật toàn diện, và Không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6: BỐN NGUYÊN TẮC KHÓA PHẠM VI</a:t>
            </a:r>
          </a:p>
          <a:p>
            <a:endParaRPr/>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[02:00 - 02:15] SLIDE 7: PHƯƠNG PHÁP NGHIÊN CỨU</a:t>
            </a:r>
          </a:p>
          <a:p>
            <a:endParaRPr/>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[02:15 - 02:30] SLIDE 8: ÁNH XẠ LÝ THUYẾT VÀO HỆ THỐNG</a:t>
            </a:r>
          </a:p>
          <a:p>
            <a:endParaRPr/>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[02:30 - 03:00] SLIDE 9: KIẾN TRÚC TỔNG THỂ 2 TẦNG</a:t>
            </a:r>
          </a:p>
          <a:p>
            <a:endParaRPr/>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[03:00 - 03:15] SLIDE 10: MÔ HÌNH DỮ LIỆU &amp; PROVENANCE</a:t>
            </a:r>
          </a:p>
          <a:p>
            <a:endParaRPr/>
          </a:p>
          <a:p>
            <a:r>
              <a:t>Lời nói:</a:t>
            </a:r>
          </a:p>
          <a:p>
            <a:r>
              <a:t>"19 Mongoose models liên kết chặt chẽ theo vòng đời: User, Job, Invitation, Session, Run, Audio (BSON binary) và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[03:15 - 03:30] SLIDE 11: USE CASE THEO QUYỀN SỞ HỮU</a:t>
            </a:r>
          </a:p>
          <a:p>
            <a:endParaRPr/>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[03:30 - 05:30] SLIDE 12: LOOKAHEAD ADAPTIVE QUESTION ENGINE (TRỌNG TÂM)</a:t>
            </a:r>
          </a:p>
          <a:p>
            <a:endParaRPr/>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13: GROUNDED GENERATION &amp; CƠ CHẾ KIỂM SOÁT</a:t>
            </a:r>
          </a:p>
          <a:p>
            <a:endParaRPr/>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14: VÒNG ĐỜI TÀI LIỆU RAG &amp; HYBRID RETRIEVAL</a:t>
            </a:r>
          </a:p>
          <a:p>
            <a:endParaRPr/>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15: PIPELINE TIẾNG NÓI ĐA TẦNG &amp; FALLBACK</a:t>
            </a:r>
          </a:p>
          <a:p>
            <a:endParaRPr/>
          </a:p>
          <a:p>
            <a:r>
              <a:t>Lời nói:</a:t>
            </a:r>
          </a:p>
          <a:p>
            <a:r>
              <a:t>"★ PIPELINE SPEECH TOÀN DIỆN:</a:t>
            </a:r>
          </a:p>
          <a:p>
            <a:r>
              <a:t>1. Streaming STT: AudioWorklet PCM 16kHz -&gt; AssemblyAI WebSocket qua temporary token ngắn hạn.</a:t>
            </a:r>
          </a:p>
          <a:p>
            <a:r>
              <a:t>2. Local STT Fallback: Khi mạng lỗi hoặc transcript rỗng -&gt; Faster-Whisper cục bộ trên Python tự động kích hoạt.</a:t>
            </a:r>
          </a:p>
          <a:p>
            <a:r>
              <a:t>3. Multi-task Audio Analysis: SenseVoice bóc tách LID (ngôn ngữ), SER (cảm xúc), AED (sự kiện âm thanh).</a:t>
            </a:r>
          </a:p>
          <a:p>
            <a:r>
              <a:t>4. Edge/Vbee TTS: Tích hợp Pronunciation Library tự động phiên âm thuật ngữ IT (React, Figma, K8s, CI/CD) giúp phát âm tiếng Việt tự nhiên và chuẩn xác."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16: AN TOÀN, QUAN SÁT &amp; KHẢ NĂNG PHỤC HỒI</a:t>
            </a:r>
          </a:p>
          <a:p>
            <a:endParaRPr/>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17: HỢP ĐỒNG TYPED gRPC</a:t>
            </a:r>
          </a:p>
          <a:p>
            <a:endParaRPr/>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[10:45 - 11:00] SLIDE 18: PHÂN RÃ MODULE NGHIỆP VỤ</a:t>
            </a:r>
          </a:p>
          <a:p>
            <a:endParaRPr/>
          </a:p>
          <a:p>
            <a:r>
              <a:t>Lời nói:</a:t>
            </a:r>
          </a:p>
          <a:p>
            <a:r>
              <a:t>"Phân rã rõ ràng: Practice, Recruitment, RAG, Speech và Core BFF."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[11:00 - 11:15] SLIDE 19: MA TRẬN PHÂN QUYỀN RBAC</a:t>
            </a:r>
          </a:p>
          <a:p>
            <a:endParaRPr/>
          </a:p>
          <a:p>
            <a:r>
              <a:t>Lời nói:</a:t>
            </a:r>
          </a:p>
          <a:p>
            <a:r>
              <a:t>"Candidate, Recruiter, Admin. AI không có quyền ra quyết định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[11:15 - 11:35] SLIDE 20: STATE MACHINE PHIÊN LUYỆN TẬP</a:t>
            </a:r>
          </a:p>
          <a:p>
            <a:endParaRPr/>
          </a:p>
          <a:p>
            <a:r>
              <a:t>Lời nói:</a:t>
            </a:r>
          </a:p>
          <a:p>
            <a:r>
              <a:t>"Vòng đời nghiêm ngặt: Draft -&gt; Ready -&gt; Recording -&gt; Processing -&gt; Reviewed -&gt; Completed. Có cơ chế resume khi lỗi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[11:35 - 11:50] SLIDE 21: VÒNG ĐỜI TUYỂN DỤNG RECRUITER</a:t>
            </a:r>
          </a:p>
          <a:p>
            <a:endParaRPr/>
          </a:p>
          <a:p>
            <a:r>
              <a:t>Lời nói:</a:t>
            </a:r>
          </a:p>
          <a:p>
            <a:r>
              <a:t>"Job -&gt; Campaign -&gt; Invitation -&gt; Interview -&gt; Evidence -&gt; Human Final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[11:50 - 12:05] SLIDE 22: CƠ CHẾ FALLBACK TOÀN DIỆN</a:t>
            </a:r>
          </a:p>
          <a:p>
            <a:endParaRPr/>
          </a:p>
          <a:p>
            <a:r>
              <a:t>Lời nói:</a:t>
            </a:r>
          </a:p>
          <a:p>
            <a:r>
              <a:t>"Minh họa đường đi chính (Primary) và đường dự phòng (Fallback) của luồng âm thanh và tạo câu hỏi."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[12:05 - 12:30] SLIDE 23: STACK CÔNG NGHỆ</a:t>
            </a:r>
          </a:p>
          <a:p>
            <a:endParaRPr/>
          </a:p>
          <a:p>
            <a:r>
              <a:t>Lời nói:</a:t>
            </a:r>
          </a:p>
          <a:p>
            <a:r>
              <a:t>"Next.js 15, TypeScript, Tailwind v4, MongoDB ReplicaSet, Python 3.14 gRPC (16 RPCs), DeepSeek (V3/R1), Qdrant MPNet+BM25, AssemblyAI, Faster-Whisper, SenseVoice, PayOS."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[12:30 - 13:15] SLIDE 24: QUY MÔ HIỆN VẬT TRIỂN KHAI</a:t>
            </a:r>
          </a:p>
          <a:p>
            <a:endParaRPr/>
          </a:p>
          <a:p>
            <a:r>
              <a:t>Lời nói:</a:t>
            </a:r>
          </a:p>
          <a:p>
            <a:r>
              <a:t>"Con số thực tế từ repository:</a:t>
            </a:r>
          </a:p>
          <a:p>
            <a:r>
              <a:t>• Hơn 60.000 dòng mã logic (75.000+ tổng LOC).</a:t>
            </a:r>
          </a:p>
          <a:p>
            <a:r>
              <a:t>• 61 Route files / 74 HTTP method handlers.</a:t>
            </a:r>
          </a:p>
          <a:p>
            <a:r>
              <a:t>• 19 Mongoose models.</a:t>
            </a:r>
          </a:p>
          <a:p>
            <a:r>
              <a:t>• 16 gRPC RPCs.</a:t>
            </a:r>
          </a:p>
          <a:p>
            <a:r>
              <a:t>• 468 tệp văn bản, 38 trang frontend, 86 rule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[13:15 - 13:45] SLIDE 25: XÁC MINH KỸ THUẬT ĐẠT 100%</a:t>
            </a:r>
          </a:p>
          <a:p>
            <a:endParaRPr/>
          </a:p>
          <a:p>
            <a:r>
              <a:t>Lời nói:</a:t>
            </a:r>
          </a:p>
          <a:p>
            <a:r>
              <a:t>"Toàn bộ 51/51 Backend tests đạt 100% trong 3.28 giây. TypeScript strict type-check hoàn toàn sạch lỗi.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[13:45 - 14:00] SLIDE 26: BA ĐIỂM KIỂM SOÁT DEEPSEEK</a:t>
            </a:r>
          </a:p>
          <a:p>
            <a:endParaRPr/>
          </a:p>
          <a:p>
            <a:r>
              <a:t>Lời nói:</a:t>
            </a:r>
          </a:p>
          <a:p>
            <a:r>
              <a:t>"Kiểm soát Trước - Trong - Sau khi sinh. Quy tắc bất biến: Điểm &gt; 40 bắt buộc phải có Exact Answer Excerpt từ transcript của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[14:00 - 14:15] SLIDE 27: BẤT BIẾN AN TOÀN SENSEVOICE</a:t>
            </a:r>
          </a:p>
          <a:p>
            <a:endParaRPr/>
          </a:p>
          <a:p>
            <a:r>
              <a:t>Lời nói:</a:t>
            </a:r>
          </a:p>
          <a:p>
            <a:r>
              <a:t>"Observation-only (chỉ coaching), Neutral default 50 nếu thiếu tín hiệu, không chẩn đoán tâm lý, không 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[14:15 - 14:30] SLIDE 28: BỐN ĐÓNG GÓP CHÍNH</a:t>
            </a:r>
          </a:p>
          <a:p>
            <a:endParaRPr/>
          </a:p>
          <a:p>
            <a:r>
              <a:t>Lời nói:</a:t>
            </a:r>
          </a:p>
          <a:p>
            <a:r>
              <a:t>"1. Kiến trúc Lookahead thời gian thực 0ms latency.</a:t>
            </a:r>
          </a:p>
          <a:p>
            <a:r>
              <a:t>2. Grounded LLM 3 cổng triệt tiêu ảo giác.</a:t>
            </a:r>
          </a:p>
          <a:p>
            <a:r>
              <a:t>3. Pipeline Giọng nói đa tầng có fallback bền vững.</a:t>
            </a:r>
          </a:p>
          <a:p>
            <a:r>
              <a:t>4. Corpus tri thức chuẩn hóa 86 rules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[14:30 - 14:45] SLIDE 29: GIỚI HẠN NGHIÊN CỨU</a:t>
            </a:r>
          </a:p>
          <a:p>
            <a:endParaRPr/>
          </a:p>
          <a:p>
            <a:r>
              <a:t>Lời nói:</a:t>
            </a:r>
          </a:p>
          <a:p>
            <a:r>
              <a:t>"Đề tài trung thực xác nhận: Đạt tính nhất quán kỹ thuật vững chắc; cần thêm đánh giá chuyên gia SME và thử nghiệm thực địa trước khi mở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[14:45 - 14:50] SLIDE 30: BỐN CỔNG KIỂM SOÁT TRIỂN KHAI</a:t>
            </a:r>
          </a:p>
          <a:p>
            <a:endParaRPr/>
          </a:p>
          <a:p>
            <a:r>
              <a:t>Lời nói:</a:t>
            </a:r>
          </a:p>
          <a:p>
            <a:r>
              <a:t>"Lộ trình mở rộng qua 4 gates: Practice Hardening -&gt; Profile Pilot -&gt; Decision Support -&gt; Controlled Scale."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[14:50 - 14:55] SLIDE 31: KẾT LUẬN</a:t>
            </a:r>
          </a:p>
          <a:p>
            <a:endParaRPr/>
          </a:p>
          <a:p>
            <a:r>
              <a:t>Lời nói:</a:t>
            </a:r>
          </a:p>
          <a:p>
            <a:r>
              <a:t>"InterV đã đạt nền tảng kỹ thuật khả thi, an toàn và sẵn sàng cho nghiên cứu ứng dụng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[14:55 - 15:00] SLIDE 32: CẢM ƠN &amp; TIẾP NHẬN PHẢN BIỆN</a:t>
            </a:r>
          </a:p>
          <a:p>
            <a:endParaRPr/>
          </a:p>
          <a:p>
            <a:r>
              <a:t>Lời nói:</a:t>
            </a:r>
          </a:p>
          <a:p>
            <a:r>
              <a:t>"Em xin trân trọng cảm ơn Thầy ThS. Đặng Văn Lực và quý Thầy Cô trong Hội đồng đã lắng nghe. Em xin tiếp nhận các câu hỏi và góp ý từ Hội đồng!"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5.xml"/><Relationship Id="rId1"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545450"/>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rPr sz="2325" b="1">
                <a:solidFill>
                  <a:srgbClr val="111410"/>
                </a:solidFill>
                <a:latin typeface="Cambria"/>
                <a:ea typeface="Cambria"/>
                <a:cs typeface="Cambria"/>
              </a:rPr>
              <a:t>XÂY DỰNG HỆ THỐNG PHỎNG VẤN VÀ</a:t>
            </a:r>
            <a:br/>
            <a:r>
              <a:rPr sz="2325" b="1">
                <a:solidFill>
                  <a:srgbClr val="111410"/>
                </a:solidFill>
                <a:latin typeface="Cambria"/>
                <a:ea typeface="Cambria"/>
                <a:cs typeface="Cambria"/>
              </a:rPr>
              <a:t>LUYỆN TẬP PHỎNG VẤN TÍCH HỢP</a:t>
            </a:r>
            <a:br/>
            <a:r>
              <a:rPr sz="2325" b="1">
                <a:solidFill>
                  <a:srgbClr val="111410"/>
                </a:solidFill>
                <a:latin typeface="Cambria"/>
                <a:ea typeface="Cambria"/>
                <a:cs typeface="Cambria"/>
              </a:rPr>
              <a:t>TRÍ TUỆ NHÂN TẠO</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039643"/>
            <a:ext cx="7064100" cy="441900"/>
          </a:xfrm>
          <a:prstGeom prst="rect">
            <a:avLst/>
          </a:prstGeom>
        </p:spPr>
        <p:txBody>
          <a:bodyPr spcFirstLastPara="1" wrap="square" lIns="91425" tIns="91425" rIns="91425" bIns="91425" anchor="ctr">
            <a:normAutofit fontScale="91399" lnSpcReduction="10000"/>
          </a:bodyPr>
          <a:lstStyle/>
          <a:p>
            <a:pPr marL="0" lvl="0" indent="0" algn="ctr">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013" b="0" dirty="0">
                <a:solidFill>
                  <a:srgbClr val="526052"/>
                </a:solidFill>
                <a:latin typeface="Montserrat"/>
                <a:ea typeface="Montserrat"/>
                <a:cs typeface="Montserrat"/>
              </a:rPr>
              <a:t>Sinh </a:t>
            </a:r>
            <a:r>
              <a:rPr sz="1013" b="0" dirty="0" err="1">
                <a:solidFill>
                  <a:srgbClr val="526052"/>
                </a:solidFill>
                <a:latin typeface="Montserrat"/>
                <a:ea typeface="Montserrat"/>
                <a:cs typeface="Montserrat"/>
              </a:rPr>
              <a:t>viên</a:t>
            </a:r>
            <a:r>
              <a:rPr sz="1013" b="0" dirty="0">
                <a:solidFill>
                  <a:srgbClr val="526052"/>
                </a:solidFill>
                <a:latin typeface="Montserrat"/>
                <a:ea typeface="Montserrat"/>
                <a:cs typeface="Montserrat"/>
              </a:rPr>
              <a:t>: Lê Minh Duy — MSSV: 221A011220</a:t>
            </a:r>
            <a:endParaRPr dirty="0"/>
          </a:p>
          <a:p>
            <a:pPr marL="0" lvl="0" indent="0" algn="ctr">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013" b="0" dirty="0">
                <a:solidFill>
                  <a:srgbClr val="526052"/>
                </a:solidFill>
                <a:latin typeface="Montserrat"/>
                <a:ea typeface="Montserrat"/>
                <a:cs typeface="Montserrat"/>
              </a:rPr>
              <a:t>GVHD: </a:t>
            </a:r>
            <a:r>
              <a:rPr sz="1013" b="0" dirty="0" err="1">
                <a:solidFill>
                  <a:srgbClr val="526052"/>
                </a:solidFill>
                <a:latin typeface="Montserrat"/>
                <a:ea typeface="Montserrat"/>
                <a:cs typeface="Montserrat"/>
              </a:rPr>
              <a:t>ThS</a:t>
            </a:r>
            <a:r>
              <a:rPr sz="1013" b="0" dirty="0">
                <a:solidFill>
                  <a:srgbClr val="526052"/>
                </a:solidFill>
                <a:latin typeface="Montserrat"/>
                <a:ea typeface="Montserrat"/>
                <a:cs typeface="Montserrat"/>
              </a:rPr>
              <a:t>. </a:t>
            </a:r>
            <a:r>
              <a:rPr sz="1013" b="0" dirty="0" err="1">
                <a:solidFill>
                  <a:srgbClr val="526052"/>
                </a:solidFill>
                <a:latin typeface="Montserrat"/>
                <a:ea typeface="Montserrat"/>
                <a:cs typeface="Montserrat"/>
              </a:rPr>
              <a:t>Đặng</a:t>
            </a:r>
            <a:r>
              <a:rPr sz="1013" b="0" dirty="0">
                <a:solidFill>
                  <a:srgbClr val="526052"/>
                </a:solidFill>
                <a:latin typeface="Montserrat"/>
                <a:ea typeface="Montserrat"/>
                <a:cs typeface="Montserrat"/>
              </a:rPr>
              <a:t> Văn </a:t>
            </a:r>
            <a:r>
              <a:rPr sz="1013" b="0" dirty="0" err="1">
                <a:solidFill>
                  <a:srgbClr val="526052"/>
                </a:solidFill>
                <a:latin typeface="Montserrat"/>
                <a:ea typeface="Montserrat"/>
                <a:cs typeface="Montserrat"/>
              </a:rPr>
              <a:t>Lực</a:t>
            </a:r>
            <a:r>
              <a:rPr sz="1013" b="0" dirty="0">
                <a:solidFill>
                  <a:srgbClr val="526052"/>
                </a:solidFill>
                <a:latin typeface="Montserrat"/>
                <a:ea typeface="Montserrat"/>
                <a:cs typeface="Montserrat"/>
              </a:rPr>
              <a:t> • </a:t>
            </a:r>
            <a:r>
              <a:rPr sz="1013" b="0" dirty="0" err="1">
                <a:solidFill>
                  <a:srgbClr val="526052"/>
                </a:solidFill>
                <a:latin typeface="Montserrat"/>
                <a:ea typeface="Montserrat"/>
                <a:cs typeface="Montserrat"/>
              </a:rPr>
              <a:t>Trường</a:t>
            </a:r>
            <a:r>
              <a:rPr sz="1013" b="0" dirty="0">
                <a:solidFill>
                  <a:srgbClr val="526052"/>
                </a:solidFill>
                <a:latin typeface="Montserrat"/>
                <a:ea typeface="Montserrat"/>
                <a:cs typeface="Montserrat"/>
              </a:rPr>
              <a:t> </a:t>
            </a:r>
            <a:r>
              <a:rPr sz="1013" b="0" dirty="0" err="1">
                <a:solidFill>
                  <a:srgbClr val="526052"/>
                </a:solidFill>
                <a:latin typeface="Montserrat"/>
                <a:ea typeface="Montserrat"/>
                <a:cs typeface="Montserrat"/>
              </a:rPr>
              <a:t>Đại</a:t>
            </a:r>
            <a:r>
              <a:rPr sz="1013" b="0" dirty="0">
                <a:solidFill>
                  <a:srgbClr val="526052"/>
                </a:solidFill>
                <a:latin typeface="Montserrat"/>
                <a:ea typeface="Montserrat"/>
                <a:cs typeface="Montserrat"/>
              </a:rPr>
              <a:t> </a:t>
            </a:r>
            <a:r>
              <a:rPr sz="1013" b="0" dirty="0" err="1">
                <a:solidFill>
                  <a:srgbClr val="526052"/>
                </a:solidFill>
                <a:latin typeface="Montserrat"/>
                <a:ea typeface="Montserrat"/>
                <a:cs typeface="Montserrat"/>
              </a:rPr>
              <a:t>học</a:t>
            </a:r>
            <a:r>
              <a:rPr sz="1013" b="0" dirty="0">
                <a:solidFill>
                  <a:srgbClr val="526052"/>
                </a:solidFill>
                <a:latin typeface="Montserrat"/>
                <a:ea typeface="Montserrat"/>
                <a:cs typeface="Montserrat"/>
              </a:rPr>
              <a:t> Văn </a:t>
            </a:r>
            <a:r>
              <a:rPr sz="1013" b="0" dirty="0" err="1">
                <a:solidFill>
                  <a:srgbClr val="526052"/>
                </a:solidFill>
                <a:latin typeface="Montserrat"/>
                <a:ea typeface="Montserrat"/>
                <a:cs typeface="Montserrat"/>
              </a:rPr>
              <a:t>Hiến</a:t>
            </a:r>
            <a:r>
              <a:rPr sz="1013" b="0" dirty="0">
                <a:solidFill>
                  <a:srgbClr val="526052"/>
                </a:solidFill>
                <a:latin typeface="Montserrat"/>
                <a:ea typeface="Montserrat"/>
                <a:cs typeface="Montserrat"/>
              </a:rPr>
              <a:t> • 2026</a:t>
            </a:r>
            <a:endParaRPr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Phương pháp tách rõ “chạy đúng” và “đo lường có hiệu lực”</a:t>
            </a:r>
            <a:endParaRPr/>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Tổng quan tài liệu</a:t>
            </a:r>
            <a:endParaRPr sz="240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Structured interview, STAR, BARS, AI governance</a:t>
            </a:r>
            <a:endParaRPr>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Mô hình dữ liệu giữ ownership và provenance</a:t>
            </a:r>
            <a:endParaRPr/>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1" name="Google Shape;871;p88">
            <a:extLst>
              <a:ext uri="{FF2B5EF4-FFF2-40B4-BE49-F238E27FC236}">
                <a16:creationId xmlns:a16="http://schemas.microsoft.com/office/drawing/2014/main" id="{DA2BF864-E1E1-4E62-9286-F6EAC0D7B4F6}"/>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875" b="1">
                <a:solidFill>
                  <a:srgbClr val="111410"/>
                </a:solidFill>
                <a:latin typeface="Cambria"/>
                <a:ea typeface="Cambria"/>
                <a:cs typeface="Cambria"/>
              </a:defRPr>
            </a:pPr>
            <a:r>
              <a:rPr sz="1875" b="1">
                <a:solidFill>
                  <a:srgbClr val="111410"/>
                </a:solidFill>
                <a:latin typeface="Cambria"/>
                <a:ea typeface="Cambria"/>
                <a:cs typeface="Cambria"/>
              </a:rPr>
              <a:t>Use case phản ánh đúng quyền sở hữu</a:t>
            </a:r>
            <a:endParaRPr/>
          </a:p>
        </p:txBody>
      </p:sp>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Ba actor dùng chung nền tảng nhưng không chia sẻ quyền quyết định; AI nằm ngoài biên tuyển dụng.</a:t>
            </a:r>
            <a:endParaRPr/>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stCxn id="876" idx="1"/>
            <a:endCxn id="873" idx="0"/>
          </p:cNvCxnSpPr>
          <p:nvPr/>
        </p:nvCxnSpPr>
        <p:spPr>
          <a:xfrm flipH="1">
            <a:off x="3048000" y="1428750"/>
            <a:ext cx="952500" cy="71437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819150" y="1857375"/>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Luyện tập / tham gia</a:t>
            </a: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590550" y="300037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JD / chiến dịch / đánh giá</a:t>
            </a: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81425" y="300037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AI không giữ quyền tuyển dụng</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a:solidFill>
                  <a:srgbClr val="111410"/>
                </a:solidFill>
                <a:latin typeface="Cambria"/>
                <a:ea typeface="Cambria"/>
                <a:cs typeface="Cambria"/>
              </a:rPr>
              <a:t>Lookahead thích ứng câu hỏi mà không ngắt phiên</a:t>
            </a: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r>
              <a:rPr sz="2100" b="1">
                <a:solidFill>
                  <a:srgbClr val="4B8D17"/>
                </a:solidFill>
                <a:latin typeface="Montserrat"/>
                <a:ea typeface="Montserrat"/>
                <a:cs typeface="Montserrat"/>
              </a:rPr>
              <a:t>01</a:t>
            </a: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Vòng đời tài liệu RAG có provenance</a:t>
            </a:r>
            <a:endParaRPr/>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Mỗi evidence ID truy ngược được về nguồn, phiên bản và trạng thái lưu giữ.</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Quản trị phiên bản</a:t>
            </a: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657299"/>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250" b="1">
                <a:solidFill>
                  <a:srgbClr val="111410"/>
                </a:solidFill>
                <a:latin typeface="Cambria"/>
                <a:ea typeface="Cambria"/>
                <a:cs typeface="Cambria"/>
              </a:defRPr>
            </a:pPr>
            <a:r>
              <a:rPr sz="2250" b="1">
                <a:solidFill>
                  <a:srgbClr val="111410"/>
                </a:solidFill>
                <a:latin typeface="Cambria"/>
                <a:ea typeface="Cambria"/>
                <a:cs typeface="Cambria"/>
              </a:rPr>
              <a:t>Pipeline tiếng nói nhiều tầng</a:t>
            </a:r>
            <a:endParaRPr/>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695399"/>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r>
              <a:rPr sz="2025" b="1">
                <a:solidFill>
                  <a:srgbClr val="4B8D17"/>
                </a:solidFill>
                <a:latin typeface="Cambria"/>
                <a:ea typeface="Cambria"/>
                <a:cs typeface="Cambria"/>
              </a:rPr>
              <a:t>03</a:t>
            </a:r>
            <a:endParaRPr/>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154388"/>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AssemblyAI streaming • Faster-Whisper fallback • SenseVoice LID/SER/AED</a:t>
            </a:r>
            <a:endParaRP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5" y="1485116"/>
            <a:ext cx="2000250"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sz="825" b="1">
                <a:solidFill>
                  <a:srgbClr val="4B8D17"/>
                </a:solidFill>
                <a:latin typeface="Montserrat"/>
                <a:ea typeface="Montserrat"/>
                <a:cs typeface="Montserrat"/>
              </a:rPr>
              <a:t>LUỒNG PHIÊN ÂM</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009116"/>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FALLBACK KHI STREAMING LỖI</a:t>
            </a: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5" y="3009116"/>
            <a:ext cx="2000250"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LUỒNG QUAN SÁT</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866116"/>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Microphone</a:t>
            </a:r>
          </a:p>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Audio đầu vào</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866116"/>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AssemblyAI</a:t>
            </a:r>
          </a:p>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Streaming transcript</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866116"/>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a:bodyPr>
          <a:lstStyle/>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Transcript</a:t>
            </a:r>
          </a:p>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Theo thời gian thực</a:t>
            </a:r>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390116"/>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SenseVoice</a:t>
            </a:r>
          </a:p>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LID / SER / AED</a:t>
            </a:r>
          </a:p>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Observation only</a:t>
            </a:r>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390116"/>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Faster-Whisper</a:t>
            </a:r>
          </a:p>
          <a:p>
            <a:pPr algn="ctr">
              <a:buNone/>
              <a:defRPr sz="975" b="1">
                <a:solidFill>
                  <a:srgbClr val="111410"/>
                </a:solidFill>
                <a:latin typeface="Montserrat"/>
                <a:ea typeface="Montserrat"/>
                <a:cs typeface="Montserrat"/>
              </a:defRPr>
            </a:pPr>
            <a:r>
              <a:rPr sz="975" b="1">
                <a:solidFill>
                  <a:srgbClr val="111410"/>
                </a:solidFill>
                <a:latin typeface="Montserrat"/>
                <a:ea typeface="Montserrat"/>
                <a:cs typeface="Montserrat"/>
              </a:rPr>
              <a:t>Fallback cục bộ</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390116"/>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buNone/>
              <a:defRPr sz="900" b="1">
                <a:solidFill>
                  <a:srgbClr val="4B8D17"/>
                </a:solidFill>
                <a:latin typeface="Montserrat"/>
                <a:ea typeface="Montserrat"/>
                <a:cs typeface="Montserrat"/>
              </a:defRPr>
            </a:pPr>
            <a:r>
              <a:rPr sz="900" b="1">
                <a:solidFill>
                  <a:srgbClr val="4B8D17"/>
                </a:solidFill>
                <a:latin typeface="Montserrat"/>
                <a:ea typeface="Montserrat"/>
                <a:cs typeface="Montserrat"/>
              </a:rPr>
              <a:t>Transcript fallback</a:t>
            </a:r>
          </a:p>
          <a:p>
            <a:pPr algn="ctr">
              <a:buNone/>
              <a:defRPr sz="900" b="1">
                <a:solidFill>
                  <a:srgbClr val="4B8D17"/>
                </a:solidFill>
                <a:latin typeface="Montserrat"/>
                <a:ea typeface="Montserrat"/>
                <a:cs typeface="Montserrat"/>
              </a:defRPr>
            </a:pPr>
            <a:r>
              <a:rPr sz="900" b="1">
                <a:solidFill>
                  <a:srgbClr val="4B8D17"/>
                </a:solidFill>
                <a:latin typeface="Montserrat"/>
                <a:ea typeface="Montserrat"/>
                <a:cs typeface="Montserrat"/>
              </a:rPr>
              <a:t>Tiếp tục phiên</a:t>
            </a:r>
          </a:p>
        </p:txBody>
      </p:sp>
      <p:cxnSp>
        <p:nvCxnSpPr>
          <p:cNvPr id="693" name="Straight Arrow Connector 624"/>
          <p:cNvCxnSpPr>
            <a:stCxn id="585" idx="3"/>
            <a:endCxn id="586" idx="1"/>
          </p:cNvCxnSpPr>
          <p:nvPr/>
        </p:nvCxnSpPr>
        <p:spPr>
          <a:xfrm>
            <a:off x="2809875" y="2294741"/>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294741"/>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1905000" y="2723366"/>
            <a:ext cx="0" cy="66675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723366"/>
            <a:ext cx="0" cy="66675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799691"/>
            <a:ext cx="857250" cy="0"/>
          </a:xfrm>
          <a:prstGeom prst="straightConnector1">
            <a:avLst/>
          </a:prstGeom>
          <a:ln w="16193">
            <a:solidFill>
              <a:srgbClr val="4B8D17"/>
            </a:solidFill>
            <a:prstDash val="dash"/>
            <a:tailEnd type="triangle" w="sm" len="sm"/>
          </a:ln>
        </p:spPr>
      </p:cxn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1" name="Google Shape;1481;p115">
            <a:extLst>
              <a:ext uri="{FF2B5EF4-FFF2-40B4-BE49-F238E27FC236}">
                <a16:creationId xmlns:a16="http://schemas.microsoft.com/office/drawing/2014/main" id="{E9EECB35-610C-4EF1-96A6-A81F1B56FB41}"/>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Phân rã module theo ranh giới nghiệp vụ</a:t>
            </a:r>
            <a:endParaRPr/>
          </a:p>
        </p:txBody>
      </p:sp>
      <p:sp>
        <p:nvSpPr>
          <p:cNvPr id="1483" name="Rectangle: Rounded Corners 1482">
            <a:extLst>
              <a:ext uri="{FF2B5EF4-FFF2-40B4-BE49-F238E27FC236}">
                <a16:creationId xmlns:a16="http://schemas.microsoft.com/office/drawing/2014/main" id="{AD909ABE-6DAF-4170-8FE0-7D7B7C960DD7}"/>
              </a:ext>
            </a:extLst>
          </p:cNvPr>
          <p:cNvSpPr>
            <a:spLocks noGrp="1"/>
          </p:cNvSpPr>
          <p:nvPr/>
        </p:nvSpPr>
        <p:spPr>
          <a:xfrm>
            <a:off x="3905250" y="2333625"/>
            <a:ext cx="13335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 core</a:t>
            </a:r>
          </a:p>
        </p:txBody>
      </p:sp>
      <p:sp>
        <p:nvSpPr>
          <p:cNvPr id="1484" name="Rectangle: Rounded Corners 1483">
            <a:extLst>
              <a:ext uri="{FF2B5EF4-FFF2-40B4-BE49-F238E27FC236}">
                <a16:creationId xmlns:a16="http://schemas.microsoft.com/office/drawing/2014/main" id="{AAA4976E-933E-4B65-B613-06AD28D4D9EE}"/>
              </a:ext>
            </a:extLst>
          </p:cNvPr>
          <p:cNvSpPr>
            <a:spLocks noGrp="1"/>
          </p:cNvSpPr>
          <p:nvPr/>
        </p:nvSpPr>
        <p:spPr>
          <a:xfrm>
            <a:off x="1571625" y="1381125"/>
            <a:ext cx="1333500" cy="590550"/>
          </a:xfrm>
          <a:prstGeom prst="roundRect">
            <a:avLst>
              <a:gd name="adj" fmla="val 12903"/>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485" name="Rectangle: Rounded Corners 1484">
            <a:extLst>
              <a:ext uri="{FF2B5EF4-FFF2-40B4-BE49-F238E27FC236}">
                <a16:creationId xmlns:a16="http://schemas.microsoft.com/office/drawing/2014/main" id="{9F2435BB-A838-4036-91BA-65A1484AB897}"/>
              </a:ext>
            </a:extLst>
          </p:cNvPr>
          <p:cNvSpPr>
            <a:spLocks noGrp="1"/>
          </p:cNvSpPr>
          <p:nvPr/>
        </p:nvSpPr>
        <p:spPr>
          <a:xfrm>
            <a:off x="6238875" y="1381125"/>
            <a:ext cx="1333500" cy="590550"/>
          </a:xfrm>
          <a:prstGeom prst="roundRect">
            <a:avLst>
              <a:gd name="adj" fmla="val 12903"/>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Recruitment</a:t>
            </a:r>
          </a:p>
        </p:txBody>
      </p:sp>
      <p:sp>
        <p:nvSpPr>
          <p:cNvPr id="1486" name="Rectangle: Rounded Corners 1485">
            <a:extLst>
              <a:ext uri="{FF2B5EF4-FFF2-40B4-BE49-F238E27FC236}">
                <a16:creationId xmlns:a16="http://schemas.microsoft.com/office/drawing/2014/main" id="{E0F240BB-73BB-4633-B4E8-A7E425D416FD}"/>
              </a:ext>
            </a:extLst>
          </p:cNvPr>
          <p:cNvSpPr>
            <a:spLocks noGrp="1"/>
          </p:cNvSpPr>
          <p:nvPr/>
        </p:nvSpPr>
        <p:spPr>
          <a:xfrm>
            <a:off x="1571625" y="3476625"/>
            <a:ext cx="1333500" cy="590550"/>
          </a:xfrm>
          <a:prstGeom prst="roundRect">
            <a:avLst>
              <a:gd name="adj" fmla="val 12903"/>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RAG</a:t>
            </a:r>
          </a:p>
        </p:txBody>
      </p:sp>
      <p:sp>
        <p:nvSpPr>
          <p:cNvPr id="1487" name="Rectangle: Rounded Corners 1486">
            <a:extLst>
              <a:ext uri="{FF2B5EF4-FFF2-40B4-BE49-F238E27FC236}">
                <a16:creationId xmlns:a16="http://schemas.microsoft.com/office/drawing/2014/main" id="{D4D4EAA0-56F0-4083-8ECD-BCF345E87AC8}"/>
              </a:ext>
            </a:extLst>
          </p:cNvPr>
          <p:cNvSpPr>
            <a:spLocks noGrp="1"/>
          </p:cNvSpPr>
          <p:nvPr/>
        </p:nvSpPr>
        <p:spPr>
          <a:xfrm>
            <a:off x="6238875" y="3476625"/>
            <a:ext cx="1333500" cy="590550"/>
          </a:xfrm>
          <a:prstGeom prst="roundRect">
            <a:avLst>
              <a:gd name="adj" fmla="val 12903"/>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cxnSp>
        <p:nvCxnSpPr>
          <p:cNvPr id="1656" name="Straight Arrow Connector 1595"/>
          <p:cNvCxnSpPr>
            <a:stCxn id="1484" idx="3"/>
            <a:endCxn id="1483" idx="0"/>
          </p:cNvCxnSpPr>
          <p:nvPr/>
        </p:nvCxnSpPr>
        <p:spPr>
          <a:xfrm>
            <a:off x="2905125" y="1676400"/>
            <a:ext cx="1666875" cy="657225"/>
          </a:xfrm>
          <a:prstGeom prst="straightConnector1">
            <a:avLst/>
          </a:prstGeom>
          <a:ln w="15240">
            <a:solidFill>
              <a:srgbClr val="4B8D17"/>
            </a:solidFill>
            <a:prstDash val="solid"/>
            <a:tailEnd type="triangle" w="sm" len="sm"/>
          </a:ln>
        </p:spPr>
      </p:cxnSp>
      <p:cxnSp>
        <p:nvCxnSpPr>
          <p:cNvPr id="1657" name="Straight Arrow Connector 1596"/>
          <p:cNvCxnSpPr>
            <a:stCxn id="1485" idx="1"/>
            <a:endCxn id="1483" idx="0"/>
          </p:cNvCxnSpPr>
          <p:nvPr/>
        </p:nvCxnSpPr>
        <p:spPr>
          <a:xfrm flipH="1">
            <a:off x="4572000" y="1676400"/>
            <a:ext cx="1666875" cy="657225"/>
          </a:xfrm>
          <a:prstGeom prst="straightConnector1">
            <a:avLst/>
          </a:prstGeom>
          <a:ln w="15240">
            <a:solidFill>
              <a:srgbClr val="4B8D17"/>
            </a:solidFill>
            <a:prstDash val="solid"/>
            <a:tailEnd type="triangle" w="sm" len="sm"/>
          </a:ln>
        </p:spPr>
      </p:cxnSp>
      <p:cxnSp>
        <p:nvCxnSpPr>
          <p:cNvPr id="1658" name="Straight Arrow Connector 1597"/>
          <p:cNvCxnSpPr>
            <a:stCxn id="1486" idx="3"/>
            <a:endCxn id="1483" idx="2"/>
          </p:cNvCxnSpPr>
          <p:nvPr/>
        </p:nvCxnSpPr>
        <p:spPr>
          <a:xfrm flipV="1">
            <a:off x="2905125" y="3019425"/>
            <a:ext cx="1666875" cy="752475"/>
          </a:xfrm>
          <a:prstGeom prst="straightConnector1">
            <a:avLst/>
          </a:prstGeom>
          <a:ln w="15240">
            <a:solidFill>
              <a:srgbClr val="4B8D17"/>
            </a:solidFill>
            <a:prstDash val="solid"/>
            <a:tailEnd type="triangle" w="sm" len="sm"/>
          </a:ln>
        </p:spPr>
      </p:cxnSp>
      <p:cxnSp>
        <p:nvCxnSpPr>
          <p:cNvPr id="1659" name="Straight Arrow Connector 1598"/>
          <p:cNvCxnSpPr>
            <a:stCxn id="1487" idx="1"/>
            <a:endCxn id="1483" idx="2"/>
          </p:cNvCxnSpPr>
          <p:nvPr/>
        </p:nvCxnSpPr>
        <p:spPr>
          <a:xfrm flipH="1" flipV="1">
            <a:off x="4572000" y="3019425"/>
            <a:ext cx="1666875" cy="752475"/>
          </a:xfrm>
          <a:prstGeom prst="straightConnector1">
            <a:avLst/>
          </a:prstGeom>
          <a:ln w="15240">
            <a:solidFill>
              <a:srgbClr val="4B8D17"/>
            </a:solidFill>
            <a:prstDash val="solid"/>
            <a:tailEnd type="triangle" w="sm" len="sm"/>
          </a:ln>
        </p:spPr>
      </p:cxnSp>
      <p:sp>
        <p:nvSpPr>
          <p:cNvPr id="1514" name="Rectangle: Rounded Corners 1513">
            <a:extLst>
              <a:ext uri="{FF2B5EF4-FFF2-40B4-BE49-F238E27FC236}">
                <a16:creationId xmlns:a16="http://schemas.microsoft.com/office/drawing/2014/main" id="{6E464C30-55FE-45B3-8073-65D4A96BCBC5}"/>
              </a:ext>
            </a:extLst>
          </p:cNvPr>
          <p:cNvSpPr>
            <a:spLocks noGrp="1"/>
          </p:cNvSpPr>
          <p:nvPr/>
        </p:nvSpPr>
        <p:spPr>
          <a:xfrm>
            <a:off x="2762250" y="4400550"/>
            <a:ext cx="3619500" cy="3238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74409" lnSpcReduction="20000"/>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Ranh giới module: route • dữ liệu • quyền • audit</a:t>
            </a:r>
          </a:p>
        </p:txBody>
      </p:sp>
      <p:sp>
        <p:nvSpPr>
          <p:cNvPr id="1559" name="Rectangle 1558">
            <a:extLst>
              <a:ext uri="{FF2B5EF4-FFF2-40B4-BE49-F238E27FC236}">
                <a16:creationId xmlns:a16="http://schemas.microsoft.com/office/drawing/2014/main" id="{AA40BBDF-B5AA-438E-B4A4-EDFD080410E2}"/>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module sở hữu route, dữ liệu và quyền riêng.</a:t>
            </a:r>
          </a:p>
        </p:txBody>
      </p:sp>
    </p:spTree>
    <p:extLst>
      <p:ext uri="{BB962C8B-B14F-4D97-AF65-F5344CB8AC3E}">
        <p14:creationId xmlns:p14="http://schemas.microsoft.com/office/powerpoint/2010/main" val="1455359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RBAC giữ quyền quyết định ở đúng actor</a:t>
            </a:r>
            <a:endParaRPr/>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568" name="Google Shape;1568;p123">
            <a:extLst>
              <a:ext uri="{FF2B5EF4-FFF2-40B4-BE49-F238E27FC236}">
                <a16:creationId xmlns:a16="http://schemas.microsoft.com/office/drawing/2014/main" id="{DBD0216F-CDFA-47B9-84FB-51A2B45D2449}"/>
              </a:ext>
            </a:extLst>
          </p:cNvPr>
          <p:cNvSpPr>
            <a:spLocks noGrp="1"/>
          </p:cNvSpPr>
          <p:nvPr>
            <p:ph type="title"/>
          </p:nvPr>
        </p:nvSpPr>
        <p:spPr>
          <a:xfrm>
            <a:off x="2286000" y="1200150"/>
            <a:ext cx="4572000" cy="74295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Cảm ơn Hội đồng</a:t>
            </a:r>
            <a:endParaRPr/>
          </a:p>
        </p:txBody>
      </p:sp>
      <p:sp>
        <p:nvSpPr>
          <p:cNvPr id="1569" name="Google Shape;1569;p123">
            <a:extLst>
              <a:ext uri="{FF2B5EF4-FFF2-40B4-BE49-F238E27FC236}">
                <a16:creationId xmlns:a16="http://schemas.microsoft.com/office/drawing/2014/main" id="{658C6DB3-B8B9-4F37-A102-C974A9734432}"/>
              </a:ext>
            </a:extLst>
          </p:cNvPr>
          <p:cNvSpPr>
            <a:spLocks noGrp="1"/>
          </p:cNvSpPr>
          <p:nvPr>
            <p:ph type="subTitle" idx="1"/>
          </p:nvPr>
        </p:nvSpPr>
        <p:spPr>
          <a:xfrm>
            <a:off x="2381250" y="1892400"/>
            <a:ext cx="4381500" cy="53340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1275" b="0">
                <a:solidFill>
                  <a:srgbClr val="526052"/>
                </a:solidFill>
                <a:latin typeface="Montserrat"/>
                <a:ea typeface="Montserrat"/>
                <a:cs typeface="Montserrat"/>
              </a:defRPr>
            </a:pPr>
            <a:r>
              <a:rPr sz="1275" b="0" dirty="0">
                <a:solidFill>
                  <a:srgbClr val="526052"/>
                </a:solidFill>
                <a:latin typeface="Montserrat"/>
                <a:ea typeface="Montserrat"/>
                <a:cs typeface="Montserrat"/>
              </a:rPr>
              <a:t>Em </a:t>
            </a:r>
            <a:r>
              <a:rPr sz="1275" b="0" dirty="0" err="1">
                <a:solidFill>
                  <a:srgbClr val="526052"/>
                </a:solidFill>
                <a:latin typeface="Montserrat"/>
                <a:ea typeface="Montserrat"/>
                <a:cs typeface="Montserrat"/>
              </a:rPr>
              <a:t>xin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tiếp</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nhận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câu</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hỏi</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và</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góp</a:t>
            </a:r>
            <a:r>
              <a:rPr sz="1275" b="0" dirty="0">
                <a:solidFill>
                  <a:srgbClr val="526052"/>
                </a:solidFill>
                <a:latin typeface="Montserrat"/>
                <a:ea typeface="Montserrat"/>
                <a:cs typeface="Montserrat"/>
              </a:rPr>
              <a:t> ý.</a:t>
            </a:r>
            <a:endParaRPr dirty="0"/>
          </a:p>
        </p:txBody>
      </p:sp>
      <p:sp>
        <p:nvSpPr>
          <p:cNvPr id="1570" name="Rectangle: Rounded Corners 1569">
            <a:extLst>
              <a:ext uri="{FF2B5EF4-FFF2-40B4-BE49-F238E27FC236}">
                <a16:creationId xmlns:a16="http://schemas.microsoft.com/office/drawing/2014/main" id="{7B744195-86F5-423D-B69D-732D1FD21A1F}"/>
              </a:ext>
            </a:extLst>
          </p:cNvPr>
          <p:cNvSpPr>
            <a:spLocks noGrp="1"/>
          </p:cNvSpPr>
          <p:nvPr/>
        </p:nvSpPr>
        <p:spPr>
          <a:xfrm>
            <a:off x="3143250" y="2521765"/>
            <a:ext cx="2857500" cy="895350"/>
          </a:xfrm>
          <a:prstGeom prst="roundRect">
            <a:avLst>
              <a:gd name="adj" fmla="val 50000"/>
            </a:avLst>
          </a:prstGeom>
          <a:solidFill>
            <a:srgbClr val="DFF0D6"/>
          </a:solidFill>
          <a:ln w="17145">
            <a:solidFill>
              <a:srgbClr val="4B8D17"/>
            </a:solidFill>
            <a:prstDash val="solid"/>
          </a:ln>
        </p:spPr>
        <p:txBody>
          <a:bodyPr anchor="ctr"/>
          <a:lstStyle/>
          <a:p>
            <a:pPr algn="ctr">
              <a:defRPr sz="2550" b="1">
                <a:solidFill>
                  <a:srgbClr val="4B8D17"/>
                </a:solidFill>
                <a:latin typeface="Cambria"/>
                <a:ea typeface="Cambria"/>
                <a:cs typeface="Cambria"/>
              </a:defRPr>
            </a:pPr>
            <a:r>
              <a:rPr sz="2550" b="1">
                <a:solidFill>
                  <a:srgbClr val="4B8D17"/>
                </a:solidFill>
                <a:latin typeface="Cambria"/>
                <a:ea typeface="Cambria"/>
                <a:cs typeface="Cambria"/>
              </a:rPr>
              <a:t>Q&amp;A</a:t>
            </a:r>
          </a:p>
        </p:txBody>
      </p:sp>
      <p:sp>
        <p:nvSpPr>
          <p:cNvPr id="1571" name="Rectangle 1570">
            <a:extLst>
              <a:ext uri="{FF2B5EF4-FFF2-40B4-BE49-F238E27FC236}">
                <a16:creationId xmlns:a16="http://schemas.microsoft.com/office/drawing/2014/main" id="{E1860632-87FC-4C1C-9B59-F77B060C67ED}"/>
              </a:ext>
            </a:extLst>
          </p:cNvPr>
          <p:cNvSpPr>
            <a:spLocks noGrp="1"/>
          </p:cNvSpPr>
          <p:nvPr/>
        </p:nvSpPr>
        <p:spPr>
          <a:xfrm>
            <a:off x="2857500" y="3683815"/>
            <a:ext cx="3429000" cy="266700"/>
          </a:xfrm>
          <a:prstGeom prst="rect">
            <a:avLst/>
          </a:prstGeom>
          <a:ln w="0">
            <a:prstDash val="solid"/>
          </a:ln>
        </p:spPr>
        <p:txBody>
          <a:bodyPr lIns="19050" tIns="19050" rIns="19050" bIns="19050" anchor="ctr">
            <a:normAutofit/>
          </a:bodyPr>
          <a:lstStyle/>
          <a:p>
            <a:pPr algn="ctr">
              <a:defRPr sz="825" b="0">
                <a:solidFill>
                  <a:srgbClr val="526052"/>
                </a:solidFill>
                <a:latin typeface="Montserrat"/>
                <a:ea typeface="Montserrat"/>
                <a:cs typeface="Montserrat"/>
              </a:defRPr>
            </a:pPr>
            <a:r>
              <a:rPr sz="825" b="0" dirty="0" err="1">
                <a:solidFill>
                  <a:srgbClr val="526052"/>
                </a:solidFill>
                <a:latin typeface="Montserrat"/>
                <a:ea typeface="Montserrat"/>
                <a:cs typeface="Montserrat"/>
              </a:rPr>
              <a:t>InterV</a:t>
            </a:r>
            <a:r>
              <a:rPr sz="825" b="0" dirty="0">
                <a:solidFill>
                  <a:srgbClr val="526052"/>
                </a:solidFill>
                <a:latin typeface="Montserrat"/>
                <a:ea typeface="Montserrat"/>
                <a:cs typeface="Montserrat"/>
              </a:rPr>
              <a:t> • Lê Minh Duy</a:t>
            </a:r>
            <a:r>
              <a:rPr lang="vi-VN" sz="825" b="0" dirty="0">
                <a:solidFill>
                  <a:srgbClr val="526052"/>
                </a:solidFill>
                <a:latin typeface="Montserrat"/>
                <a:ea typeface="Montserrat"/>
                <a:cs typeface="Montserrat"/>
              </a:rPr>
              <a:t> • @leemjnnkdzuy</a:t>
            </a:r>
            <a:endParaRPr sz="825" b="0" dirty="0">
              <a:solidFill>
                <a:srgbClr val="526052"/>
              </a:solidFill>
              <a:latin typeface="Montserrat"/>
              <a:ea typeface="Montserrat"/>
              <a:cs typeface="Montserrat"/>
            </a:endParaRPr>
          </a:p>
        </p:txBody>
      </p:sp>
    </p:spTree>
    <p:extLst>
      <p:ext uri="{BB962C8B-B14F-4D97-AF65-F5344CB8AC3E}">
        <p14:creationId xmlns:p14="http://schemas.microsoft.com/office/powerpoint/2010/main" val="1212792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4077</Words>
  <Application>Microsoft Office PowerPoint</Application>
  <DocSecurity>0</DocSecurity>
  <PresentationFormat>On-screen Show (16:9)</PresentationFormat>
  <Paragraphs>612</Paragraphs>
  <Slides>32</Slides>
  <Notes>32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Montserrat</vt:lpstr>
      <vt:lpstr>Proxima Nova Semibold</vt:lpstr>
      <vt:lpstr>Mako</vt:lpstr>
      <vt:lpstr>Russo One</vt:lpstr>
      <vt:lpstr>Proxima Nova</vt:lpstr>
      <vt:lpstr>Merriweather Light</vt:lpstr>
      <vt:lpstr>Lato</vt:lpstr>
      <vt:lpstr>Arial</vt:lpstr>
      <vt:lpstr>Open Sans SemiBold</vt:lpstr>
      <vt:lpstr>Cambria</vt:lpstr>
      <vt:lpstr>Josefin Sans</vt:lpstr>
      <vt:lpstr>Crimson Text</vt:lpstr>
      <vt:lpstr>Open Sans</vt:lpstr>
      <vt:lpstr>Minimalist Business Slides XL by Slidesgo</vt:lpstr>
      <vt:lpstr>Slidesgo Final Pages</vt:lpstr>
      <vt:lpstr>Slidesgo Final Pages</vt:lpstr>
      <vt:lpstr>XÂY DỰNG HỆ THỐNG PHỎNG VẤN VÀ LUYỆN TẬP PHỎNG VẤN TÍCH HỢP TRÍ TUỆ NHÂN TẠO</vt:lpstr>
      <vt:lpstr>Lộ trình trình bày</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 tách rõ “chạy đúng” và “đo lường có hiệu lực”</vt:lpstr>
      <vt:lpstr>Lý thuyết được chuyển thành cơ chế phần mềm</vt:lpstr>
      <vt:lpstr>Kiến trúc InterV: các biên trách nhiệm có hợp đồng</vt:lpstr>
      <vt:lpstr>Mô hình dữ liệu giữ ownership và provenance</vt:lpstr>
      <vt:lpstr>Use case phản ánh đúng quyền sở hữu</vt:lpstr>
      <vt:lpstr>PowerPoint Presentation</vt:lpstr>
      <vt:lpstr>PowerPoint Presentation</vt:lpstr>
      <vt:lpstr>Vòng đời tài liệu RAG có provenance</vt:lpstr>
      <vt:lpstr>Pipeline tiếng nói nhiều tầng</vt:lpstr>
      <vt:lpstr>An toàn, quan sát và khả năng phục hồi</vt:lpstr>
      <vt:lpstr>Hợp đồng typed giữ TypeScript ↔ Python nhất quán</vt:lpstr>
      <vt:lpstr>Phân rã module theo ranh giới nghiệp vụ</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PowerPoint Presentation</vt:lpstr>
      <vt:lpstr>Xác minh kỹ thuật đạt; hiệu lực tuyển dụng chưa được chứng minh</vt:lpstr>
      <vt:lpstr>DeepSeek/RAG được kiểm soát ở ba điểm</vt:lpstr>
      <vt:lpstr>Bất biến an toàn của SenseVoice</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6</cp:revision>
  <dcterms:created xsi:type="dcterms:W3CDTF">2026-08-14T17:29:12Z</dcterms:created>
  <dcterms:modified xsi:type="dcterms:W3CDTF">2026-08-24T15:42:39Z</dcterms:modified>
</cp:coreProperties>
</file>